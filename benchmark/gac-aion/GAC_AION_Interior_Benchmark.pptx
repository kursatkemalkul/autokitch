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Lst>
  <p:notesMasterIdLst>
    <p:notesMasterId r:id="rId5"/>
  </p:notesMasterIdLst>
  <p:sldSz cx="45720000" cy="11320272"/>
  <p:notesSz cx="11320272" cy="45720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notesMaster" Target="notesMasters/notesMaster1.xml"/><Relationship Id="rId6" Type="http://schemas.openxmlformats.org/officeDocument/2006/relationships/presProps" Target="presProps.xml"/><Relationship Id="rId7" Type="http://schemas.openxmlformats.org/officeDocument/2006/relationships/viewProps" Target="viewProps.xml"/><Relationship Id="rId8" Type="http://schemas.openxmlformats.org/officeDocument/2006/relationships/theme" Target="theme/theme1.xml"/><Relationship Id="rId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0" y="0"/>
            <a:ext cx="45720000" cy="11320272"/>
          </a:xfrm>
          <a:prstGeom prst="rect">
            <a:avLst/>
          </a:prstGeom>
          <a:solidFill>
            <a:srgbClr val="0A0B0D"/>
          </a:solidFill>
          <a:ln w="12700">
            <a:solidFill>
              <a:srgbClr val="333333"/>
            </a:solidFill>
            <a:prstDash val="solid"/>
          </a:ln>
        </p:spPr>
      </p:sp>
      <p:sp>
        <p:nvSpPr>
          <p:cNvPr id="3" name="Text 1"/>
          <p:cNvSpPr txBox="1"/>
          <p:nvPr/>
        </p:nvSpPr>
        <p:spPr>
          <a:xfrm>
            <a:off x="548640" y="365760"/>
            <a:ext cx="1280160" cy="365760"/>
          </a:xfrm>
          <a:prstGeom prst="rect">
            <a:avLst/>
          </a:prstGeom>
          <a:noFill/>
          <a:ln/>
        </p:spPr>
        <p:txBody>
          <a:bodyPr wrap="square" lIns="0" tIns="0" rIns="0" bIns="0" rtlCol="0" anchor="t"/>
          <a:lstStyle/>
          <a:p>
            <a:pPr indent="0" marL="0">
              <a:buNone/>
            </a:pPr>
            <a:r>
              <a:rPr lang="en-US" sz="2600" b="1" dirty="0">
                <a:solidFill>
                  <a:srgbClr val="343941"/>
                </a:solidFill>
                <a:latin typeface="Cambria" pitchFamily="34" charset="0"/>
                <a:ea typeface="Cambria" pitchFamily="34" charset="-122"/>
                <a:cs typeface="Cambria" pitchFamily="34" charset="-120"/>
              </a:rPr>
              <a:t>01</a:t>
            </a:r>
            <a:endParaRPr lang="en-US" sz="2600" dirty="0"/>
          </a:p>
        </p:txBody>
      </p:sp>
      <p:sp>
        <p:nvSpPr>
          <p:cNvPr id="4" name="Text 2"/>
          <p:cNvSpPr txBox="1"/>
          <p:nvPr/>
        </p:nvSpPr>
        <p:spPr>
          <a:xfrm>
            <a:off x="1207008" y="457200"/>
            <a:ext cx="14630400" cy="118872"/>
          </a:xfrm>
          <a:prstGeom prst="rect">
            <a:avLst/>
          </a:prstGeom>
          <a:noFill/>
          <a:ln/>
        </p:spPr>
        <p:txBody>
          <a:bodyPr wrap="square" lIns="0" tIns="0" rIns="0" bIns="0" rtlCol="0" anchor="t"/>
          <a:lstStyle/>
          <a:p>
            <a:pPr indent="0" marL="0">
              <a:buNone/>
            </a:pPr>
            <a:r>
              <a:rPr lang="en-US" sz="680" b="1" spc="140" kern="0" dirty="0">
                <a:solidFill>
                  <a:srgbClr val="5E636A"/>
                </a:solidFill>
                <a:latin typeface="Arial" pitchFamily="34" charset="0"/>
                <a:ea typeface="Arial" pitchFamily="34" charset="-122"/>
                <a:cs typeface="Arial" pitchFamily="34" charset="-120"/>
              </a:rPr>
              <a:t>INTERIOR BENCHMARK · GAC GROUP · SEPTEMBER 2026</a:t>
            </a:r>
            <a:endParaRPr lang="en-US" sz="680" dirty="0"/>
          </a:p>
        </p:txBody>
      </p:sp>
      <p:sp>
        <p:nvSpPr>
          <p:cNvPr id="5" name="Text 3"/>
          <p:cNvSpPr txBox="1"/>
          <p:nvPr/>
        </p:nvSpPr>
        <p:spPr>
          <a:xfrm>
            <a:off x="1188720" y="603504"/>
            <a:ext cx="27432000" cy="548640"/>
          </a:xfrm>
          <a:prstGeom prst="rect">
            <a:avLst/>
          </a:prstGeom>
          <a:noFill/>
          <a:ln/>
        </p:spPr>
        <p:txBody>
          <a:bodyPr wrap="square" lIns="0" tIns="0" rIns="0" bIns="0" rtlCol="0" anchor="t"/>
          <a:lstStyle/>
          <a:p>
            <a:pPr indent="0" marL="0">
              <a:buNone/>
            </a:pPr>
            <a:r>
              <a:rPr lang="en-US" sz="3200" dirty="0">
                <a:solidFill>
                  <a:srgbClr val="F4F2EE"/>
                </a:solidFill>
                <a:latin typeface="Cambria" pitchFamily="34" charset="0"/>
                <a:ea typeface="Cambria" pitchFamily="34" charset="-122"/>
                <a:cs typeface="Cambria" pitchFamily="34" charset="-120"/>
              </a:rPr>
              <a:t>AION</a:t>
            </a:r>
            <a:endParaRPr lang="en-US" sz="3200" dirty="0"/>
          </a:p>
        </p:txBody>
      </p:sp>
      <p:sp>
        <p:nvSpPr>
          <p:cNvPr id="6" name="Text 4"/>
          <p:cNvSpPr txBox="1"/>
          <p:nvPr/>
        </p:nvSpPr>
        <p:spPr>
          <a:xfrm>
            <a:off x="1207008" y="1188720"/>
            <a:ext cx="27432000" cy="219456"/>
          </a:xfrm>
          <a:prstGeom prst="rect">
            <a:avLst/>
          </a:prstGeom>
          <a:noFill/>
          <a:ln/>
        </p:spPr>
        <p:txBody>
          <a:bodyPr wrap="square" lIns="0" tIns="0" rIns="0" bIns="0" rtlCol="0" anchor="t"/>
          <a:lstStyle/>
          <a:p>
            <a:pPr indent="0" marL="0">
              <a:buNone/>
            </a:pPr>
            <a:r>
              <a:rPr lang="en-US" sz="960" dirty="0">
                <a:solidFill>
                  <a:srgbClr val="9DA1A8"/>
                </a:solidFill>
                <a:latin typeface="Arial" pitchFamily="34" charset="0"/>
                <a:ea typeface="Arial" pitchFamily="34" charset="-122"/>
                <a:cs typeface="Arial" pitchFamily="34" charset="-120"/>
              </a:rPr>
              <a:t>Seven battery-electric cabins on sale in China. Prices are MSRP bands in RMB.</a:t>
            </a:r>
            <a:endParaRPr lang="en-US" sz="960" dirty="0"/>
          </a:p>
        </p:txBody>
      </p:sp>
      <p:sp>
        <p:nvSpPr>
          <p:cNvPr id="7" name="Text 5"/>
          <p:cNvSpPr txBox="1"/>
          <p:nvPr/>
        </p:nvSpPr>
        <p:spPr>
          <a:xfrm>
            <a:off x="1207008" y="1426464"/>
            <a:ext cx="27432000" cy="219456"/>
          </a:xfrm>
          <a:prstGeom prst="rect">
            <a:avLst/>
          </a:prstGeom>
          <a:noFill/>
          <a:ln/>
        </p:spPr>
        <p:txBody>
          <a:bodyPr wrap="square" lIns="0" tIns="0" rIns="0" bIns="0" rtlCol="0" anchor="t"/>
          <a:lstStyle/>
          <a:p>
            <a:pPr indent="0" marL="0">
              <a:buNone/>
            </a:pPr>
            <a:r>
              <a:rPr lang="en-US" sz="960" i="1" dirty="0">
                <a:solidFill>
                  <a:srgbClr val="5C93FF"/>
                </a:solidFill>
                <a:latin typeface="Arial" pitchFamily="34" charset="0"/>
                <a:ea typeface="Arial" pitchFamily="34" charset="-122"/>
                <a:cs typeface="Arial" pitchFamily="34" charset="-120"/>
              </a:rPr>
              <a:t>One big tile, soft surfaces, named colour. Colour is the product.</a:t>
            </a:r>
            <a:endParaRPr lang="en-US" sz="960" dirty="0"/>
          </a:p>
        </p:txBody>
      </p:sp>
      <p:sp>
        <p:nvSpPr>
          <p:cNvPr id="8" name="Text 6"/>
          <p:cNvSpPr txBox="1"/>
          <p:nvPr/>
        </p:nvSpPr>
        <p:spPr>
          <a:xfrm>
            <a:off x="31638240" y="548640"/>
            <a:ext cx="4206240" cy="402336"/>
          </a:xfrm>
          <a:prstGeom prst="rect">
            <a:avLst/>
          </a:prstGeom>
          <a:noFill/>
          <a:ln/>
        </p:spPr>
        <p:txBody>
          <a:bodyPr wrap="square" lIns="0" tIns="0" rIns="0" bIns="0" rtlCol="0" anchor="t"/>
          <a:lstStyle/>
          <a:p>
            <a:pPr indent="0" marL="0">
              <a:buNone/>
            </a:pPr>
            <a:r>
              <a:rPr lang="en-US" sz="2600" dirty="0">
                <a:solidFill>
                  <a:srgbClr val="5C93FF"/>
                </a:solidFill>
                <a:latin typeface="Cambria" pitchFamily="34" charset="0"/>
                <a:ea typeface="Cambria" pitchFamily="34" charset="-122"/>
                <a:cs typeface="Cambria" pitchFamily="34" charset="-120"/>
              </a:rPr>
              <a:t>74,100</a:t>
            </a:r>
            <a:endParaRPr lang="en-US" sz="2600" dirty="0"/>
          </a:p>
        </p:txBody>
      </p:sp>
      <p:sp>
        <p:nvSpPr>
          <p:cNvPr id="9" name="Text 7"/>
          <p:cNvSpPr txBox="1"/>
          <p:nvPr/>
        </p:nvSpPr>
        <p:spPr>
          <a:xfrm>
            <a:off x="31638240" y="987552"/>
            <a:ext cx="4206240" cy="347472"/>
          </a:xfrm>
          <a:prstGeom prst="rect">
            <a:avLst/>
          </a:prstGeom>
          <a:noFill/>
          <a:ln/>
        </p:spPr>
        <p:txBody>
          <a:bodyPr wrap="square" lIns="0" tIns="0" rIns="0" bIns="0" rtlCol="0" anchor="t"/>
          <a:lstStyle/>
          <a:p>
            <a:pPr indent="0" marL="0">
              <a:lnSpc>
                <a:spcPct val="110000"/>
              </a:lnSpc>
              <a:buNone/>
            </a:pPr>
            <a:r>
              <a:rPr lang="en-US" sz="760" dirty="0">
                <a:solidFill>
                  <a:srgbClr val="5E636A"/>
                </a:solidFill>
                <a:latin typeface="Arial" pitchFamily="34" charset="0"/>
                <a:ea typeface="Arial" pitchFamily="34" charset="-122"/>
                <a:cs typeface="Arial" pitchFamily="34" charset="-120"/>
              </a:rPr>
              <a:t>AION retail, Q1 2026</a:t>
            </a:r>
            <a:endParaRPr lang="en-US" sz="760" dirty="0"/>
          </a:p>
          <a:p>
            <a:pPr indent="0" marL="0">
              <a:lnSpc>
                <a:spcPct val="110000"/>
              </a:lnSpc>
              <a:buNone/>
            </a:pPr>
            <a:r>
              <a:rPr lang="en-US" sz="760" dirty="0">
                <a:solidFill>
                  <a:srgbClr val="5E636A"/>
                </a:solidFill>
                <a:latin typeface="Arial" pitchFamily="34" charset="0"/>
                <a:ea typeface="Arial" pitchFamily="34" charset="-122"/>
                <a:cs typeface="Arial" pitchFamily="34" charset="-120"/>
              </a:rPr>
              <a:t>+57.3% year on year</a:t>
            </a:r>
            <a:endParaRPr lang="en-US" sz="760" dirty="0"/>
          </a:p>
        </p:txBody>
      </p:sp>
      <p:sp>
        <p:nvSpPr>
          <p:cNvPr id="10" name="Text 8"/>
          <p:cNvSpPr txBox="1"/>
          <p:nvPr/>
        </p:nvSpPr>
        <p:spPr>
          <a:xfrm>
            <a:off x="36210240" y="548640"/>
            <a:ext cx="4206240" cy="402336"/>
          </a:xfrm>
          <a:prstGeom prst="rect">
            <a:avLst/>
          </a:prstGeom>
          <a:noFill/>
          <a:ln/>
        </p:spPr>
        <p:txBody>
          <a:bodyPr wrap="square" lIns="0" tIns="0" rIns="0" bIns="0" rtlCol="0" anchor="t"/>
          <a:lstStyle/>
          <a:p>
            <a:pPr indent="0" marL="0">
              <a:buNone/>
            </a:pPr>
            <a:r>
              <a:rPr lang="en-US" sz="2600" dirty="0">
                <a:solidFill>
                  <a:srgbClr val="F4F2EE"/>
                </a:solidFill>
                <a:latin typeface="Cambria" pitchFamily="34" charset="0"/>
                <a:ea typeface="Cambria" pitchFamily="34" charset="-122"/>
                <a:cs typeface="Cambria" pitchFamily="34" charset="-120"/>
              </a:rPr>
              <a:t>14.6"</a:t>
            </a:r>
            <a:endParaRPr lang="en-US" sz="2600" dirty="0"/>
          </a:p>
        </p:txBody>
      </p:sp>
      <p:sp>
        <p:nvSpPr>
          <p:cNvPr id="11" name="Text 9"/>
          <p:cNvSpPr txBox="1"/>
          <p:nvPr/>
        </p:nvSpPr>
        <p:spPr>
          <a:xfrm>
            <a:off x="36210240" y="987552"/>
            <a:ext cx="4206240" cy="347472"/>
          </a:xfrm>
          <a:prstGeom prst="rect">
            <a:avLst/>
          </a:prstGeom>
          <a:noFill/>
          <a:ln/>
        </p:spPr>
        <p:txBody>
          <a:bodyPr wrap="square" lIns="0" tIns="0" rIns="0" bIns="0" rtlCol="0" anchor="t"/>
          <a:lstStyle/>
          <a:p>
            <a:pPr indent="0" marL="0">
              <a:lnSpc>
                <a:spcPct val="110000"/>
              </a:lnSpc>
              <a:buNone/>
            </a:pPr>
            <a:r>
              <a:rPr lang="en-US" sz="760" dirty="0">
                <a:solidFill>
                  <a:srgbClr val="5E636A"/>
                </a:solidFill>
                <a:latin typeface="Arial" pitchFamily="34" charset="0"/>
                <a:ea typeface="Arial" pitchFamily="34" charset="-122"/>
                <a:cs typeface="Arial" pitchFamily="34" charset="-120"/>
              </a:rPr>
              <a:t>the centre-screen floor</a:t>
            </a:r>
            <a:endParaRPr lang="en-US" sz="760" dirty="0"/>
          </a:p>
          <a:p>
            <a:pPr indent="0" marL="0">
              <a:lnSpc>
                <a:spcPct val="110000"/>
              </a:lnSpc>
              <a:buNone/>
            </a:pPr>
            <a:r>
              <a:rPr lang="en-US" sz="760" dirty="0">
                <a:solidFill>
                  <a:srgbClr val="5E636A"/>
                </a:solidFill>
                <a:latin typeface="Arial" pitchFamily="34" charset="0"/>
                <a:ea typeface="Arial" pitchFamily="34" charset="-122"/>
                <a:cs typeface="Arial" pitchFamily="34" charset="-120"/>
              </a:rPr>
              <a:t>right across the range</a:t>
            </a:r>
            <a:endParaRPr lang="en-US" sz="760" dirty="0"/>
          </a:p>
        </p:txBody>
      </p:sp>
      <p:sp>
        <p:nvSpPr>
          <p:cNvPr id="12" name="Text 10"/>
          <p:cNvSpPr txBox="1"/>
          <p:nvPr/>
        </p:nvSpPr>
        <p:spPr>
          <a:xfrm>
            <a:off x="40782240" y="548640"/>
            <a:ext cx="4389120" cy="402336"/>
          </a:xfrm>
          <a:prstGeom prst="rect">
            <a:avLst/>
          </a:prstGeom>
          <a:noFill/>
          <a:ln/>
        </p:spPr>
        <p:txBody>
          <a:bodyPr wrap="square" lIns="0" tIns="0" rIns="0" bIns="0" rtlCol="0" anchor="t"/>
          <a:lstStyle/>
          <a:p>
            <a:pPr indent="0" marL="0">
              <a:buNone/>
            </a:pPr>
            <a:r>
              <a:rPr lang="en-US" sz="2600" dirty="0">
                <a:solidFill>
                  <a:srgbClr val="F4F2EE"/>
                </a:solidFill>
                <a:latin typeface="Cambria" pitchFamily="34" charset="0"/>
                <a:ea typeface="Cambria" pitchFamily="34" charset="-122"/>
                <a:cs typeface="Cambria" pitchFamily="34" charset="-120"/>
              </a:rPr>
              <a:t>32</a:t>
            </a:r>
            <a:endParaRPr lang="en-US" sz="2600" dirty="0"/>
          </a:p>
        </p:txBody>
      </p:sp>
      <p:sp>
        <p:nvSpPr>
          <p:cNvPr id="13" name="Text 11"/>
          <p:cNvSpPr txBox="1"/>
          <p:nvPr/>
        </p:nvSpPr>
        <p:spPr>
          <a:xfrm>
            <a:off x="40782240" y="987552"/>
            <a:ext cx="4389120" cy="347472"/>
          </a:xfrm>
          <a:prstGeom prst="rect">
            <a:avLst/>
          </a:prstGeom>
          <a:noFill/>
          <a:ln/>
        </p:spPr>
        <p:txBody>
          <a:bodyPr wrap="square" lIns="0" tIns="0" rIns="0" bIns="0" rtlCol="0" anchor="t"/>
          <a:lstStyle/>
          <a:p>
            <a:pPr indent="0" marL="0">
              <a:lnSpc>
                <a:spcPct val="110000"/>
              </a:lnSpc>
              <a:buNone/>
            </a:pPr>
            <a:r>
              <a:rPr lang="en-US" sz="760" dirty="0">
                <a:solidFill>
                  <a:srgbClr val="5E636A"/>
                </a:solidFill>
                <a:latin typeface="Arial" pitchFamily="34" charset="0"/>
                <a:ea typeface="Arial" pitchFamily="34" charset="-122"/>
                <a:cs typeface="Arial" pitchFamily="34" charset="-120"/>
              </a:rPr>
              <a:t>ambient colours, standard</a:t>
            </a:r>
            <a:endParaRPr lang="en-US" sz="760" dirty="0"/>
          </a:p>
          <a:p>
            <a:pPr indent="0" marL="0">
              <a:lnSpc>
                <a:spcPct val="110000"/>
              </a:lnSpc>
              <a:buNone/>
            </a:pPr>
            <a:r>
              <a:rPr lang="en-US" sz="760" dirty="0">
                <a:solidFill>
                  <a:srgbClr val="5E636A"/>
                </a:solidFill>
                <a:latin typeface="Arial" pitchFamily="34" charset="0"/>
                <a:ea typeface="Arial" pitchFamily="34" charset="-122"/>
                <a:cs typeface="Arial" pitchFamily="34" charset="-120"/>
              </a:rPr>
              <a:t>on almost everything</a:t>
            </a:r>
            <a:endParaRPr lang="en-US" sz="760" dirty="0"/>
          </a:p>
        </p:txBody>
      </p:sp>
      <p:sp>
        <p:nvSpPr>
          <p:cNvPr id="14" name="Text 12"/>
          <p:cNvSpPr txBox="1"/>
          <p:nvPr/>
        </p:nvSpPr>
        <p:spPr>
          <a:xfrm>
            <a:off x="548640" y="1956816"/>
            <a:ext cx="4736592" cy="274320"/>
          </a:xfrm>
          <a:prstGeom prst="rect">
            <a:avLst/>
          </a:prstGeom>
          <a:noFill/>
          <a:ln/>
        </p:spPr>
        <p:txBody>
          <a:bodyPr wrap="square" lIns="0" tIns="0" rIns="0" bIns="0" rtlCol="0" anchor="t"/>
          <a:lstStyle/>
          <a:p>
            <a:pPr indent="0" marL="0">
              <a:buNone/>
            </a:pPr>
            <a:r>
              <a:rPr lang="en-US" sz="1300" b="1" spc="70" kern="0" dirty="0">
                <a:solidFill>
                  <a:srgbClr val="F4F2EE"/>
                </a:solidFill>
                <a:latin typeface="Arial" pitchFamily="34" charset="0"/>
                <a:ea typeface="Arial" pitchFamily="34" charset="-122"/>
                <a:cs typeface="Arial" pitchFamily="34" charset="-120"/>
              </a:rPr>
              <a:t>AION UT</a:t>
            </a:r>
            <a:endParaRPr lang="en-US" sz="1300" dirty="0"/>
          </a:p>
        </p:txBody>
      </p:sp>
      <p:sp>
        <p:nvSpPr>
          <p:cNvPr id="15" name="Shape 13"/>
          <p:cNvSpPr/>
          <p:nvPr/>
        </p:nvSpPr>
        <p:spPr>
          <a:xfrm>
            <a:off x="6039612" y="1984248"/>
            <a:ext cx="617220" cy="192024"/>
          </a:xfrm>
          <a:prstGeom prst="roundRect">
            <a:avLst>
              <a:gd name="adj" fmla="val 47619"/>
            </a:avLst>
          </a:prstGeom>
          <a:solidFill>
            <a:srgbClr val="0A0B0D"/>
          </a:solidFill>
          <a:ln w="9525">
            <a:solidFill>
              <a:srgbClr val="6E737A"/>
            </a:solidFill>
            <a:prstDash val="solid"/>
          </a:ln>
        </p:spPr>
      </p:sp>
      <p:sp>
        <p:nvSpPr>
          <p:cNvPr id="16" name="Text 14"/>
          <p:cNvSpPr txBox="1"/>
          <p:nvPr/>
        </p:nvSpPr>
        <p:spPr>
          <a:xfrm>
            <a:off x="6039612" y="2025396"/>
            <a:ext cx="617220" cy="137160"/>
          </a:xfrm>
          <a:prstGeom prst="rect">
            <a:avLst/>
          </a:prstGeom>
          <a:noFill/>
          <a:ln/>
        </p:spPr>
        <p:txBody>
          <a:bodyPr wrap="square" lIns="0" tIns="0" rIns="0" bIns="0" rtlCol="0" anchor="t"/>
          <a:lstStyle/>
          <a:p>
            <a:pPr algn="ctr" indent="0" marL="0">
              <a:buNone/>
            </a:pPr>
            <a:r>
              <a:rPr lang="en-US" sz="660" b="1" spc="100" kern="0" dirty="0">
                <a:solidFill>
                  <a:srgbClr val="6E737A"/>
                </a:solidFill>
                <a:latin typeface="Arial" pitchFamily="34" charset="0"/>
                <a:ea typeface="Arial" pitchFamily="34" charset="-122"/>
                <a:cs typeface="Arial" pitchFamily="34" charset="-120"/>
              </a:rPr>
              <a:t>ENTRY</a:t>
            </a:r>
            <a:endParaRPr lang="en-US" sz="660" dirty="0"/>
          </a:p>
        </p:txBody>
      </p:sp>
      <p:sp>
        <p:nvSpPr>
          <p:cNvPr id="17" name="Text 15"/>
          <p:cNvSpPr txBox="1"/>
          <p:nvPr/>
        </p:nvSpPr>
        <p:spPr>
          <a:xfrm>
            <a:off x="548640" y="2267712"/>
            <a:ext cx="6108192" cy="182880"/>
          </a:xfrm>
          <a:prstGeom prst="rect">
            <a:avLst/>
          </a:prstGeom>
          <a:noFill/>
          <a:ln/>
        </p:spPr>
        <p:txBody>
          <a:bodyPr wrap="square" lIns="0" tIns="0" rIns="0" bIns="0" rtlCol="0" anchor="t"/>
          <a:lstStyle/>
          <a:p>
            <a:pPr indent="0" marL="0">
              <a:buNone/>
            </a:pPr>
            <a:r>
              <a:rPr lang="en-US" sz="760" dirty="0">
                <a:solidFill>
                  <a:srgbClr val="9DA1A8"/>
                </a:solidFill>
                <a:latin typeface="Arial" pitchFamily="34" charset="0"/>
                <a:ea typeface="Arial" pitchFamily="34" charset="-122"/>
                <a:cs typeface="Arial" pitchFamily="34" charset="-120"/>
              </a:rPr>
              <a:t>B-segment hatch · BEV · ≈¥70–105k · 4,270 mm</a:t>
            </a:r>
            <a:endParaRPr lang="en-US" sz="760" dirty="0"/>
          </a:p>
        </p:txBody>
      </p:sp>
      <p:sp>
        <p:nvSpPr>
          <p:cNvPr id="18" name="Shape 16"/>
          <p:cNvSpPr/>
          <p:nvPr/>
        </p:nvSpPr>
        <p:spPr>
          <a:xfrm>
            <a:off x="548640" y="2542032"/>
            <a:ext cx="6108192" cy="12802"/>
          </a:xfrm>
          <a:prstGeom prst="rect">
            <a:avLst/>
          </a:prstGeom>
          <a:solidFill>
            <a:srgbClr val="5C93FF"/>
          </a:solidFill>
          <a:ln w="12700">
            <a:solidFill>
              <a:srgbClr val="333333"/>
            </a:solidFill>
            <a:prstDash val="solid"/>
          </a:ln>
        </p:spPr>
      </p:sp>
      <p:sp>
        <p:nvSpPr>
          <p:cNvPr id="19" name="Shape 17"/>
          <p:cNvSpPr/>
          <p:nvPr/>
        </p:nvSpPr>
        <p:spPr>
          <a:xfrm>
            <a:off x="548640" y="2670048"/>
            <a:ext cx="6108192" cy="2980944"/>
          </a:xfrm>
          <a:prstGeom prst="rect">
            <a:avLst/>
          </a:prstGeom>
          <a:solidFill>
            <a:srgbClr val="14161A"/>
          </a:solidFill>
          <a:ln w="9525">
            <a:solidFill>
              <a:srgbClr val="262A30"/>
            </a:solidFill>
            <a:prstDash val="solid"/>
          </a:ln>
        </p:spPr>
      </p:sp>
      <p:sp>
        <p:nvSpPr>
          <p:cNvPr id="20" name="Shape 18"/>
          <p:cNvSpPr/>
          <p:nvPr/>
        </p:nvSpPr>
        <p:spPr>
          <a:xfrm>
            <a:off x="548640" y="2670048"/>
            <a:ext cx="237744" cy="3658"/>
          </a:xfrm>
          <a:prstGeom prst="rect">
            <a:avLst/>
          </a:prstGeom>
          <a:solidFill>
            <a:srgbClr val="3A3F47"/>
          </a:solidFill>
          <a:ln w="12700">
            <a:solidFill>
              <a:srgbClr val="333333"/>
            </a:solidFill>
            <a:prstDash val="solid"/>
          </a:ln>
        </p:spPr>
      </p:sp>
      <p:sp>
        <p:nvSpPr>
          <p:cNvPr id="21" name="Shape 19"/>
          <p:cNvSpPr/>
          <p:nvPr/>
        </p:nvSpPr>
        <p:spPr>
          <a:xfrm>
            <a:off x="548640" y="2670048"/>
            <a:ext cx="3658" cy="237744"/>
          </a:xfrm>
          <a:prstGeom prst="rect">
            <a:avLst/>
          </a:prstGeom>
          <a:solidFill>
            <a:srgbClr val="3A3F47"/>
          </a:solidFill>
          <a:ln w="12700">
            <a:solidFill>
              <a:srgbClr val="333333"/>
            </a:solidFill>
            <a:prstDash val="solid"/>
          </a:ln>
        </p:spPr>
      </p:sp>
      <p:sp>
        <p:nvSpPr>
          <p:cNvPr id="22" name="Shape 20"/>
          <p:cNvSpPr/>
          <p:nvPr/>
        </p:nvSpPr>
        <p:spPr>
          <a:xfrm>
            <a:off x="6419088" y="2670048"/>
            <a:ext cx="237744" cy="3658"/>
          </a:xfrm>
          <a:prstGeom prst="rect">
            <a:avLst/>
          </a:prstGeom>
          <a:solidFill>
            <a:srgbClr val="3A3F47"/>
          </a:solidFill>
          <a:ln w="12700">
            <a:solidFill>
              <a:srgbClr val="333333"/>
            </a:solidFill>
            <a:prstDash val="solid"/>
          </a:ln>
        </p:spPr>
      </p:sp>
      <p:sp>
        <p:nvSpPr>
          <p:cNvPr id="23" name="Shape 21"/>
          <p:cNvSpPr/>
          <p:nvPr/>
        </p:nvSpPr>
        <p:spPr>
          <a:xfrm>
            <a:off x="6653174" y="2670048"/>
            <a:ext cx="3658" cy="237744"/>
          </a:xfrm>
          <a:prstGeom prst="rect">
            <a:avLst/>
          </a:prstGeom>
          <a:solidFill>
            <a:srgbClr val="3A3F47"/>
          </a:solidFill>
          <a:ln w="12700">
            <a:solidFill>
              <a:srgbClr val="333333"/>
            </a:solidFill>
            <a:prstDash val="solid"/>
          </a:ln>
        </p:spPr>
      </p:sp>
      <p:sp>
        <p:nvSpPr>
          <p:cNvPr id="24" name="Shape 22"/>
          <p:cNvSpPr/>
          <p:nvPr/>
        </p:nvSpPr>
        <p:spPr>
          <a:xfrm>
            <a:off x="548640" y="5647334"/>
            <a:ext cx="237744" cy="3658"/>
          </a:xfrm>
          <a:prstGeom prst="rect">
            <a:avLst/>
          </a:prstGeom>
          <a:solidFill>
            <a:srgbClr val="3A3F47"/>
          </a:solidFill>
          <a:ln w="12700">
            <a:solidFill>
              <a:srgbClr val="333333"/>
            </a:solidFill>
            <a:prstDash val="solid"/>
          </a:ln>
        </p:spPr>
      </p:sp>
      <p:sp>
        <p:nvSpPr>
          <p:cNvPr id="25" name="Shape 23"/>
          <p:cNvSpPr/>
          <p:nvPr/>
        </p:nvSpPr>
        <p:spPr>
          <a:xfrm>
            <a:off x="548640" y="5413248"/>
            <a:ext cx="3658" cy="237744"/>
          </a:xfrm>
          <a:prstGeom prst="rect">
            <a:avLst/>
          </a:prstGeom>
          <a:solidFill>
            <a:srgbClr val="3A3F47"/>
          </a:solidFill>
          <a:ln w="12700">
            <a:solidFill>
              <a:srgbClr val="333333"/>
            </a:solidFill>
            <a:prstDash val="solid"/>
          </a:ln>
        </p:spPr>
      </p:sp>
      <p:sp>
        <p:nvSpPr>
          <p:cNvPr id="26" name="Shape 24"/>
          <p:cNvSpPr/>
          <p:nvPr/>
        </p:nvSpPr>
        <p:spPr>
          <a:xfrm>
            <a:off x="6419088" y="5647334"/>
            <a:ext cx="237744" cy="3658"/>
          </a:xfrm>
          <a:prstGeom prst="rect">
            <a:avLst/>
          </a:prstGeom>
          <a:solidFill>
            <a:srgbClr val="3A3F47"/>
          </a:solidFill>
          <a:ln w="12700">
            <a:solidFill>
              <a:srgbClr val="333333"/>
            </a:solidFill>
            <a:prstDash val="solid"/>
          </a:ln>
        </p:spPr>
      </p:sp>
      <p:sp>
        <p:nvSpPr>
          <p:cNvPr id="27" name="Shape 25"/>
          <p:cNvSpPr/>
          <p:nvPr/>
        </p:nvSpPr>
        <p:spPr>
          <a:xfrm>
            <a:off x="6653174" y="5413248"/>
            <a:ext cx="3658" cy="237744"/>
          </a:xfrm>
          <a:prstGeom prst="rect">
            <a:avLst/>
          </a:prstGeom>
          <a:solidFill>
            <a:srgbClr val="3A3F47"/>
          </a:solidFill>
          <a:ln w="12700">
            <a:solidFill>
              <a:srgbClr val="333333"/>
            </a:solidFill>
            <a:prstDash val="solid"/>
          </a:ln>
        </p:spPr>
      </p:sp>
      <p:sp>
        <p:nvSpPr>
          <p:cNvPr id="28" name="Text 26"/>
          <p:cNvSpPr txBox="1"/>
          <p:nvPr/>
        </p:nvSpPr>
        <p:spPr>
          <a:xfrm>
            <a:off x="548640" y="3922776"/>
            <a:ext cx="6108192" cy="118872"/>
          </a:xfrm>
          <a:prstGeom prst="rect">
            <a:avLst/>
          </a:prstGeom>
          <a:noFill/>
          <a:ln/>
        </p:spPr>
        <p:txBody>
          <a:bodyPr wrap="square" lIns="0" tIns="0" rIns="0" bIns="0" rtlCol="0" anchor="t"/>
          <a:lstStyle/>
          <a:p>
            <a:pPr indent="0" marL="0">
              <a:buNone/>
            </a:pPr>
            <a:r>
              <a:rPr lang="en-US" sz="740" b="1" spc="140" kern="0" dirty="0">
                <a:solidFill>
                  <a:srgbClr val="525862"/>
                </a:solidFill>
                <a:latin typeface="Arial" pitchFamily="34" charset="0"/>
                <a:ea typeface="Arial" pitchFamily="34" charset="-122"/>
                <a:cs typeface="Arial" pitchFamily="34" charset="-120"/>
              </a:rPr>
              <a:t>DASHBOARD / IP</a:t>
            </a:r>
            <a:endParaRPr lang="en-US" sz="740" dirty="0"/>
          </a:p>
        </p:txBody>
      </p:sp>
      <p:sp>
        <p:nvSpPr>
          <p:cNvPr id="29" name="Text 27"/>
          <p:cNvSpPr txBox="1"/>
          <p:nvPr/>
        </p:nvSpPr>
        <p:spPr>
          <a:xfrm>
            <a:off x="859536" y="4105656"/>
            <a:ext cx="5486400" cy="329184"/>
          </a:xfrm>
          <a:prstGeom prst="rect">
            <a:avLst/>
          </a:prstGeom>
          <a:noFill/>
          <a:ln/>
        </p:spPr>
        <p:txBody>
          <a:bodyPr wrap="square" lIns="0" tIns="0" rIns="0" bIns="0" rtlCol="0" anchor="t"/>
          <a:lstStyle/>
          <a:p>
            <a:pPr algn="ctr" indent="0" marL="0">
              <a:lnSpc>
                <a:spcPct val="112000"/>
              </a:lnSpc>
              <a:buNone/>
            </a:pPr>
            <a:r>
              <a:rPr lang="en-US" sz="760" i="1" dirty="0">
                <a:solidFill>
                  <a:srgbClr val="4A505A"/>
                </a:solidFill>
                <a:latin typeface="Arial" pitchFamily="34" charset="0"/>
                <a:ea typeface="Arial" pitchFamily="34" charset="-122"/>
                <a:cs typeface="Arial" pitchFamily="34" charset="-120"/>
              </a:rPr>
              <a:t>IP straight on — cream or dusky pink carried onto the dash</a:t>
            </a:r>
            <a:endParaRPr lang="en-US" sz="760" dirty="0"/>
          </a:p>
        </p:txBody>
      </p:sp>
      <p:sp>
        <p:nvSpPr>
          <p:cNvPr id="30" name="Shape 28"/>
          <p:cNvSpPr/>
          <p:nvPr/>
        </p:nvSpPr>
        <p:spPr>
          <a:xfrm>
            <a:off x="548640" y="5797296"/>
            <a:ext cx="6108192" cy="2980944"/>
          </a:xfrm>
          <a:prstGeom prst="rect">
            <a:avLst/>
          </a:prstGeom>
          <a:solidFill>
            <a:srgbClr val="14161A"/>
          </a:solidFill>
          <a:ln w="9525">
            <a:solidFill>
              <a:srgbClr val="262A30"/>
            </a:solidFill>
            <a:prstDash val="solid"/>
          </a:ln>
        </p:spPr>
      </p:sp>
      <p:sp>
        <p:nvSpPr>
          <p:cNvPr id="31" name="Shape 29"/>
          <p:cNvSpPr/>
          <p:nvPr/>
        </p:nvSpPr>
        <p:spPr>
          <a:xfrm>
            <a:off x="548640" y="5797296"/>
            <a:ext cx="237744" cy="3658"/>
          </a:xfrm>
          <a:prstGeom prst="rect">
            <a:avLst/>
          </a:prstGeom>
          <a:solidFill>
            <a:srgbClr val="3A3F47"/>
          </a:solidFill>
          <a:ln w="12700">
            <a:solidFill>
              <a:srgbClr val="333333"/>
            </a:solidFill>
            <a:prstDash val="solid"/>
          </a:ln>
        </p:spPr>
      </p:sp>
      <p:sp>
        <p:nvSpPr>
          <p:cNvPr id="32" name="Shape 30"/>
          <p:cNvSpPr/>
          <p:nvPr/>
        </p:nvSpPr>
        <p:spPr>
          <a:xfrm>
            <a:off x="548640" y="5797296"/>
            <a:ext cx="3658" cy="237744"/>
          </a:xfrm>
          <a:prstGeom prst="rect">
            <a:avLst/>
          </a:prstGeom>
          <a:solidFill>
            <a:srgbClr val="3A3F47"/>
          </a:solidFill>
          <a:ln w="12700">
            <a:solidFill>
              <a:srgbClr val="333333"/>
            </a:solidFill>
            <a:prstDash val="solid"/>
          </a:ln>
        </p:spPr>
      </p:sp>
      <p:sp>
        <p:nvSpPr>
          <p:cNvPr id="33" name="Shape 31"/>
          <p:cNvSpPr/>
          <p:nvPr/>
        </p:nvSpPr>
        <p:spPr>
          <a:xfrm>
            <a:off x="6419088" y="5797296"/>
            <a:ext cx="237744" cy="3658"/>
          </a:xfrm>
          <a:prstGeom prst="rect">
            <a:avLst/>
          </a:prstGeom>
          <a:solidFill>
            <a:srgbClr val="3A3F47"/>
          </a:solidFill>
          <a:ln w="12700">
            <a:solidFill>
              <a:srgbClr val="333333"/>
            </a:solidFill>
            <a:prstDash val="solid"/>
          </a:ln>
        </p:spPr>
      </p:sp>
      <p:sp>
        <p:nvSpPr>
          <p:cNvPr id="34" name="Shape 32"/>
          <p:cNvSpPr/>
          <p:nvPr/>
        </p:nvSpPr>
        <p:spPr>
          <a:xfrm>
            <a:off x="6653174" y="5797296"/>
            <a:ext cx="3658" cy="237744"/>
          </a:xfrm>
          <a:prstGeom prst="rect">
            <a:avLst/>
          </a:prstGeom>
          <a:solidFill>
            <a:srgbClr val="3A3F47"/>
          </a:solidFill>
          <a:ln w="12700">
            <a:solidFill>
              <a:srgbClr val="333333"/>
            </a:solidFill>
            <a:prstDash val="solid"/>
          </a:ln>
        </p:spPr>
      </p:sp>
      <p:sp>
        <p:nvSpPr>
          <p:cNvPr id="35" name="Shape 33"/>
          <p:cNvSpPr/>
          <p:nvPr/>
        </p:nvSpPr>
        <p:spPr>
          <a:xfrm>
            <a:off x="548640" y="8774582"/>
            <a:ext cx="237744" cy="3658"/>
          </a:xfrm>
          <a:prstGeom prst="rect">
            <a:avLst/>
          </a:prstGeom>
          <a:solidFill>
            <a:srgbClr val="3A3F47"/>
          </a:solidFill>
          <a:ln w="12700">
            <a:solidFill>
              <a:srgbClr val="333333"/>
            </a:solidFill>
            <a:prstDash val="solid"/>
          </a:ln>
        </p:spPr>
      </p:sp>
      <p:sp>
        <p:nvSpPr>
          <p:cNvPr id="36" name="Shape 34"/>
          <p:cNvSpPr/>
          <p:nvPr/>
        </p:nvSpPr>
        <p:spPr>
          <a:xfrm>
            <a:off x="548640" y="8540496"/>
            <a:ext cx="3658" cy="237744"/>
          </a:xfrm>
          <a:prstGeom prst="rect">
            <a:avLst/>
          </a:prstGeom>
          <a:solidFill>
            <a:srgbClr val="3A3F47"/>
          </a:solidFill>
          <a:ln w="12700">
            <a:solidFill>
              <a:srgbClr val="333333"/>
            </a:solidFill>
            <a:prstDash val="solid"/>
          </a:ln>
        </p:spPr>
      </p:sp>
      <p:sp>
        <p:nvSpPr>
          <p:cNvPr id="37" name="Shape 35"/>
          <p:cNvSpPr/>
          <p:nvPr/>
        </p:nvSpPr>
        <p:spPr>
          <a:xfrm>
            <a:off x="6419088" y="8774582"/>
            <a:ext cx="237744" cy="3658"/>
          </a:xfrm>
          <a:prstGeom prst="rect">
            <a:avLst/>
          </a:prstGeom>
          <a:solidFill>
            <a:srgbClr val="3A3F47"/>
          </a:solidFill>
          <a:ln w="12700">
            <a:solidFill>
              <a:srgbClr val="333333"/>
            </a:solidFill>
            <a:prstDash val="solid"/>
          </a:ln>
        </p:spPr>
      </p:sp>
      <p:sp>
        <p:nvSpPr>
          <p:cNvPr id="38" name="Shape 36"/>
          <p:cNvSpPr/>
          <p:nvPr/>
        </p:nvSpPr>
        <p:spPr>
          <a:xfrm>
            <a:off x="6653174" y="8540496"/>
            <a:ext cx="3658" cy="237744"/>
          </a:xfrm>
          <a:prstGeom prst="rect">
            <a:avLst/>
          </a:prstGeom>
          <a:solidFill>
            <a:srgbClr val="3A3F47"/>
          </a:solidFill>
          <a:ln w="12700">
            <a:solidFill>
              <a:srgbClr val="333333"/>
            </a:solidFill>
            <a:prstDash val="solid"/>
          </a:ln>
        </p:spPr>
      </p:sp>
      <p:sp>
        <p:nvSpPr>
          <p:cNvPr id="39" name="Text 37"/>
          <p:cNvSpPr txBox="1"/>
          <p:nvPr/>
        </p:nvSpPr>
        <p:spPr>
          <a:xfrm>
            <a:off x="548640" y="7050024"/>
            <a:ext cx="6108192" cy="118872"/>
          </a:xfrm>
          <a:prstGeom prst="rect">
            <a:avLst/>
          </a:prstGeom>
          <a:noFill/>
          <a:ln/>
        </p:spPr>
        <p:txBody>
          <a:bodyPr wrap="square" lIns="0" tIns="0" rIns="0" bIns="0" rtlCol="0" anchor="t"/>
          <a:lstStyle/>
          <a:p>
            <a:pPr indent="0" marL="0">
              <a:buNone/>
            </a:pPr>
            <a:r>
              <a:rPr lang="en-US" sz="740" b="1" spc="140" kern="0" dirty="0">
                <a:solidFill>
                  <a:srgbClr val="525862"/>
                </a:solidFill>
                <a:latin typeface="Arial" pitchFamily="34" charset="0"/>
                <a:ea typeface="Arial" pitchFamily="34" charset="-122"/>
                <a:cs typeface="Arial" pitchFamily="34" charset="-120"/>
              </a:rPr>
              <a:t>CABIN DETAIL</a:t>
            </a:r>
            <a:endParaRPr lang="en-US" sz="740" dirty="0"/>
          </a:p>
        </p:txBody>
      </p:sp>
      <p:sp>
        <p:nvSpPr>
          <p:cNvPr id="40" name="Text 38"/>
          <p:cNvSpPr txBox="1"/>
          <p:nvPr/>
        </p:nvSpPr>
        <p:spPr>
          <a:xfrm>
            <a:off x="859536" y="7232904"/>
            <a:ext cx="5486400" cy="329184"/>
          </a:xfrm>
          <a:prstGeom prst="rect">
            <a:avLst/>
          </a:prstGeom>
          <a:noFill/>
          <a:ln/>
        </p:spPr>
        <p:txBody>
          <a:bodyPr wrap="square" lIns="0" tIns="0" rIns="0" bIns="0" rtlCol="0" anchor="t"/>
          <a:lstStyle/>
          <a:p>
            <a:pPr algn="ctr" indent="0" marL="0">
              <a:lnSpc>
                <a:spcPct val="112000"/>
              </a:lnSpc>
              <a:buNone/>
            </a:pPr>
            <a:r>
              <a:rPr lang="en-US" sz="760" i="1" dirty="0">
                <a:solidFill>
                  <a:srgbClr val="4A505A"/>
                </a:solidFill>
                <a:latin typeface="Arial" pitchFamily="34" charset="0"/>
                <a:ea typeface="Arial" pitchFamily="34" charset="-122"/>
                <a:cs typeface="Arial" pitchFamily="34" charset="-120"/>
              </a:rPr>
              <a:t>door card and seat facing, or the flat-fold bed mode</a:t>
            </a:r>
            <a:endParaRPr lang="en-US" sz="760" dirty="0"/>
          </a:p>
        </p:txBody>
      </p:sp>
      <p:sp>
        <p:nvSpPr>
          <p:cNvPr id="41" name="Text 39"/>
          <p:cNvSpPr txBox="1"/>
          <p:nvPr/>
        </p:nvSpPr>
        <p:spPr>
          <a:xfrm>
            <a:off x="548640" y="8961120"/>
            <a:ext cx="6108192" cy="118872"/>
          </a:xfrm>
          <a:prstGeom prst="rect">
            <a:avLst/>
          </a:prstGeom>
          <a:noFill/>
          <a:ln/>
        </p:spPr>
        <p:txBody>
          <a:bodyPr wrap="square" lIns="0" tIns="0" rIns="0" bIns="0" rtlCol="0" anchor="t"/>
          <a:lstStyle/>
          <a:p>
            <a:pPr indent="0" marL="0">
              <a:buNone/>
            </a:pPr>
            <a:r>
              <a:rPr lang="en-US" sz="680" b="1" spc="140" kern="0" dirty="0">
                <a:solidFill>
                  <a:srgbClr val="5E636A"/>
                </a:solidFill>
                <a:latin typeface="Arial" pitchFamily="34" charset="0"/>
                <a:ea typeface="Arial" pitchFamily="34" charset="-122"/>
                <a:cs typeface="Arial" pitchFamily="34" charset="-120"/>
              </a:rPr>
              <a:t>SCREENS</a:t>
            </a:r>
            <a:endParaRPr lang="en-US" sz="680" dirty="0"/>
          </a:p>
        </p:txBody>
      </p:sp>
      <p:sp>
        <p:nvSpPr>
          <p:cNvPr id="42" name="Text 40"/>
          <p:cNvSpPr txBox="1"/>
          <p:nvPr/>
        </p:nvSpPr>
        <p:spPr>
          <a:xfrm>
            <a:off x="548640" y="9089136"/>
            <a:ext cx="6108192" cy="256032"/>
          </a:xfrm>
          <a:prstGeom prst="rect">
            <a:avLst/>
          </a:prstGeom>
          <a:noFill/>
          <a:ln/>
        </p:spPr>
        <p:txBody>
          <a:bodyPr wrap="square" lIns="0" tIns="0" rIns="0" bIns="0" rtlCol="0" anchor="t"/>
          <a:lstStyle/>
          <a:p>
            <a:pPr indent="0" marL="0">
              <a:lnSpc>
                <a:spcPct val="108000"/>
              </a:lnSpc>
              <a:buNone/>
            </a:pPr>
            <a:r>
              <a:rPr lang="en-US" sz="800" dirty="0">
                <a:solidFill>
                  <a:srgbClr val="C6C9CE"/>
                </a:solidFill>
                <a:latin typeface="Arial" pitchFamily="34" charset="0"/>
                <a:ea typeface="Arial" pitchFamily="34" charset="-122"/>
                <a:cs typeface="Arial" pitchFamily="34" charset="-120"/>
              </a:rPr>
              <a:t>14.6" centre tile + 8.8" driver cluster. Climate, mirrors and driver aids all sit in the tile.</a:t>
            </a:r>
            <a:endParaRPr lang="en-US" sz="800" dirty="0"/>
          </a:p>
        </p:txBody>
      </p:sp>
      <p:sp>
        <p:nvSpPr>
          <p:cNvPr id="43" name="Text 41"/>
          <p:cNvSpPr txBox="1"/>
          <p:nvPr/>
        </p:nvSpPr>
        <p:spPr>
          <a:xfrm>
            <a:off x="548640" y="9345168"/>
            <a:ext cx="6108192" cy="118872"/>
          </a:xfrm>
          <a:prstGeom prst="rect">
            <a:avLst/>
          </a:prstGeom>
          <a:noFill/>
          <a:ln/>
        </p:spPr>
        <p:txBody>
          <a:bodyPr wrap="square" lIns="0" tIns="0" rIns="0" bIns="0" rtlCol="0" anchor="t"/>
          <a:lstStyle/>
          <a:p>
            <a:pPr indent="0" marL="0">
              <a:buNone/>
            </a:pPr>
            <a:r>
              <a:rPr lang="en-US" sz="680" b="1" spc="140" kern="0" dirty="0">
                <a:solidFill>
                  <a:srgbClr val="5E636A"/>
                </a:solidFill>
                <a:latin typeface="Arial" pitchFamily="34" charset="0"/>
                <a:ea typeface="Arial" pitchFamily="34" charset="-122"/>
                <a:cs typeface="Arial" pitchFamily="34" charset="-120"/>
              </a:rPr>
              <a:t>MATERIAL · COLOUR</a:t>
            </a:r>
            <a:endParaRPr lang="en-US" sz="680" dirty="0"/>
          </a:p>
        </p:txBody>
      </p:sp>
      <p:sp>
        <p:nvSpPr>
          <p:cNvPr id="44" name="Text 42"/>
          <p:cNvSpPr txBox="1"/>
          <p:nvPr/>
        </p:nvSpPr>
        <p:spPr>
          <a:xfrm>
            <a:off x="548640" y="9473184"/>
            <a:ext cx="6108192" cy="256032"/>
          </a:xfrm>
          <a:prstGeom prst="rect">
            <a:avLst/>
          </a:prstGeom>
          <a:noFill/>
          <a:ln/>
        </p:spPr>
        <p:txBody>
          <a:bodyPr wrap="square" lIns="0" tIns="0" rIns="0" bIns="0" rtlCol="0" anchor="t"/>
          <a:lstStyle/>
          <a:p>
            <a:pPr indent="0" marL="0">
              <a:lnSpc>
                <a:spcPct val="108000"/>
              </a:lnSpc>
              <a:buNone/>
            </a:pPr>
            <a:r>
              <a:rPr lang="en-US" sz="800" dirty="0">
                <a:solidFill>
                  <a:srgbClr val="C6C9CE"/>
                </a:solidFill>
                <a:latin typeface="Arial" pitchFamily="34" charset="0"/>
                <a:ea typeface="Arial" pitchFamily="34" charset="-122"/>
                <a:cs typeface="Arial" pitchFamily="34" charset="-120"/>
              </a:rPr>
              <a:t>PVC in cream or dusky pink, carried onto doors and dash. Padded dash top, soft-touch to the rear doors.</a:t>
            </a:r>
            <a:endParaRPr lang="en-US" sz="800" dirty="0"/>
          </a:p>
        </p:txBody>
      </p:sp>
      <p:sp>
        <p:nvSpPr>
          <p:cNvPr id="45" name="Text 43"/>
          <p:cNvSpPr txBox="1"/>
          <p:nvPr/>
        </p:nvSpPr>
        <p:spPr>
          <a:xfrm>
            <a:off x="548640" y="9729216"/>
            <a:ext cx="6108192" cy="118872"/>
          </a:xfrm>
          <a:prstGeom prst="rect">
            <a:avLst/>
          </a:prstGeom>
          <a:noFill/>
          <a:ln/>
        </p:spPr>
        <p:txBody>
          <a:bodyPr wrap="square" lIns="0" tIns="0" rIns="0" bIns="0" rtlCol="0" anchor="t"/>
          <a:lstStyle/>
          <a:p>
            <a:pPr indent="0" marL="0">
              <a:buNone/>
            </a:pPr>
            <a:r>
              <a:rPr lang="en-US" sz="680" b="1" spc="140" kern="0" dirty="0">
                <a:solidFill>
                  <a:srgbClr val="5E636A"/>
                </a:solidFill>
                <a:latin typeface="Arial" pitchFamily="34" charset="0"/>
                <a:ea typeface="Arial" pitchFamily="34" charset="-122"/>
                <a:cs typeface="Arial" pitchFamily="34" charset="-120"/>
              </a:rPr>
              <a:t>SEAT · COMFORT</a:t>
            </a:r>
            <a:endParaRPr lang="en-US" sz="680" dirty="0"/>
          </a:p>
        </p:txBody>
      </p:sp>
      <p:sp>
        <p:nvSpPr>
          <p:cNvPr id="46" name="Text 44"/>
          <p:cNvSpPr txBox="1"/>
          <p:nvPr/>
        </p:nvSpPr>
        <p:spPr>
          <a:xfrm>
            <a:off x="548640" y="9857232"/>
            <a:ext cx="6108192" cy="256032"/>
          </a:xfrm>
          <a:prstGeom prst="rect">
            <a:avLst/>
          </a:prstGeom>
          <a:noFill/>
          <a:ln/>
        </p:spPr>
        <p:txBody>
          <a:bodyPr wrap="square" lIns="0" tIns="0" rIns="0" bIns="0" rtlCol="0" anchor="t"/>
          <a:lstStyle/>
          <a:p>
            <a:pPr indent="0" marL="0">
              <a:lnSpc>
                <a:spcPct val="108000"/>
              </a:lnSpc>
              <a:buNone/>
            </a:pPr>
            <a:r>
              <a:rPr lang="en-US" sz="800" dirty="0">
                <a:solidFill>
                  <a:srgbClr val="C6C9CE"/>
                </a:solidFill>
                <a:latin typeface="Arial" pitchFamily="34" charset="0"/>
                <a:ea typeface="Arial" pitchFamily="34" charset="-122"/>
                <a:cs typeface="Arial" pitchFamily="34" charset="-120"/>
              </a:rPr>
              <a:t>Manual adjustment, no comfort electronics. Every seat folds to a full-length flat bed.</a:t>
            </a:r>
            <a:endParaRPr lang="en-US" sz="800" dirty="0"/>
          </a:p>
        </p:txBody>
      </p:sp>
      <p:sp>
        <p:nvSpPr>
          <p:cNvPr id="47" name="Text 45"/>
          <p:cNvSpPr txBox="1"/>
          <p:nvPr/>
        </p:nvSpPr>
        <p:spPr>
          <a:xfrm>
            <a:off x="548640" y="10113264"/>
            <a:ext cx="6108192" cy="118872"/>
          </a:xfrm>
          <a:prstGeom prst="rect">
            <a:avLst/>
          </a:prstGeom>
          <a:noFill/>
          <a:ln/>
        </p:spPr>
        <p:txBody>
          <a:bodyPr wrap="square" lIns="0" tIns="0" rIns="0" bIns="0" rtlCol="0" anchor="t"/>
          <a:lstStyle/>
          <a:p>
            <a:pPr indent="0" marL="0">
              <a:buNone/>
            </a:pPr>
            <a:r>
              <a:rPr lang="en-US" sz="680" b="1" spc="140" kern="0" dirty="0">
                <a:solidFill>
                  <a:srgbClr val="5E636A"/>
                </a:solidFill>
                <a:latin typeface="Arial" pitchFamily="34" charset="0"/>
                <a:ea typeface="Arial" pitchFamily="34" charset="-122"/>
                <a:cs typeface="Arial" pitchFamily="34" charset="-120"/>
              </a:rPr>
              <a:t>FOR WHOM</a:t>
            </a:r>
            <a:endParaRPr lang="en-US" sz="680" dirty="0"/>
          </a:p>
        </p:txBody>
      </p:sp>
      <p:sp>
        <p:nvSpPr>
          <p:cNvPr id="48" name="Text 46"/>
          <p:cNvSpPr txBox="1"/>
          <p:nvPr/>
        </p:nvSpPr>
        <p:spPr>
          <a:xfrm>
            <a:off x="548640" y="10241280"/>
            <a:ext cx="6108192" cy="256032"/>
          </a:xfrm>
          <a:prstGeom prst="rect">
            <a:avLst/>
          </a:prstGeom>
          <a:noFill/>
          <a:ln/>
        </p:spPr>
        <p:txBody>
          <a:bodyPr wrap="square" lIns="0" tIns="0" rIns="0" bIns="0" rtlCol="0" anchor="t"/>
          <a:lstStyle/>
          <a:p>
            <a:pPr indent="0" marL="0">
              <a:lnSpc>
                <a:spcPct val="108000"/>
              </a:lnSpc>
              <a:buNone/>
            </a:pPr>
            <a:r>
              <a:rPr lang="en-US" sz="800" dirty="0">
                <a:solidFill>
                  <a:srgbClr val="C6C9CE"/>
                </a:solidFill>
                <a:latin typeface="Arial" pitchFamily="34" charset="0"/>
                <a:ea typeface="Arial" pitchFamily="34" charset="-122"/>
                <a:cs typeface="Arial" pitchFamily="34" charset="-120"/>
              </a:rPr>
              <a:t>First-car urban buyer, 22–28. Chooses the cabin before the car.</a:t>
            </a:r>
            <a:endParaRPr lang="en-US" sz="800" dirty="0"/>
          </a:p>
        </p:txBody>
      </p:sp>
      <p:sp>
        <p:nvSpPr>
          <p:cNvPr id="49" name="Text 47"/>
          <p:cNvSpPr txBox="1"/>
          <p:nvPr/>
        </p:nvSpPr>
        <p:spPr>
          <a:xfrm>
            <a:off x="6967728" y="1956816"/>
            <a:ext cx="4736592" cy="274320"/>
          </a:xfrm>
          <a:prstGeom prst="rect">
            <a:avLst/>
          </a:prstGeom>
          <a:noFill/>
          <a:ln/>
        </p:spPr>
        <p:txBody>
          <a:bodyPr wrap="square" lIns="0" tIns="0" rIns="0" bIns="0" rtlCol="0" anchor="t"/>
          <a:lstStyle/>
          <a:p>
            <a:pPr indent="0" marL="0">
              <a:buNone/>
            </a:pPr>
            <a:r>
              <a:rPr lang="en-US" sz="1300" b="1" spc="70" kern="0" dirty="0">
                <a:solidFill>
                  <a:srgbClr val="F4F2EE"/>
                </a:solidFill>
                <a:latin typeface="Arial" pitchFamily="34" charset="0"/>
                <a:ea typeface="Arial" pitchFamily="34" charset="-122"/>
                <a:cs typeface="Arial" pitchFamily="34" charset="-120"/>
              </a:rPr>
              <a:t>AION RT</a:t>
            </a:r>
            <a:endParaRPr lang="en-US" sz="1300" dirty="0"/>
          </a:p>
        </p:txBody>
      </p:sp>
      <p:sp>
        <p:nvSpPr>
          <p:cNvPr id="50" name="Shape 48"/>
          <p:cNvSpPr/>
          <p:nvPr/>
        </p:nvSpPr>
        <p:spPr>
          <a:xfrm>
            <a:off x="12595860" y="1984248"/>
            <a:ext cx="480060" cy="192024"/>
          </a:xfrm>
          <a:prstGeom prst="roundRect">
            <a:avLst>
              <a:gd name="adj" fmla="val 47619"/>
            </a:avLst>
          </a:prstGeom>
          <a:solidFill>
            <a:srgbClr val="0A0B0D"/>
          </a:solidFill>
          <a:ln w="9525">
            <a:solidFill>
              <a:srgbClr val="8B9098"/>
            </a:solidFill>
            <a:prstDash val="solid"/>
          </a:ln>
        </p:spPr>
      </p:sp>
      <p:sp>
        <p:nvSpPr>
          <p:cNvPr id="51" name="Text 49"/>
          <p:cNvSpPr txBox="1"/>
          <p:nvPr/>
        </p:nvSpPr>
        <p:spPr>
          <a:xfrm>
            <a:off x="12595860" y="2025396"/>
            <a:ext cx="480060" cy="137160"/>
          </a:xfrm>
          <a:prstGeom prst="rect">
            <a:avLst/>
          </a:prstGeom>
          <a:noFill/>
          <a:ln/>
        </p:spPr>
        <p:txBody>
          <a:bodyPr wrap="square" lIns="0" tIns="0" rIns="0" bIns="0" rtlCol="0" anchor="t"/>
          <a:lstStyle/>
          <a:p>
            <a:pPr algn="ctr" indent="0" marL="0">
              <a:buNone/>
            </a:pPr>
            <a:r>
              <a:rPr lang="en-US" sz="660" b="1" spc="100" kern="0" dirty="0">
                <a:solidFill>
                  <a:srgbClr val="8B9098"/>
                </a:solidFill>
                <a:latin typeface="Arial" pitchFamily="34" charset="0"/>
                <a:ea typeface="Arial" pitchFamily="34" charset="-122"/>
                <a:cs typeface="Arial" pitchFamily="34" charset="-120"/>
              </a:rPr>
              <a:t>MID</a:t>
            </a:r>
            <a:endParaRPr lang="en-US" sz="660" dirty="0"/>
          </a:p>
        </p:txBody>
      </p:sp>
      <p:sp>
        <p:nvSpPr>
          <p:cNvPr id="52" name="Text 50"/>
          <p:cNvSpPr txBox="1"/>
          <p:nvPr/>
        </p:nvSpPr>
        <p:spPr>
          <a:xfrm>
            <a:off x="6967728" y="2267712"/>
            <a:ext cx="6108192" cy="182880"/>
          </a:xfrm>
          <a:prstGeom prst="rect">
            <a:avLst/>
          </a:prstGeom>
          <a:noFill/>
          <a:ln/>
        </p:spPr>
        <p:txBody>
          <a:bodyPr wrap="square" lIns="0" tIns="0" rIns="0" bIns="0" rtlCol="0" anchor="t"/>
          <a:lstStyle/>
          <a:p>
            <a:pPr indent="0" marL="0">
              <a:buNone/>
            </a:pPr>
            <a:r>
              <a:rPr lang="en-US" sz="760" dirty="0">
                <a:solidFill>
                  <a:srgbClr val="9DA1A8"/>
                </a:solidFill>
                <a:latin typeface="Arial" pitchFamily="34" charset="0"/>
                <a:ea typeface="Arial" pitchFamily="34" charset="-122"/>
                <a:cs typeface="Arial" pitchFamily="34" charset="-120"/>
              </a:rPr>
              <a:t>Mid-size fastback · BEV · ¥85.8–123.8k · 4,865 / 2,775 mm</a:t>
            </a:r>
            <a:endParaRPr lang="en-US" sz="760" dirty="0"/>
          </a:p>
        </p:txBody>
      </p:sp>
      <p:sp>
        <p:nvSpPr>
          <p:cNvPr id="53" name="Shape 51"/>
          <p:cNvSpPr/>
          <p:nvPr/>
        </p:nvSpPr>
        <p:spPr>
          <a:xfrm>
            <a:off x="6967728" y="2542032"/>
            <a:ext cx="6108192" cy="12802"/>
          </a:xfrm>
          <a:prstGeom prst="rect">
            <a:avLst/>
          </a:prstGeom>
          <a:solidFill>
            <a:srgbClr val="5C93FF"/>
          </a:solidFill>
          <a:ln w="12700">
            <a:solidFill>
              <a:srgbClr val="333333"/>
            </a:solidFill>
            <a:prstDash val="solid"/>
          </a:ln>
        </p:spPr>
      </p:sp>
      <p:sp>
        <p:nvSpPr>
          <p:cNvPr id="54" name="Shape 52"/>
          <p:cNvSpPr/>
          <p:nvPr/>
        </p:nvSpPr>
        <p:spPr>
          <a:xfrm>
            <a:off x="6967728" y="2670048"/>
            <a:ext cx="6108192" cy="2980944"/>
          </a:xfrm>
          <a:prstGeom prst="rect">
            <a:avLst/>
          </a:prstGeom>
          <a:solidFill>
            <a:srgbClr val="14161A"/>
          </a:solidFill>
          <a:ln w="9525">
            <a:solidFill>
              <a:srgbClr val="262A30"/>
            </a:solidFill>
            <a:prstDash val="solid"/>
          </a:ln>
        </p:spPr>
      </p:sp>
      <p:sp>
        <p:nvSpPr>
          <p:cNvPr id="55" name="Shape 53"/>
          <p:cNvSpPr/>
          <p:nvPr/>
        </p:nvSpPr>
        <p:spPr>
          <a:xfrm>
            <a:off x="6967728" y="2670048"/>
            <a:ext cx="237744" cy="3658"/>
          </a:xfrm>
          <a:prstGeom prst="rect">
            <a:avLst/>
          </a:prstGeom>
          <a:solidFill>
            <a:srgbClr val="3A3F47"/>
          </a:solidFill>
          <a:ln w="12700">
            <a:solidFill>
              <a:srgbClr val="333333"/>
            </a:solidFill>
            <a:prstDash val="solid"/>
          </a:ln>
        </p:spPr>
      </p:sp>
      <p:sp>
        <p:nvSpPr>
          <p:cNvPr id="56" name="Shape 54"/>
          <p:cNvSpPr/>
          <p:nvPr/>
        </p:nvSpPr>
        <p:spPr>
          <a:xfrm>
            <a:off x="6967728" y="2670048"/>
            <a:ext cx="3658" cy="237744"/>
          </a:xfrm>
          <a:prstGeom prst="rect">
            <a:avLst/>
          </a:prstGeom>
          <a:solidFill>
            <a:srgbClr val="3A3F47"/>
          </a:solidFill>
          <a:ln w="12700">
            <a:solidFill>
              <a:srgbClr val="333333"/>
            </a:solidFill>
            <a:prstDash val="solid"/>
          </a:ln>
        </p:spPr>
      </p:sp>
      <p:sp>
        <p:nvSpPr>
          <p:cNvPr id="57" name="Shape 55"/>
          <p:cNvSpPr/>
          <p:nvPr/>
        </p:nvSpPr>
        <p:spPr>
          <a:xfrm>
            <a:off x="12838176" y="2670048"/>
            <a:ext cx="237744" cy="3658"/>
          </a:xfrm>
          <a:prstGeom prst="rect">
            <a:avLst/>
          </a:prstGeom>
          <a:solidFill>
            <a:srgbClr val="3A3F47"/>
          </a:solidFill>
          <a:ln w="12700">
            <a:solidFill>
              <a:srgbClr val="333333"/>
            </a:solidFill>
            <a:prstDash val="solid"/>
          </a:ln>
        </p:spPr>
      </p:sp>
      <p:sp>
        <p:nvSpPr>
          <p:cNvPr id="58" name="Shape 56"/>
          <p:cNvSpPr/>
          <p:nvPr/>
        </p:nvSpPr>
        <p:spPr>
          <a:xfrm>
            <a:off x="13072262" y="2670048"/>
            <a:ext cx="3658" cy="237744"/>
          </a:xfrm>
          <a:prstGeom prst="rect">
            <a:avLst/>
          </a:prstGeom>
          <a:solidFill>
            <a:srgbClr val="3A3F47"/>
          </a:solidFill>
          <a:ln w="12700">
            <a:solidFill>
              <a:srgbClr val="333333"/>
            </a:solidFill>
            <a:prstDash val="solid"/>
          </a:ln>
        </p:spPr>
      </p:sp>
      <p:sp>
        <p:nvSpPr>
          <p:cNvPr id="59" name="Shape 57"/>
          <p:cNvSpPr/>
          <p:nvPr/>
        </p:nvSpPr>
        <p:spPr>
          <a:xfrm>
            <a:off x="6967728" y="5647334"/>
            <a:ext cx="237744" cy="3658"/>
          </a:xfrm>
          <a:prstGeom prst="rect">
            <a:avLst/>
          </a:prstGeom>
          <a:solidFill>
            <a:srgbClr val="3A3F47"/>
          </a:solidFill>
          <a:ln w="12700">
            <a:solidFill>
              <a:srgbClr val="333333"/>
            </a:solidFill>
            <a:prstDash val="solid"/>
          </a:ln>
        </p:spPr>
      </p:sp>
      <p:sp>
        <p:nvSpPr>
          <p:cNvPr id="60" name="Shape 58"/>
          <p:cNvSpPr/>
          <p:nvPr/>
        </p:nvSpPr>
        <p:spPr>
          <a:xfrm>
            <a:off x="6967728" y="5413248"/>
            <a:ext cx="3658" cy="237744"/>
          </a:xfrm>
          <a:prstGeom prst="rect">
            <a:avLst/>
          </a:prstGeom>
          <a:solidFill>
            <a:srgbClr val="3A3F47"/>
          </a:solidFill>
          <a:ln w="12700">
            <a:solidFill>
              <a:srgbClr val="333333"/>
            </a:solidFill>
            <a:prstDash val="solid"/>
          </a:ln>
        </p:spPr>
      </p:sp>
      <p:sp>
        <p:nvSpPr>
          <p:cNvPr id="61" name="Shape 59"/>
          <p:cNvSpPr/>
          <p:nvPr/>
        </p:nvSpPr>
        <p:spPr>
          <a:xfrm>
            <a:off x="12838176" y="5647334"/>
            <a:ext cx="237744" cy="3658"/>
          </a:xfrm>
          <a:prstGeom prst="rect">
            <a:avLst/>
          </a:prstGeom>
          <a:solidFill>
            <a:srgbClr val="3A3F47"/>
          </a:solidFill>
          <a:ln w="12700">
            <a:solidFill>
              <a:srgbClr val="333333"/>
            </a:solidFill>
            <a:prstDash val="solid"/>
          </a:ln>
        </p:spPr>
      </p:sp>
      <p:sp>
        <p:nvSpPr>
          <p:cNvPr id="62" name="Shape 60"/>
          <p:cNvSpPr/>
          <p:nvPr/>
        </p:nvSpPr>
        <p:spPr>
          <a:xfrm>
            <a:off x="13072262" y="5413248"/>
            <a:ext cx="3658" cy="237744"/>
          </a:xfrm>
          <a:prstGeom prst="rect">
            <a:avLst/>
          </a:prstGeom>
          <a:solidFill>
            <a:srgbClr val="3A3F47"/>
          </a:solidFill>
          <a:ln w="12700">
            <a:solidFill>
              <a:srgbClr val="333333"/>
            </a:solidFill>
            <a:prstDash val="solid"/>
          </a:ln>
        </p:spPr>
      </p:sp>
      <p:sp>
        <p:nvSpPr>
          <p:cNvPr id="63" name="Text 61"/>
          <p:cNvSpPr txBox="1"/>
          <p:nvPr/>
        </p:nvSpPr>
        <p:spPr>
          <a:xfrm>
            <a:off x="6967728" y="3922776"/>
            <a:ext cx="6108192" cy="118872"/>
          </a:xfrm>
          <a:prstGeom prst="rect">
            <a:avLst/>
          </a:prstGeom>
          <a:noFill/>
          <a:ln/>
        </p:spPr>
        <p:txBody>
          <a:bodyPr wrap="square" lIns="0" tIns="0" rIns="0" bIns="0" rtlCol="0" anchor="t"/>
          <a:lstStyle/>
          <a:p>
            <a:pPr indent="0" marL="0">
              <a:buNone/>
            </a:pPr>
            <a:r>
              <a:rPr lang="en-US" sz="740" b="1" spc="140" kern="0" dirty="0">
                <a:solidFill>
                  <a:srgbClr val="525862"/>
                </a:solidFill>
                <a:latin typeface="Arial" pitchFamily="34" charset="0"/>
                <a:ea typeface="Arial" pitchFamily="34" charset="-122"/>
                <a:cs typeface="Arial" pitchFamily="34" charset="-120"/>
              </a:rPr>
              <a:t>DASHBOARD / IP</a:t>
            </a:r>
            <a:endParaRPr lang="en-US" sz="740" dirty="0"/>
          </a:p>
        </p:txBody>
      </p:sp>
      <p:sp>
        <p:nvSpPr>
          <p:cNvPr id="64" name="Text 62"/>
          <p:cNvSpPr txBox="1"/>
          <p:nvPr/>
        </p:nvSpPr>
        <p:spPr>
          <a:xfrm>
            <a:off x="7278624" y="4105656"/>
            <a:ext cx="5486400" cy="329184"/>
          </a:xfrm>
          <a:prstGeom prst="rect">
            <a:avLst/>
          </a:prstGeom>
          <a:noFill/>
          <a:ln/>
        </p:spPr>
        <p:txBody>
          <a:bodyPr wrap="square" lIns="0" tIns="0" rIns="0" bIns="0" rtlCol="0" anchor="t"/>
          <a:lstStyle/>
          <a:p>
            <a:pPr algn="ctr" indent="0" marL="0">
              <a:lnSpc>
                <a:spcPct val="112000"/>
              </a:lnSpc>
              <a:buNone/>
            </a:pPr>
            <a:r>
              <a:rPr lang="en-US" sz="760" i="1" dirty="0">
                <a:solidFill>
                  <a:srgbClr val="4A505A"/>
                </a:solidFill>
                <a:latin typeface="Arial" pitchFamily="34" charset="0"/>
                <a:ea typeface="Arial" pitchFamily="34" charset="-122"/>
                <a:cs typeface="Arial" pitchFamily="34" charset="-120"/>
              </a:rPr>
              <a:t>IP straight on — single horizontal plane, minimal switchgear</a:t>
            </a:r>
            <a:endParaRPr lang="en-US" sz="760" dirty="0"/>
          </a:p>
        </p:txBody>
      </p:sp>
      <p:sp>
        <p:nvSpPr>
          <p:cNvPr id="65" name="Shape 63"/>
          <p:cNvSpPr/>
          <p:nvPr/>
        </p:nvSpPr>
        <p:spPr>
          <a:xfrm>
            <a:off x="6967728" y="5797296"/>
            <a:ext cx="6108192" cy="2980944"/>
          </a:xfrm>
          <a:prstGeom prst="rect">
            <a:avLst/>
          </a:prstGeom>
          <a:solidFill>
            <a:srgbClr val="14161A"/>
          </a:solidFill>
          <a:ln w="9525">
            <a:solidFill>
              <a:srgbClr val="262A30"/>
            </a:solidFill>
            <a:prstDash val="solid"/>
          </a:ln>
        </p:spPr>
      </p:sp>
      <p:sp>
        <p:nvSpPr>
          <p:cNvPr id="66" name="Shape 64"/>
          <p:cNvSpPr/>
          <p:nvPr/>
        </p:nvSpPr>
        <p:spPr>
          <a:xfrm>
            <a:off x="6967728" y="5797296"/>
            <a:ext cx="237744" cy="3658"/>
          </a:xfrm>
          <a:prstGeom prst="rect">
            <a:avLst/>
          </a:prstGeom>
          <a:solidFill>
            <a:srgbClr val="3A3F47"/>
          </a:solidFill>
          <a:ln w="12700">
            <a:solidFill>
              <a:srgbClr val="333333"/>
            </a:solidFill>
            <a:prstDash val="solid"/>
          </a:ln>
        </p:spPr>
      </p:sp>
      <p:sp>
        <p:nvSpPr>
          <p:cNvPr id="67" name="Shape 65"/>
          <p:cNvSpPr/>
          <p:nvPr/>
        </p:nvSpPr>
        <p:spPr>
          <a:xfrm>
            <a:off x="6967728" y="5797296"/>
            <a:ext cx="3658" cy="237744"/>
          </a:xfrm>
          <a:prstGeom prst="rect">
            <a:avLst/>
          </a:prstGeom>
          <a:solidFill>
            <a:srgbClr val="3A3F47"/>
          </a:solidFill>
          <a:ln w="12700">
            <a:solidFill>
              <a:srgbClr val="333333"/>
            </a:solidFill>
            <a:prstDash val="solid"/>
          </a:ln>
        </p:spPr>
      </p:sp>
      <p:sp>
        <p:nvSpPr>
          <p:cNvPr id="68" name="Shape 66"/>
          <p:cNvSpPr/>
          <p:nvPr/>
        </p:nvSpPr>
        <p:spPr>
          <a:xfrm>
            <a:off x="12838176" y="5797296"/>
            <a:ext cx="237744" cy="3658"/>
          </a:xfrm>
          <a:prstGeom prst="rect">
            <a:avLst/>
          </a:prstGeom>
          <a:solidFill>
            <a:srgbClr val="3A3F47"/>
          </a:solidFill>
          <a:ln w="12700">
            <a:solidFill>
              <a:srgbClr val="333333"/>
            </a:solidFill>
            <a:prstDash val="solid"/>
          </a:ln>
        </p:spPr>
      </p:sp>
      <p:sp>
        <p:nvSpPr>
          <p:cNvPr id="69" name="Shape 67"/>
          <p:cNvSpPr/>
          <p:nvPr/>
        </p:nvSpPr>
        <p:spPr>
          <a:xfrm>
            <a:off x="13072262" y="5797296"/>
            <a:ext cx="3658" cy="237744"/>
          </a:xfrm>
          <a:prstGeom prst="rect">
            <a:avLst/>
          </a:prstGeom>
          <a:solidFill>
            <a:srgbClr val="3A3F47"/>
          </a:solidFill>
          <a:ln w="12700">
            <a:solidFill>
              <a:srgbClr val="333333"/>
            </a:solidFill>
            <a:prstDash val="solid"/>
          </a:ln>
        </p:spPr>
      </p:sp>
      <p:sp>
        <p:nvSpPr>
          <p:cNvPr id="70" name="Shape 68"/>
          <p:cNvSpPr/>
          <p:nvPr/>
        </p:nvSpPr>
        <p:spPr>
          <a:xfrm>
            <a:off x="6967728" y="8774582"/>
            <a:ext cx="237744" cy="3658"/>
          </a:xfrm>
          <a:prstGeom prst="rect">
            <a:avLst/>
          </a:prstGeom>
          <a:solidFill>
            <a:srgbClr val="3A3F47"/>
          </a:solidFill>
          <a:ln w="12700">
            <a:solidFill>
              <a:srgbClr val="333333"/>
            </a:solidFill>
            <a:prstDash val="solid"/>
          </a:ln>
        </p:spPr>
      </p:sp>
      <p:sp>
        <p:nvSpPr>
          <p:cNvPr id="71" name="Shape 69"/>
          <p:cNvSpPr/>
          <p:nvPr/>
        </p:nvSpPr>
        <p:spPr>
          <a:xfrm>
            <a:off x="6967728" y="8540496"/>
            <a:ext cx="3658" cy="237744"/>
          </a:xfrm>
          <a:prstGeom prst="rect">
            <a:avLst/>
          </a:prstGeom>
          <a:solidFill>
            <a:srgbClr val="3A3F47"/>
          </a:solidFill>
          <a:ln w="12700">
            <a:solidFill>
              <a:srgbClr val="333333"/>
            </a:solidFill>
            <a:prstDash val="solid"/>
          </a:ln>
        </p:spPr>
      </p:sp>
      <p:sp>
        <p:nvSpPr>
          <p:cNvPr id="72" name="Shape 70"/>
          <p:cNvSpPr/>
          <p:nvPr/>
        </p:nvSpPr>
        <p:spPr>
          <a:xfrm>
            <a:off x="12838176" y="8774582"/>
            <a:ext cx="237744" cy="3658"/>
          </a:xfrm>
          <a:prstGeom prst="rect">
            <a:avLst/>
          </a:prstGeom>
          <a:solidFill>
            <a:srgbClr val="3A3F47"/>
          </a:solidFill>
          <a:ln w="12700">
            <a:solidFill>
              <a:srgbClr val="333333"/>
            </a:solidFill>
            <a:prstDash val="solid"/>
          </a:ln>
        </p:spPr>
      </p:sp>
      <p:sp>
        <p:nvSpPr>
          <p:cNvPr id="73" name="Shape 71"/>
          <p:cNvSpPr/>
          <p:nvPr/>
        </p:nvSpPr>
        <p:spPr>
          <a:xfrm>
            <a:off x="13072262" y="8540496"/>
            <a:ext cx="3658" cy="237744"/>
          </a:xfrm>
          <a:prstGeom prst="rect">
            <a:avLst/>
          </a:prstGeom>
          <a:solidFill>
            <a:srgbClr val="3A3F47"/>
          </a:solidFill>
          <a:ln w="12700">
            <a:solidFill>
              <a:srgbClr val="333333"/>
            </a:solidFill>
            <a:prstDash val="solid"/>
          </a:ln>
        </p:spPr>
      </p:sp>
      <p:sp>
        <p:nvSpPr>
          <p:cNvPr id="74" name="Text 72"/>
          <p:cNvSpPr txBox="1"/>
          <p:nvPr/>
        </p:nvSpPr>
        <p:spPr>
          <a:xfrm>
            <a:off x="6967728" y="7050024"/>
            <a:ext cx="6108192" cy="118872"/>
          </a:xfrm>
          <a:prstGeom prst="rect">
            <a:avLst/>
          </a:prstGeom>
          <a:noFill/>
          <a:ln/>
        </p:spPr>
        <p:txBody>
          <a:bodyPr wrap="square" lIns="0" tIns="0" rIns="0" bIns="0" rtlCol="0" anchor="t"/>
          <a:lstStyle/>
          <a:p>
            <a:pPr indent="0" marL="0">
              <a:buNone/>
            </a:pPr>
            <a:r>
              <a:rPr lang="en-US" sz="740" b="1" spc="140" kern="0" dirty="0">
                <a:solidFill>
                  <a:srgbClr val="525862"/>
                </a:solidFill>
                <a:latin typeface="Arial" pitchFamily="34" charset="0"/>
                <a:ea typeface="Arial" pitchFamily="34" charset="-122"/>
                <a:cs typeface="Arial" pitchFamily="34" charset="-120"/>
              </a:rPr>
              <a:t>CABIN DETAIL</a:t>
            </a:r>
            <a:endParaRPr lang="en-US" sz="740" dirty="0"/>
          </a:p>
        </p:txBody>
      </p:sp>
      <p:sp>
        <p:nvSpPr>
          <p:cNvPr id="75" name="Text 73"/>
          <p:cNvSpPr txBox="1"/>
          <p:nvPr/>
        </p:nvSpPr>
        <p:spPr>
          <a:xfrm>
            <a:off x="7278624" y="7232904"/>
            <a:ext cx="5486400" cy="329184"/>
          </a:xfrm>
          <a:prstGeom prst="rect">
            <a:avLst/>
          </a:prstGeom>
          <a:noFill/>
          <a:ln/>
        </p:spPr>
        <p:txBody>
          <a:bodyPr wrap="square" lIns="0" tIns="0" rIns="0" bIns="0" rtlCol="0" anchor="t"/>
          <a:lstStyle/>
          <a:p>
            <a:pPr algn="ctr" indent="0" marL="0">
              <a:lnSpc>
                <a:spcPct val="112000"/>
              </a:lnSpc>
              <a:buNone/>
            </a:pPr>
            <a:r>
              <a:rPr lang="en-US" sz="760" i="1" dirty="0">
                <a:solidFill>
                  <a:srgbClr val="4A505A"/>
                </a:solidFill>
                <a:latin typeface="Arial" pitchFamily="34" charset="0"/>
                <a:ea typeface="Arial" pitchFamily="34" charset="-122"/>
                <a:cs typeface="Arial" pitchFamily="34" charset="-120"/>
              </a:rPr>
              <a:t>suede seat facing, close up</a:t>
            </a:r>
            <a:endParaRPr lang="en-US" sz="760" dirty="0"/>
          </a:p>
        </p:txBody>
      </p:sp>
      <p:sp>
        <p:nvSpPr>
          <p:cNvPr id="76" name="Text 74"/>
          <p:cNvSpPr txBox="1"/>
          <p:nvPr/>
        </p:nvSpPr>
        <p:spPr>
          <a:xfrm>
            <a:off x="6967728" y="8961120"/>
            <a:ext cx="6108192" cy="118872"/>
          </a:xfrm>
          <a:prstGeom prst="rect">
            <a:avLst/>
          </a:prstGeom>
          <a:noFill/>
          <a:ln/>
        </p:spPr>
        <p:txBody>
          <a:bodyPr wrap="square" lIns="0" tIns="0" rIns="0" bIns="0" rtlCol="0" anchor="t"/>
          <a:lstStyle/>
          <a:p>
            <a:pPr indent="0" marL="0">
              <a:buNone/>
            </a:pPr>
            <a:r>
              <a:rPr lang="en-US" sz="680" b="1" spc="140" kern="0" dirty="0">
                <a:solidFill>
                  <a:srgbClr val="5E636A"/>
                </a:solidFill>
                <a:latin typeface="Arial" pitchFamily="34" charset="0"/>
                <a:ea typeface="Arial" pitchFamily="34" charset="-122"/>
                <a:cs typeface="Arial" pitchFamily="34" charset="-120"/>
              </a:rPr>
              <a:t>SCREENS</a:t>
            </a:r>
            <a:endParaRPr lang="en-US" sz="680" dirty="0"/>
          </a:p>
        </p:txBody>
      </p:sp>
      <p:sp>
        <p:nvSpPr>
          <p:cNvPr id="77" name="Text 75"/>
          <p:cNvSpPr txBox="1"/>
          <p:nvPr/>
        </p:nvSpPr>
        <p:spPr>
          <a:xfrm>
            <a:off x="6967728" y="9089136"/>
            <a:ext cx="6108192" cy="256032"/>
          </a:xfrm>
          <a:prstGeom prst="rect">
            <a:avLst/>
          </a:prstGeom>
          <a:noFill/>
          <a:ln/>
        </p:spPr>
        <p:txBody>
          <a:bodyPr wrap="square" lIns="0" tIns="0" rIns="0" bIns="0" rtlCol="0" anchor="t"/>
          <a:lstStyle/>
          <a:p>
            <a:pPr indent="0" marL="0">
              <a:lnSpc>
                <a:spcPct val="108000"/>
              </a:lnSpc>
              <a:buNone/>
            </a:pPr>
            <a:r>
              <a:rPr lang="en-US" sz="800" dirty="0">
                <a:solidFill>
                  <a:srgbClr val="C6C9CE"/>
                </a:solidFill>
                <a:latin typeface="Arial" pitchFamily="34" charset="0"/>
                <a:ea typeface="Arial" pitchFamily="34" charset="-122"/>
                <a:cs typeface="Arial" pitchFamily="34" charset="-120"/>
              </a:rPr>
              <a:t>14.6" centre + 8.8" cluster. Function-first surfacing; the dash reads as one plane.</a:t>
            </a:r>
            <a:endParaRPr lang="en-US" sz="800" dirty="0"/>
          </a:p>
        </p:txBody>
      </p:sp>
      <p:sp>
        <p:nvSpPr>
          <p:cNvPr id="78" name="Text 76"/>
          <p:cNvSpPr txBox="1"/>
          <p:nvPr/>
        </p:nvSpPr>
        <p:spPr>
          <a:xfrm>
            <a:off x="6967728" y="9345168"/>
            <a:ext cx="6108192" cy="118872"/>
          </a:xfrm>
          <a:prstGeom prst="rect">
            <a:avLst/>
          </a:prstGeom>
          <a:noFill/>
          <a:ln/>
        </p:spPr>
        <p:txBody>
          <a:bodyPr wrap="square" lIns="0" tIns="0" rIns="0" bIns="0" rtlCol="0" anchor="t"/>
          <a:lstStyle/>
          <a:p>
            <a:pPr indent="0" marL="0">
              <a:buNone/>
            </a:pPr>
            <a:r>
              <a:rPr lang="en-US" sz="680" b="1" spc="140" kern="0" dirty="0">
                <a:solidFill>
                  <a:srgbClr val="5E636A"/>
                </a:solidFill>
                <a:latin typeface="Arial" pitchFamily="34" charset="0"/>
                <a:ea typeface="Arial" pitchFamily="34" charset="-122"/>
                <a:cs typeface="Arial" pitchFamily="34" charset="-120"/>
              </a:rPr>
              <a:t>MATERIAL · COLOUR</a:t>
            </a:r>
            <a:endParaRPr lang="en-US" sz="680" dirty="0"/>
          </a:p>
        </p:txBody>
      </p:sp>
      <p:sp>
        <p:nvSpPr>
          <p:cNvPr id="79" name="Text 77"/>
          <p:cNvSpPr txBox="1"/>
          <p:nvPr/>
        </p:nvSpPr>
        <p:spPr>
          <a:xfrm>
            <a:off x="6967728" y="9473184"/>
            <a:ext cx="6108192" cy="256032"/>
          </a:xfrm>
          <a:prstGeom prst="rect">
            <a:avLst/>
          </a:prstGeom>
          <a:noFill/>
          <a:ln/>
        </p:spPr>
        <p:txBody>
          <a:bodyPr wrap="square" lIns="0" tIns="0" rIns="0" bIns="0" rtlCol="0" anchor="t"/>
          <a:lstStyle/>
          <a:p>
            <a:pPr indent="0" marL="0">
              <a:lnSpc>
                <a:spcPct val="108000"/>
              </a:lnSpc>
              <a:buNone/>
            </a:pPr>
            <a:r>
              <a:rPr lang="en-US" sz="800" dirty="0">
                <a:solidFill>
                  <a:srgbClr val="C6C9CE"/>
                </a:solidFill>
                <a:latin typeface="Arial" pitchFamily="34" charset="0"/>
                <a:ea typeface="Arial" pitchFamily="34" charset="-122"/>
                <a:cs typeface="Arial" pitchFamily="34" charset="-120"/>
              </a:rPr>
              <a:t>100% leather-wrap on every high-contact surface. Suede-finished seats. Colourway not named by the brand.</a:t>
            </a:r>
            <a:endParaRPr lang="en-US" sz="800" dirty="0"/>
          </a:p>
        </p:txBody>
      </p:sp>
      <p:sp>
        <p:nvSpPr>
          <p:cNvPr id="80" name="Text 78"/>
          <p:cNvSpPr txBox="1"/>
          <p:nvPr/>
        </p:nvSpPr>
        <p:spPr>
          <a:xfrm>
            <a:off x="6967728" y="9729216"/>
            <a:ext cx="6108192" cy="118872"/>
          </a:xfrm>
          <a:prstGeom prst="rect">
            <a:avLst/>
          </a:prstGeom>
          <a:noFill/>
          <a:ln/>
        </p:spPr>
        <p:txBody>
          <a:bodyPr wrap="square" lIns="0" tIns="0" rIns="0" bIns="0" rtlCol="0" anchor="t"/>
          <a:lstStyle/>
          <a:p>
            <a:pPr indent="0" marL="0">
              <a:buNone/>
            </a:pPr>
            <a:r>
              <a:rPr lang="en-US" sz="680" b="1" spc="140" kern="0" dirty="0">
                <a:solidFill>
                  <a:srgbClr val="5E636A"/>
                </a:solidFill>
                <a:latin typeface="Arial" pitchFamily="34" charset="0"/>
                <a:ea typeface="Arial" pitchFamily="34" charset="-122"/>
                <a:cs typeface="Arial" pitchFamily="34" charset="-120"/>
              </a:rPr>
              <a:t>SEAT · COMFORT</a:t>
            </a:r>
            <a:endParaRPr lang="en-US" sz="680" dirty="0"/>
          </a:p>
        </p:txBody>
      </p:sp>
      <p:sp>
        <p:nvSpPr>
          <p:cNvPr id="81" name="Text 79"/>
          <p:cNvSpPr txBox="1"/>
          <p:nvPr/>
        </p:nvSpPr>
        <p:spPr>
          <a:xfrm>
            <a:off x="6967728" y="9857232"/>
            <a:ext cx="6108192" cy="256032"/>
          </a:xfrm>
          <a:prstGeom prst="rect">
            <a:avLst/>
          </a:prstGeom>
          <a:noFill/>
          <a:ln/>
        </p:spPr>
        <p:txBody>
          <a:bodyPr wrap="square" lIns="0" tIns="0" rIns="0" bIns="0" rtlCol="0" anchor="t"/>
          <a:lstStyle/>
          <a:p>
            <a:pPr indent="0" marL="0">
              <a:lnSpc>
                <a:spcPct val="108000"/>
              </a:lnSpc>
              <a:buNone/>
            </a:pPr>
            <a:r>
              <a:rPr lang="en-US" sz="800" dirty="0">
                <a:solidFill>
                  <a:srgbClr val="C6C9CE"/>
                </a:solidFill>
                <a:latin typeface="Arial" pitchFamily="34" charset="0"/>
                <a:ea typeface="Arial" pitchFamily="34" charset="-122"/>
                <a:cs typeface="Arial" pitchFamily="34" charset="-120"/>
              </a:rPr>
              <a:t>Suede “zero-pressure” seats. Rear knee room quoted at two fists behind a 175 cm driver.</a:t>
            </a:r>
            <a:endParaRPr lang="en-US" sz="800" dirty="0"/>
          </a:p>
        </p:txBody>
      </p:sp>
      <p:sp>
        <p:nvSpPr>
          <p:cNvPr id="82" name="Text 80"/>
          <p:cNvSpPr txBox="1"/>
          <p:nvPr/>
        </p:nvSpPr>
        <p:spPr>
          <a:xfrm>
            <a:off x="6967728" y="10113264"/>
            <a:ext cx="6108192" cy="118872"/>
          </a:xfrm>
          <a:prstGeom prst="rect">
            <a:avLst/>
          </a:prstGeom>
          <a:noFill/>
          <a:ln/>
        </p:spPr>
        <p:txBody>
          <a:bodyPr wrap="square" lIns="0" tIns="0" rIns="0" bIns="0" rtlCol="0" anchor="t"/>
          <a:lstStyle/>
          <a:p>
            <a:pPr indent="0" marL="0">
              <a:buNone/>
            </a:pPr>
            <a:r>
              <a:rPr lang="en-US" sz="680" b="1" spc="140" kern="0" dirty="0">
                <a:solidFill>
                  <a:srgbClr val="5E636A"/>
                </a:solidFill>
                <a:latin typeface="Arial" pitchFamily="34" charset="0"/>
                <a:ea typeface="Arial" pitchFamily="34" charset="-122"/>
                <a:cs typeface="Arial" pitchFamily="34" charset="-120"/>
              </a:rPr>
              <a:t>FOR WHOM</a:t>
            </a:r>
            <a:endParaRPr lang="en-US" sz="680" dirty="0"/>
          </a:p>
        </p:txBody>
      </p:sp>
      <p:sp>
        <p:nvSpPr>
          <p:cNvPr id="83" name="Text 81"/>
          <p:cNvSpPr txBox="1"/>
          <p:nvPr/>
        </p:nvSpPr>
        <p:spPr>
          <a:xfrm>
            <a:off x="6967728" y="10241280"/>
            <a:ext cx="6108192" cy="256032"/>
          </a:xfrm>
          <a:prstGeom prst="rect">
            <a:avLst/>
          </a:prstGeom>
          <a:noFill/>
          <a:ln/>
        </p:spPr>
        <p:txBody>
          <a:bodyPr wrap="square" lIns="0" tIns="0" rIns="0" bIns="0" rtlCol="0" anchor="t"/>
          <a:lstStyle/>
          <a:p>
            <a:pPr indent="0" marL="0">
              <a:lnSpc>
                <a:spcPct val="108000"/>
              </a:lnSpc>
              <a:buNone/>
            </a:pPr>
            <a:r>
              <a:rPr lang="en-US" sz="800" dirty="0">
                <a:solidFill>
                  <a:srgbClr val="C6C9CE"/>
                </a:solidFill>
                <a:latin typeface="Arial" pitchFamily="34" charset="0"/>
                <a:ea typeface="Arial" pitchFamily="34" charset="-122"/>
                <a:cs typeface="Arial" pitchFamily="34" charset="-120"/>
              </a:rPr>
              <a:t>Value-led tech buyer cross-shopping a Model 3. Wants sparse, not luxurious.</a:t>
            </a:r>
            <a:endParaRPr lang="en-US" sz="800" dirty="0"/>
          </a:p>
        </p:txBody>
      </p:sp>
      <p:sp>
        <p:nvSpPr>
          <p:cNvPr id="84" name="Text 82"/>
          <p:cNvSpPr txBox="1"/>
          <p:nvPr/>
        </p:nvSpPr>
        <p:spPr>
          <a:xfrm>
            <a:off x="13386816" y="1956816"/>
            <a:ext cx="4736592" cy="274320"/>
          </a:xfrm>
          <a:prstGeom prst="rect">
            <a:avLst/>
          </a:prstGeom>
          <a:noFill/>
          <a:ln/>
        </p:spPr>
        <p:txBody>
          <a:bodyPr wrap="square" lIns="0" tIns="0" rIns="0" bIns="0" rtlCol="0" anchor="t"/>
          <a:lstStyle/>
          <a:p>
            <a:pPr indent="0" marL="0">
              <a:buNone/>
            </a:pPr>
            <a:r>
              <a:rPr lang="en-US" sz="1300" b="1" spc="70" kern="0" dirty="0">
                <a:solidFill>
                  <a:srgbClr val="F4F2EE"/>
                </a:solidFill>
                <a:latin typeface="Arial" pitchFamily="34" charset="0"/>
                <a:ea typeface="Arial" pitchFamily="34" charset="-122"/>
                <a:cs typeface="Arial" pitchFamily="34" charset="-120"/>
              </a:rPr>
              <a:t>AION Y PLUS</a:t>
            </a:r>
            <a:endParaRPr lang="en-US" sz="1300" dirty="0"/>
          </a:p>
        </p:txBody>
      </p:sp>
      <p:sp>
        <p:nvSpPr>
          <p:cNvPr id="85" name="Shape 83"/>
          <p:cNvSpPr/>
          <p:nvPr/>
        </p:nvSpPr>
        <p:spPr>
          <a:xfrm>
            <a:off x="19014948" y="1984248"/>
            <a:ext cx="480060" cy="192024"/>
          </a:xfrm>
          <a:prstGeom prst="roundRect">
            <a:avLst>
              <a:gd name="adj" fmla="val 47619"/>
            </a:avLst>
          </a:prstGeom>
          <a:solidFill>
            <a:srgbClr val="0A0B0D"/>
          </a:solidFill>
          <a:ln w="9525">
            <a:solidFill>
              <a:srgbClr val="8B9098"/>
            </a:solidFill>
            <a:prstDash val="solid"/>
          </a:ln>
        </p:spPr>
      </p:sp>
      <p:sp>
        <p:nvSpPr>
          <p:cNvPr id="86" name="Text 84"/>
          <p:cNvSpPr txBox="1"/>
          <p:nvPr/>
        </p:nvSpPr>
        <p:spPr>
          <a:xfrm>
            <a:off x="19014948" y="2025396"/>
            <a:ext cx="480060" cy="137160"/>
          </a:xfrm>
          <a:prstGeom prst="rect">
            <a:avLst/>
          </a:prstGeom>
          <a:noFill/>
          <a:ln/>
        </p:spPr>
        <p:txBody>
          <a:bodyPr wrap="square" lIns="0" tIns="0" rIns="0" bIns="0" rtlCol="0" anchor="t"/>
          <a:lstStyle/>
          <a:p>
            <a:pPr algn="ctr" indent="0" marL="0">
              <a:buNone/>
            </a:pPr>
            <a:r>
              <a:rPr lang="en-US" sz="660" b="1" spc="100" kern="0" dirty="0">
                <a:solidFill>
                  <a:srgbClr val="8B9098"/>
                </a:solidFill>
                <a:latin typeface="Arial" pitchFamily="34" charset="0"/>
                <a:ea typeface="Arial" pitchFamily="34" charset="-122"/>
                <a:cs typeface="Arial" pitchFamily="34" charset="-120"/>
              </a:rPr>
              <a:t>MID</a:t>
            </a:r>
            <a:endParaRPr lang="en-US" sz="660" dirty="0"/>
          </a:p>
        </p:txBody>
      </p:sp>
      <p:sp>
        <p:nvSpPr>
          <p:cNvPr id="87" name="Text 85"/>
          <p:cNvSpPr txBox="1"/>
          <p:nvPr/>
        </p:nvSpPr>
        <p:spPr>
          <a:xfrm>
            <a:off x="13386816" y="2267712"/>
            <a:ext cx="6108192" cy="182880"/>
          </a:xfrm>
          <a:prstGeom prst="rect">
            <a:avLst/>
          </a:prstGeom>
          <a:noFill/>
          <a:ln/>
        </p:spPr>
        <p:txBody>
          <a:bodyPr wrap="square" lIns="0" tIns="0" rIns="0" bIns="0" rtlCol="0" anchor="t"/>
          <a:lstStyle/>
          <a:p>
            <a:pPr indent="0" marL="0">
              <a:buNone/>
            </a:pPr>
            <a:r>
              <a:rPr lang="en-US" sz="760" dirty="0">
                <a:solidFill>
                  <a:srgbClr val="9DA1A8"/>
                </a:solidFill>
                <a:latin typeface="Arial" pitchFamily="34" charset="0"/>
                <a:ea typeface="Arial" pitchFamily="34" charset="-122"/>
                <a:cs typeface="Arial" pitchFamily="34" charset="-120"/>
              </a:rPr>
              <a:t>Compact SUV · BEV · ¥99.8–153.8k · CLTC up to 610 km</a:t>
            </a:r>
            <a:endParaRPr lang="en-US" sz="760" dirty="0"/>
          </a:p>
        </p:txBody>
      </p:sp>
      <p:sp>
        <p:nvSpPr>
          <p:cNvPr id="88" name="Shape 86"/>
          <p:cNvSpPr/>
          <p:nvPr/>
        </p:nvSpPr>
        <p:spPr>
          <a:xfrm>
            <a:off x="13386816" y="2542032"/>
            <a:ext cx="6108192" cy="12802"/>
          </a:xfrm>
          <a:prstGeom prst="rect">
            <a:avLst/>
          </a:prstGeom>
          <a:solidFill>
            <a:srgbClr val="5C93FF"/>
          </a:solidFill>
          <a:ln w="12700">
            <a:solidFill>
              <a:srgbClr val="333333"/>
            </a:solidFill>
            <a:prstDash val="solid"/>
          </a:ln>
        </p:spPr>
      </p:sp>
      <p:sp>
        <p:nvSpPr>
          <p:cNvPr id="89" name="Shape 87"/>
          <p:cNvSpPr/>
          <p:nvPr/>
        </p:nvSpPr>
        <p:spPr>
          <a:xfrm>
            <a:off x="13386816" y="2670048"/>
            <a:ext cx="6108192" cy="2980944"/>
          </a:xfrm>
          <a:prstGeom prst="rect">
            <a:avLst/>
          </a:prstGeom>
          <a:solidFill>
            <a:srgbClr val="14161A"/>
          </a:solidFill>
          <a:ln w="9525">
            <a:solidFill>
              <a:srgbClr val="262A30"/>
            </a:solidFill>
            <a:prstDash val="solid"/>
          </a:ln>
        </p:spPr>
      </p:sp>
      <p:sp>
        <p:nvSpPr>
          <p:cNvPr id="90" name="Shape 88"/>
          <p:cNvSpPr/>
          <p:nvPr/>
        </p:nvSpPr>
        <p:spPr>
          <a:xfrm>
            <a:off x="13386816" y="2670048"/>
            <a:ext cx="237744" cy="3658"/>
          </a:xfrm>
          <a:prstGeom prst="rect">
            <a:avLst/>
          </a:prstGeom>
          <a:solidFill>
            <a:srgbClr val="3A3F47"/>
          </a:solidFill>
          <a:ln w="12700">
            <a:solidFill>
              <a:srgbClr val="333333"/>
            </a:solidFill>
            <a:prstDash val="solid"/>
          </a:ln>
        </p:spPr>
      </p:sp>
      <p:sp>
        <p:nvSpPr>
          <p:cNvPr id="91" name="Shape 89"/>
          <p:cNvSpPr/>
          <p:nvPr/>
        </p:nvSpPr>
        <p:spPr>
          <a:xfrm>
            <a:off x="13386816" y="2670048"/>
            <a:ext cx="3658" cy="237744"/>
          </a:xfrm>
          <a:prstGeom prst="rect">
            <a:avLst/>
          </a:prstGeom>
          <a:solidFill>
            <a:srgbClr val="3A3F47"/>
          </a:solidFill>
          <a:ln w="12700">
            <a:solidFill>
              <a:srgbClr val="333333"/>
            </a:solidFill>
            <a:prstDash val="solid"/>
          </a:ln>
        </p:spPr>
      </p:sp>
      <p:sp>
        <p:nvSpPr>
          <p:cNvPr id="92" name="Shape 90"/>
          <p:cNvSpPr/>
          <p:nvPr/>
        </p:nvSpPr>
        <p:spPr>
          <a:xfrm>
            <a:off x="19257264" y="2670048"/>
            <a:ext cx="237744" cy="3658"/>
          </a:xfrm>
          <a:prstGeom prst="rect">
            <a:avLst/>
          </a:prstGeom>
          <a:solidFill>
            <a:srgbClr val="3A3F47"/>
          </a:solidFill>
          <a:ln w="12700">
            <a:solidFill>
              <a:srgbClr val="333333"/>
            </a:solidFill>
            <a:prstDash val="solid"/>
          </a:ln>
        </p:spPr>
      </p:sp>
      <p:sp>
        <p:nvSpPr>
          <p:cNvPr id="93" name="Shape 91"/>
          <p:cNvSpPr/>
          <p:nvPr/>
        </p:nvSpPr>
        <p:spPr>
          <a:xfrm>
            <a:off x="19491350" y="2670048"/>
            <a:ext cx="3658" cy="237744"/>
          </a:xfrm>
          <a:prstGeom prst="rect">
            <a:avLst/>
          </a:prstGeom>
          <a:solidFill>
            <a:srgbClr val="3A3F47"/>
          </a:solidFill>
          <a:ln w="12700">
            <a:solidFill>
              <a:srgbClr val="333333"/>
            </a:solidFill>
            <a:prstDash val="solid"/>
          </a:ln>
        </p:spPr>
      </p:sp>
      <p:sp>
        <p:nvSpPr>
          <p:cNvPr id="94" name="Shape 92"/>
          <p:cNvSpPr/>
          <p:nvPr/>
        </p:nvSpPr>
        <p:spPr>
          <a:xfrm>
            <a:off x="13386816" y="5647334"/>
            <a:ext cx="237744" cy="3658"/>
          </a:xfrm>
          <a:prstGeom prst="rect">
            <a:avLst/>
          </a:prstGeom>
          <a:solidFill>
            <a:srgbClr val="3A3F47"/>
          </a:solidFill>
          <a:ln w="12700">
            <a:solidFill>
              <a:srgbClr val="333333"/>
            </a:solidFill>
            <a:prstDash val="solid"/>
          </a:ln>
        </p:spPr>
      </p:sp>
      <p:sp>
        <p:nvSpPr>
          <p:cNvPr id="95" name="Shape 93"/>
          <p:cNvSpPr/>
          <p:nvPr/>
        </p:nvSpPr>
        <p:spPr>
          <a:xfrm>
            <a:off x="13386816" y="5413248"/>
            <a:ext cx="3658" cy="237744"/>
          </a:xfrm>
          <a:prstGeom prst="rect">
            <a:avLst/>
          </a:prstGeom>
          <a:solidFill>
            <a:srgbClr val="3A3F47"/>
          </a:solidFill>
          <a:ln w="12700">
            <a:solidFill>
              <a:srgbClr val="333333"/>
            </a:solidFill>
            <a:prstDash val="solid"/>
          </a:ln>
        </p:spPr>
      </p:sp>
      <p:sp>
        <p:nvSpPr>
          <p:cNvPr id="96" name="Shape 94"/>
          <p:cNvSpPr/>
          <p:nvPr/>
        </p:nvSpPr>
        <p:spPr>
          <a:xfrm>
            <a:off x="19257264" y="5647334"/>
            <a:ext cx="237744" cy="3658"/>
          </a:xfrm>
          <a:prstGeom prst="rect">
            <a:avLst/>
          </a:prstGeom>
          <a:solidFill>
            <a:srgbClr val="3A3F47"/>
          </a:solidFill>
          <a:ln w="12700">
            <a:solidFill>
              <a:srgbClr val="333333"/>
            </a:solidFill>
            <a:prstDash val="solid"/>
          </a:ln>
        </p:spPr>
      </p:sp>
      <p:sp>
        <p:nvSpPr>
          <p:cNvPr id="97" name="Shape 95"/>
          <p:cNvSpPr/>
          <p:nvPr/>
        </p:nvSpPr>
        <p:spPr>
          <a:xfrm>
            <a:off x="19491350" y="5413248"/>
            <a:ext cx="3658" cy="237744"/>
          </a:xfrm>
          <a:prstGeom prst="rect">
            <a:avLst/>
          </a:prstGeom>
          <a:solidFill>
            <a:srgbClr val="3A3F47"/>
          </a:solidFill>
          <a:ln w="12700">
            <a:solidFill>
              <a:srgbClr val="333333"/>
            </a:solidFill>
            <a:prstDash val="solid"/>
          </a:ln>
        </p:spPr>
      </p:sp>
      <p:sp>
        <p:nvSpPr>
          <p:cNvPr id="98" name="Text 96"/>
          <p:cNvSpPr txBox="1"/>
          <p:nvPr/>
        </p:nvSpPr>
        <p:spPr>
          <a:xfrm>
            <a:off x="13386816" y="3922776"/>
            <a:ext cx="6108192" cy="118872"/>
          </a:xfrm>
          <a:prstGeom prst="rect">
            <a:avLst/>
          </a:prstGeom>
          <a:noFill/>
          <a:ln/>
        </p:spPr>
        <p:txBody>
          <a:bodyPr wrap="square" lIns="0" tIns="0" rIns="0" bIns="0" rtlCol="0" anchor="t"/>
          <a:lstStyle/>
          <a:p>
            <a:pPr indent="0" marL="0">
              <a:buNone/>
            </a:pPr>
            <a:r>
              <a:rPr lang="en-US" sz="740" b="1" spc="140" kern="0" dirty="0">
                <a:solidFill>
                  <a:srgbClr val="525862"/>
                </a:solidFill>
                <a:latin typeface="Arial" pitchFamily="34" charset="0"/>
                <a:ea typeface="Arial" pitchFamily="34" charset="-122"/>
                <a:cs typeface="Arial" pitchFamily="34" charset="-120"/>
              </a:rPr>
              <a:t>DASHBOARD / IP</a:t>
            </a:r>
            <a:endParaRPr lang="en-US" sz="740" dirty="0"/>
          </a:p>
        </p:txBody>
      </p:sp>
      <p:sp>
        <p:nvSpPr>
          <p:cNvPr id="99" name="Text 97"/>
          <p:cNvSpPr txBox="1"/>
          <p:nvPr/>
        </p:nvSpPr>
        <p:spPr>
          <a:xfrm>
            <a:off x="13697712" y="4105656"/>
            <a:ext cx="5486400" cy="329184"/>
          </a:xfrm>
          <a:prstGeom prst="rect">
            <a:avLst/>
          </a:prstGeom>
          <a:noFill/>
          <a:ln/>
        </p:spPr>
        <p:txBody>
          <a:bodyPr wrap="square" lIns="0" tIns="0" rIns="0" bIns="0" rtlCol="0" anchor="t"/>
          <a:lstStyle/>
          <a:p>
            <a:pPr algn="ctr" indent="0" marL="0">
              <a:lnSpc>
                <a:spcPct val="112000"/>
              </a:lnSpc>
              <a:buNone/>
            </a:pPr>
            <a:r>
              <a:rPr lang="en-US" sz="760" i="1" dirty="0">
                <a:solidFill>
                  <a:srgbClr val="4A505A"/>
                </a:solidFill>
                <a:latin typeface="Arial" pitchFamily="34" charset="0"/>
                <a:ea typeface="Arial" pitchFamily="34" charset="-122"/>
                <a:cs typeface="Arial" pitchFamily="34" charset="-120"/>
              </a:rPr>
              <a:t>IP with the screen rotated to portrait, then landscape</a:t>
            </a:r>
            <a:endParaRPr lang="en-US" sz="760" dirty="0"/>
          </a:p>
        </p:txBody>
      </p:sp>
      <p:sp>
        <p:nvSpPr>
          <p:cNvPr id="100" name="Shape 98"/>
          <p:cNvSpPr/>
          <p:nvPr/>
        </p:nvSpPr>
        <p:spPr>
          <a:xfrm>
            <a:off x="13386816" y="5797296"/>
            <a:ext cx="6108192" cy="2980944"/>
          </a:xfrm>
          <a:prstGeom prst="rect">
            <a:avLst/>
          </a:prstGeom>
          <a:solidFill>
            <a:srgbClr val="14161A"/>
          </a:solidFill>
          <a:ln w="9525">
            <a:solidFill>
              <a:srgbClr val="262A30"/>
            </a:solidFill>
            <a:prstDash val="solid"/>
          </a:ln>
        </p:spPr>
      </p:sp>
      <p:sp>
        <p:nvSpPr>
          <p:cNvPr id="101" name="Shape 99"/>
          <p:cNvSpPr/>
          <p:nvPr/>
        </p:nvSpPr>
        <p:spPr>
          <a:xfrm>
            <a:off x="13386816" y="5797296"/>
            <a:ext cx="237744" cy="3658"/>
          </a:xfrm>
          <a:prstGeom prst="rect">
            <a:avLst/>
          </a:prstGeom>
          <a:solidFill>
            <a:srgbClr val="3A3F47"/>
          </a:solidFill>
          <a:ln w="12700">
            <a:solidFill>
              <a:srgbClr val="333333"/>
            </a:solidFill>
            <a:prstDash val="solid"/>
          </a:ln>
        </p:spPr>
      </p:sp>
      <p:sp>
        <p:nvSpPr>
          <p:cNvPr id="102" name="Shape 100"/>
          <p:cNvSpPr/>
          <p:nvPr/>
        </p:nvSpPr>
        <p:spPr>
          <a:xfrm>
            <a:off x="13386816" y="5797296"/>
            <a:ext cx="3658" cy="237744"/>
          </a:xfrm>
          <a:prstGeom prst="rect">
            <a:avLst/>
          </a:prstGeom>
          <a:solidFill>
            <a:srgbClr val="3A3F47"/>
          </a:solidFill>
          <a:ln w="12700">
            <a:solidFill>
              <a:srgbClr val="333333"/>
            </a:solidFill>
            <a:prstDash val="solid"/>
          </a:ln>
        </p:spPr>
      </p:sp>
      <p:sp>
        <p:nvSpPr>
          <p:cNvPr id="103" name="Shape 101"/>
          <p:cNvSpPr/>
          <p:nvPr/>
        </p:nvSpPr>
        <p:spPr>
          <a:xfrm>
            <a:off x="19257264" y="5797296"/>
            <a:ext cx="237744" cy="3658"/>
          </a:xfrm>
          <a:prstGeom prst="rect">
            <a:avLst/>
          </a:prstGeom>
          <a:solidFill>
            <a:srgbClr val="3A3F47"/>
          </a:solidFill>
          <a:ln w="12700">
            <a:solidFill>
              <a:srgbClr val="333333"/>
            </a:solidFill>
            <a:prstDash val="solid"/>
          </a:ln>
        </p:spPr>
      </p:sp>
      <p:sp>
        <p:nvSpPr>
          <p:cNvPr id="104" name="Shape 102"/>
          <p:cNvSpPr/>
          <p:nvPr/>
        </p:nvSpPr>
        <p:spPr>
          <a:xfrm>
            <a:off x="19491350" y="5797296"/>
            <a:ext cx="3658" cy="237744"/>
          </a:xfrm>
          <a:prstGeom prst="rect">
            <a:avLst/>
          </a:prstGeom>
          <a:solidFill>
            <a:srgbClr val="3A3F47"/>
          </a:solidFill>
          <a:ln w="12700">
            <a:solidFill>
              <a:srgbClr val="333333"/>
            </a:solidFill>
            <a:prstDash val="solid"/>
          </a:ln>
        </p:spPr>
      </p:sp>
      <p:sp>
        <p:nvSpPr>
          <p:cNvPr id="105" name="Shape 103"/>
          <p:cNvSpPr/>
          <p:nvPr/>
        </p:nvSpPr>
        <p:spPr>
          <a:xfrm>
            <a:off x="13386816" y="8774582"/>
            <a:ext cx="237744" cy="3658"/>
          </a:xfrm>
          <a:prstGeom prst="rect">
            <a:avLst/>
          </a:prstGeom>
          <a:solidFill>
            <a:srgbClr val="3A3F47"/>
          </a:solidFill>
          <a:ln w="12700">
            <a:solidFill>
              <a:srgbClr val="333333"/>
            </a:solidFill>
            <a:prstDash val="solid"/>
          </a:ln>
        </p:spPr>
      </p:sp>
      <p:sp>
        <p:nvSpPr>
          <p:cNvPr id="106" name="Shape 104"/>
          <p:cNvSpPr/>
          <p:nvPr/>
        </p:nvSpPr>
        <p:spPr>
          <a:xfrm>
            <a:off x="13386816" y="8540496"/>
            <a:ext cx="3658" cy="237744"/>
          </a:xfrm>
          <a:prstGeom prst="rect">
            <a:avLst/>
          </a:prstGeom>
          <a:solidFill>
            <a:srgbClr val="3A3F47"/>
          </a:solidFill>
          <a:ln w="12700">
            <a:solidFill>
              <a:srgbClr val="333333"/>
            </a:solidFill>
            <a:prstDash val="solid"/>
          </a:ln>
        </p:spPr>
      </p:sp>
      <p:sp>
        <p:nvSpPr>
          <p:cNvPr id="107" name="Shape 105"/>
          <p:cNvSpPr/>
          <p:nvPr/>
        </p:nvSpPr>
        <p:spPr>
          <a:xfrm>
            <a:off x="19257264" y="8774582"/>
            <a:ext cx="237744" cy="3658"/>
          </a:xfrm>
          <a:prstGeom prst="rect">
            <a:avLst/>
          </a:prstGeom>
          <a:solidFill>
            <a:srgbClr val="3A3F47"/>
          </a:solidFill>
          <a:ln w="12700">
            <a:solidFill>
              <a:srgbClr val="333333"/>
            </a:solidFill>
            <a:prstDash val="solid"/>
          </a:ln>
        </p:spPr>
      </p:sp>
      <p:sp>
        <p:nvSpPr>
          <p:cNvPr id="108" name="Shape 106"/>
          <p:cNvSpPr/>
          <p:nvPr/>
        </p:nvSpPr>
        <p:spPr>
          <a:xfrm>
            <a:off x="19491350" y="8540496"/>
            <a:ext cx="3658" cy="237744"/>
          </a:xfrm>
          <a:prstGeom prst="rect">
            <a:avLst/>
          </a:prstGeom>
          <a:solidFill>
            <a:srgbClr val="3A3F47"/>
          </a:solidFill>
          <a:ln w="12700">
            <a:solidFill>
              <a:srgbClr val="333333"/>
            </a:solidFill>
            <a:prstDash val="solid"/>
          </a:ln>
        </p:spPr>
      </p:sp>
      <p:sp>
        <p:nvSpPr>
          <p:cNvPr id="109" name="Text 107"/>
          <p:cNvSpPr txBox="1"/>
          <p:nvPr/>
        </p:nvSpPr>
        <p:spPr>
          <a:xfrm>
            <a:off x="13386816" y="7050024"/>
            <a:ext cx="6108192" cy="118872"/>
          </a:xfrm>
          <a:prstGeom prst="rect">
            <a:avLst/>
          </a:prstGeom>
          <a:noFill/>
          <a:ln/>
        </p:spPr>
        <p:txBody>
          <a:bodyPr wrap="square" lIns="0" tIns="0" rIns="0" bIns="0" rtlCol="0" anchor="t"/>
          <a:lstStyle/>
          <a:p>
            <a:pPr indent="0" marL="0">
              <a:buNone/>
            </a:pPr>
            <a:r>
              <a:rPr lang="en-US" sz="740" b="1" spc="140" kern="0" dirty="0">
                <a:solidFill>
                  <a:srgbClr val="525862"/>
                </a:solidFill>
                <a:latin typeface="Arial" pitchFamily="34" charset="0"/>
                <a:ea typeface="Arial" pitchFamily="34" charset="-122"/>
                <a:cs typeface="Arial" pitchFamily="34" charset="-120"/>
              </a:rPr>
              <a:t>CABIN DETAIL</a:t>
            </a:r>
            <a:endParaRPr lang="en-US" sz="740" dirty="0"/>
          </a:p>
        </p:txBody>
      </p:sp>
      <p:sp>
        <p:nvSpPr>
          <p:cNvPr id="110" name="Text 108"/>
          <p:cNvSpPr txBox="1"/>
          <p:nvPr/>
        </p:nvSpPr>
        <p:spPr>
          <a:xfrm>
            <a:off x="13697712" y="7232904"/>
            <a:ext cx="5486400" cy="329184"/>
          </a:xfrm>
          <a:prstGeom prst="rect">
            <a:avLst/>
          </a:prstGeom>
          <a:noFill/>
          <a:ln/>
        </p:spPr>
        <p:txBody>
          <a:bodyPr wrap="square" lIns="0" tIns="0" rIns="0" bIns="0" rtlCol="0" anchor="t"/>
          <a:lstStyle/>
          <a:p>
            <a:pPr algn="ctr" indent="0" marL="0">
              <a:lnSpc>
                <a:spcPct val="112000"/>
              </a:lnSpc>
              <a:buNone/>
            </a:pPr>
            <a:r>
              <a:rPr lang="en-US" sz="760" i="1" dirty="0">
                <a:solidFill>
                  <a:srgbClr val="4A505A"/>
                </a:solidFill>
                <a:latin typeface="Arial" pitchFamily="34" charset="0"/>
                <a:ea typeface="Arial" pitchFamily="34" charset="-122"/>
                <a:cs typeface="Arial" pitchFamily="34" charset="-120"/>
              </a:rPr>
              <a:t>green cabin theme across seats and doors</a:t>
            </a:r>
            <a:endParaRPr lang="en-US" sz="760" dirty="0"/>
          </a:p>
        </p:txBody>
      </p:sp>
      <p:sp>
        <p:nvSpPr>
          <p:cNvPr id="111" name="Text 109"/>
          <p:cNvSpPr txBox="1"/>
          <p:nvPr/>
        </p:nvSpPr>
        <p:spPr>
          <a:xfrm>
            <a:off x="13386816" y="8961120"/>
            <a:ext cx="6108192" cy="118872"/>
          </a:xfrm>
          <a:prstGeom prst="rect">
            <a:avLst/>
          </a:prstGeom>
          <a:noFill/>
          <a:ln/>
        </p:spPr>
        <p:txBody>
          <a:bodyPr wrap="square" lIns="0" tIns="0" rIns="0" bIns="0" rtlCol="0" anchor="t"/>
          <a:lstStyle/>
          <a:p>
            <a:pPr indent="0" marL="0">
              <a:buNone/>
            </a:pPr>
            <a:r>
              <a:rPr lang="en-US" sz="680" b="1" spc="140" kern="0" dirty="0">
                <a:solidFill>
                  <a:srgbClr val="5E636A"/>
                </a:solidFill>
                <a:latin typeface="Arial" pitchFamily="34" charset="0"/>
                <a:ea typeface="Arial" pitchFamily="34" charset="-122"/>
                <a:cs typeface="Arial" pitchFamily="34" charset="-120"/>
              </a:rPr>
              <a:t>SCREENS</a:t>
            </a:r>
            <a:endParaRPr lang="en-US" sz="680" dirty="0"/>
          </a:p>
        </p:txBody>
      </p:sp>
      <p:sp>
        <p:nvSpPr>
          <p:cNvPr id="112" name="Text 110"/>
          <p:cNvSpPr txBox="1"/>
          <p:nvPr/>
        </p:nvSpPr>
        <p:spPr>
          <a:xfrm>
            <a:off x="13386816" y="9089136"/>
            <a:ext cx="6108192" cy="256032"/>
          </a:xfrm>
          <a:prstGeom prst="rect">
            <a:avLst/>
          </a:prstGeom>
          <a:noFill/>
          <a:ln/>
        </p:spPr>
        <p:txBody>
          <a:bodyPr wrap="square" lIns="0" tIns="0" rIns="0" bIns="0" rtlCol="0" anchor="t"/>
          <a:lstStyle/>
          <a:p>
            <a:pPr indent="0" marL="0">
              <a:lnSpc>
                <a:spcPct val="108000"/>
              </a:lnSpc>
              <a:buNone/>
            </a:pPr>
            <a:r>
              <a:rPr lang="en-US" sz="800" dirty="0">
                <a:solidFill>
                  <a:srgbClr val="C6C9CE"/>
                </a:solidFill>
                <a:latin typeface="Arial" pitchFamily="34" charset="0"/>
                <a:ea typeface="Arial" pitchFamily="34" charset="-122"/>
                <a:cs typeface="Arial" pitchFamily="34" charset="-120"/>
              </a:rPr>
              <a:t>14.6" rotating centre screen — portrait or landscape on demand.</a:t>
            </a:r>
            <a:endParaRPr lang="en-US" sz="800" dirty="0"/>
          </a:p>
        </p:txBody>
      </p:sp>
      <p:sp>
        <p:nvSpPr>
          <p:cNvPr id="113" name="Text 111"/>
          <p:cNvSpPr txBox="1"/>
          <p:nvPr/>
        </p:nvSpPr>
        <p:spPr>
          <a:xfrm>
            <a:off x="13386816" y="9345168"/>
            <a:ext cx="6108192" cy="118872"/>
          </a:xfrm>
          <a:prstGeom prst="rect">
            <a:avLst/>
          </a:prstGeom>
          <a:noFill/>
          <a:ln/>
        </p:spPr>
        <p:txBody>
          <a:bodyPr wrap="square" lIns="0" tIns="0" rIns="0" bIns="0" rtlCol="0" anchor="t"/>
          <a:lstStyle/>
          <a:p>
            <a:pPr indent="0" marL="0">
              <a:buNone/>
            </a:pPr>
            <a:r>
              <a:rPr lang="en-US" sz="680" b="1" spc="140" kern="0" dirty="0">
                <a:solidFill>
                  <a:srgbClr val="5E636A"/>
                </a:solidFill>
                <a:latin typeface="Arial" pitchFamily="34" charset="0"/>
                <a:ea typeface="Arial" pitchFamily="34" charset="-122"/>
                <a:cs typeface="Arial" pitchFamily="34" charset="-120"/>
              </a:rPr>
              <a:t>MATERIAL · COLOUR</a:t>
            </a:r>
            <a:endParaRPr lang="en-US" sz="680" dirty="0"/>
          </a:p>
        </p:txBody>
      </p:sp>
      <p:sp>
        <p:nvSpPr>
          <p:cNvPr id="114" name="Text 112"/>
          <p:cNvSpPr txBox="1"/>
          <p:nvPr/>
        </p:nvSpPr>
        <p:spPr>
          <a:xfrm>
            <a:off x="13386816" y="9473184"/>
            <a:ext cx="6108192" cy="256032"/>
          </a:xfrm>
          <a:prstGeom prst="rect">
            <a:avLst/>
          </a:prstGeom>
          <a:noFill/>
          <a:ln/>
        </p:spPr>
        <p:txBody>
          <a:bodyPr wrap="square" lIns="0" tIns="0" rIns="0" bIns="0" rtlCol="0" anchor="t"/>
          <a:lstStyle/>
          <a:p>
            <a:pPr indent="0" marL="0">
              <a:lnSpc>
                <a:spcPct val="108000"/>
              </a:lnSpc>
              <a:buNone/>
            </a:pPr>
            <a:r>
              <a:rPr lang="en-US" sz="800" dirty="0">
                <a:solidFill>
                  <a:srgbClr val="C6C9CE"/>
                </a:solidFill>
                <a:latin typeface="Arial" pitchFamily="34" charset="0"/>
                <a:ea typeface="Arial" pitchFamily="34" charset="-122"/>
                <a:cs typeface="Arial" pitchFamily="34" charset="-120"/>
              </a:rPr>
              <a:t>Vegan leather. The green theme is briefed as “healing” relief from urban stress — colour as message.</a:t>
            </a:r>
            <a:endParaRPr lang="en-US" sz="800" dirty="0"/>
          </a:p>
        </p:txBody>
      </p:sp>
      <p:sp>
        <p:nvSpPr>
          <p:cNvPr id="115" name="Text 113"/>
          <p:cNvSpPr txBox="1"/>
          <p:nvPr/>
        </p:nvSpPr>
        <p:spPr>
          <a:xfrm>
            <a:off x="13386816" y="9729216"/>
            <a:ext cx="6108192" cy="118872"/>
          </a:xfrm>
          <a:prstGeom prst="rect">
            <a:avLst/>
          </a:prstGeom>
          <a:noFill/>
          <a:ln/>
        </p:spPr>
        <p:txBody>
          <a:bodyPr wrap="square" lIns="0" tIns="0" rIns="0" bIns="0" rtlCol="0" anchor="t"/>
          <a:lstStyle/>
          <a:p>
            <a:pPr indent="0" marL="0">
              <a:buNone/>
            </a:pPr>
            <a:r>
              <a:rPr lang="en-US" sz="680" b="1" spc="140" kern="0" dirty="0">
                <a:solidFill>
                  <a:srgbClr val="5E636A"/>
                </a:solidFill>
                <a:latin typeface="Arial" pitchFamily="34" charset="0"/>
                <a:ea typeface="Arial" pitchFamily="34" charset="-122"/>
                <a:cs typeface="Arial" pitchFamily="34" charset="-120"/>
              </a:rPr>
              <a:t>SEAT · COMFORT</a:t>
            </a:r>
            <a:endParaRPr lang="en-US" sz="680" dirty="0"/>
          </a:p>
        </p:txBody>
      </p:sp>
      <p:sp>
        <p:nvSpPr>
          <p:cNvPr id="116" name="Text 114"/>
          <p:cNvSpPr txBox="1"/>
          <p:nvPr/>
        </p:nvSpPr>
        <p:spPr>
          <a:xfrm>
            <a:off x="13386816" y="9857232"/>
            <a:ext cx="6108192" cy="256032"/>
          </a:xfrm>
          <a:prstGeom prst="rect">
            <a:avLst/>
          </a:prstGeom>
          <a:noFill/>
          <a:ln/>
        </p:spPr>
        <p:txBody>
          <a:bodyPr wrap="square" lIns="0" tIns="0" rIns="0" bIns="0" rtlCol="0" anchor="t"/>
          <a:lstStyle/>
          <a:p>
            <a:pPr indent="0" marL="0">
              <a:lnSpc>
                <a:spcPct val="108000"/>
              </a:lnSpc>
              <a:buNone/>
            </a:pPr>
            <a:r>
              <a:rPr lang="en-US" sz="800" dirty="0">
                <a:solidFill>
                  <a:srgbClr val="C6C9CE"/>
                </a:solidFill>
                <a:latin typeface="Arial" pitchFamily="34" charset="0"/>
                <a:ea typeface="Arial" pitchFamily="34" charset="-122"/>
                <a:cs typeface="Arial" pitchFamily="34" charset="-120"/>
              </a:rPr>
              <a:t>Comfort-led, no massage. Wireless pad that holds a phone through a corner.</a:t>
            </a:r>
            <a:endParaRPr lang="en-US" sz="800" dirty="0"/>
          </a:p>
        </p:txBody>
      </p:sp>
      <p:sp>
        <p:nvSpPr>
          <p:cNvPr id="117" name="Text 115"/>
          <p:cNvSpPr txBox="1"/>
          <p:nvPr/>
        </p:nvSpPr>
        <p:spPr>
          <a:xfrm>
            <a:off x="13386816" y="10113264"/>
            <a:ext cx="6108192" cy="118872"/>
          </a:xfrm>
          <a:prstGeom prst="rect">
            <a:avLst/>
          </a:prstGeom>
          <a:noFill/>
          <a:ln/>
        </p:spPr>
        <p:txBody>
          <a:bodyPr wrap="square" lIns="0" tIns="0" rIns="0" bIns="0" rtlCol="0" anchor="t"/>
          <a:lstStyle/>
          <a:p>
            <a:pPr indent="0" marL="0">
              <a:buNone/>
            </a:pPr>
            <a:r>
              <a:rPr lang="en-US" sz="680" b="1" spc="140" kern="0" dirty="0">
                <a:solidFill>
                  <a:srgbClr val="5E636A"/>
                </a:solidFill>
                <a:latin typeface="Arial" pitchFamily="34" charset="0"/>
                <a:ea typeface="Arial" pitchFamily="34" charset="-122"/>
                <a:cs typeface="Arial" pitchFamily="34" charset="-120"/>
              </a:rPr>
              <a:t>FOR WHOM</a:t>
            </a:r>
            <a:endParaRPr lang="en-US" sz="680" dirty="0"/>
          </a:p>
        </p:txBody>
      </p:sp>
      <p:sp>
        <p:nvSpPr>
          <p:cNvPr id="118" name="Text 116"/>
          <p:cNvSpPr txBox="1"/>
          <p:nvPr/>
        </p:nvSpPr>
        <p:spPr>
          <a:xfrm>
            <a:off x="13386816" y="10241280"/>
            <a:ext cx="6108192" cy="256032"/>
          </a:xfrm>
          <a:prstGeom prst="rect">
            <a:avLst/>
          </a:prstGeom>
          <a:noFill/>
          <a:ln/>
        </p:spPr>
        <p:txBody>
          <a:bodyPr wrap="square" lIns="0" tIns="0" rIns="0" bIns="0" rtlCol="0" anchor="t"/>
          <a:lstStyle/>
          <a:p>
            <a:pPr indent="0" marL="0">
              <a:lnSpc>
                <a:spcPct val="108000"/>
              </a:lnSpc>
              <a:buNone/>
            </a:pPr>
            <a:r>
              <a:rPr lang="en-US" sz="800" dirty="0">
                <a:solidFill>
                  <a:srgbClr val="C6C9CE"/>
                </a:solidFill>
                <a:latin typeface="Arial" pitchFamily="34" charset="0"/>
                <a:ea typeface="Arial" pitchFamily="34" charset="-122"/>
                <a:cs typeface="Arial" pitchFamily="34" charset="-120"/>
              </a:rPr>
              <a:t>Young family, first EV. Space per yuan is the pitch; colour closes it.</a:t>
            </a:r>
            <a:endParaRPr lang="en-US" sz="800" dirty="0"/>
          </a:p>
        </p:txBody>
      </p:sp>
      <p:sp>
        <p:nvSpPr>
          <p:cNvPr id="119" name="Text 117"/>
          <p:cNvSpPr txBox="1"/>
          <p:nvPr/>
        </p:nvSpPr>
        <p:spPr>
          <a:xfrm>
            <a:off x="19805904" y="1956816"/>
            <a:ext cx="4736592" cy="274320"/>
          </a:xfrm>
          <a:prstGeom prst="rect">
            <a:avLst/>
          </a:prstGeom>
          <a:noFill/>
          <a:ln/>
        </p:spPr>
        <p:txBody>
          <a:bodyPr wrap="square" lIns="0" tIns="0" rIns="0" bIns="0" rtlCol="0" anchor="t"/>
          <a:lstStyle/>
          <a:p>
            <a:pPr indent="0" marL="0">
              <a:buNone/>
            </a:pPr>
            <a:r>
              <a:rPr lang="en-US" sz="1300" b="1" spc="70" kern="0" dirty="0">
                <a:solidFill>
                  <a:srgbClr val="F4F2EE"/>
                </a:solidFill>
                <a:latin typeface="Arial" pitchFamily="34" charset="0"/>
                <a:ea typeface="Arial" pitchFamily="34" charset="-122"/>
                <a:cs typeface="Arial" pitchFamily="34" charset="-120"/>
              </a:rPr>
              <a:t>AION N60</a:t>
            </a:r>
            <a:endParaRPr lang="en-US" sz="1300" dirty="0"/>
          </a:p>
        </p:txBody>
      </p:sp>
      <p:sp>
        <p:nvSpPr>
          <p:cNvPr id="120" name="Shape 118"/>
          <p:cNvSpPr/>
          <p:nvPr/>
        </p:nvSpPr>
        <p:spPr>
          <a:xfrm>
            <a:off x="25434036" y="1984248"/>
            <a:ext cx="480060" cy="192024"/>
          </a:xfrm>
          <a:prstGeom prst="roundRect">
            <a:avLst>
              <a:gd name="adj" fmla="val 47619"/>
            </a:avLst>
          </a:prstGeom>
          <a:solidFill>
            <a:srgbClr val="0A0B0D"/>
          </a:solidFill>
          <a:ln w="9525">
            <a:solidFill>
              <a:srgbClr val="8B9098"/>
            </a:solidFill>
            <a:prstDash val="solid"/>
          </a:ln>
        </p:spPr>
      </p:sp>
      <p:sp>
        <p:nvSpPr>
          <p:cNvPr id="121" name="Text 119"/>
          <p:cNvSpPr txBox="1"/>
          <p:nvPr/>
        </p:nvSpPr>
        <p:spPr>
          <a:xfrm>
            <a:off x="25434036" y="2025396"/>
            <a:ext cx="480060" cy="137160"/>
          </a:xfrm>
          <a:prstGeom prst="rect">
            <a:avLst/>
          </a:prstGeom>
          <a:noFill/>
          <a:ln/>
        </p:spPr>
        <p:txBody>
          <a:bodyPr wrap="square" lIns="0" tIns="0" rIns="0" bIns="0" rtlCol="0" anchor="t"/>
          <a:lstStyle/>
          <a:p>
            <a:pPr algn="ctr" indent="0" marL="0">
              <a:buNone/>
            </a:pPr>
            <a:r>
              <a:rPr lang="en-US" sz="660" b="1" spc="100" kern="0" dirty="0">
                <a:solidFill>
                  <a:srgbClr val="8B9098"/>
                </a:solidFill>
                <a:latin typeface="Arial" pitchFamily="34" charset="0"/>
                <a:ea typeface="Arial" pitchFamily="34" charset="-122"/>
                <a:cs typeface="Arial" pitchFamily="34" charset="-120"/>
              </a:rPr>
              <a:t>MID</a:t>
            </a:r>
            <a:endParaRPr lang="en-US" sz="660" dirty="0"/>
          </a:p>
        </p:txBody>
      </p:sp>
      <p:sp>
        <p:nvSpPr>
          <p:cNvPr id="122" name="Text 120"/>
          <p:cNvSpPr txBox="1"/>
          <p:nvPr/>
        </p:nvSpPr>
        <p:spPr>
          <a:xfrm>
            <a:off x="19805904" y="2267712"/>
            <a:ext cx="6108192" cy="182880"/>
          </a:xfrm>
          <a:prstGeom prst="rect">
            <a:avLst/>
          </a:prstGeom>
          <a:noFill/>
          <a:ln/>
        </p:spPr>
        <p:txBody>
          <a:bodyPr wrap="square" lIns="0" tIns="0" rIns="0" bIns="0" rtlCol="0" anchor="t"/>
          <a:lstStyle/>
          <a:p>
            <a:pPr indent="0" marL="0">
              <a:buNone/>
            </a:pPr>
            <a:r>
              <a:rPr lang="en-US" sz="760" dirty="0">
                <a:solidFill>
                  <a:srgbClr val="9DA1A8"/>
                </a:solidFill>
                <a:latin typeface="Arial" pitchFamily="34" charset="0"/>
                <a:ea typeface="Arial" pitchFamily="34" charset="-122"/>
                <a:cs typeface="Arial" pitchFamily="34" charset="-120"/>
              </a:rPr>
              <a:t>Compact SUV · BEV 610 km · ¥109.8–129.8k · April 2026</a:t>
            </a:r>
            <a:endParaRPr lang="en-US" sz="760" dirty="0"/>
          </a:p>
        </p:txBody>
      </p:sp>
      <p:sp>
        <p:nvSpPr>
          <p:cNvPr id="123" name="Shape 121"/>
          <p:cNvSpPr/>
          <p:nvPr/>
        </p:nvSpPr>
        <p:spPr>
          <a:xfrm>
            <a:off x="19805904" y="2542032"/>
            <a:ext cx="6108192" cy="12802"/>
          </a:xfrm>
          <a:prstGeom prst="rect">
            <a:avLst/>
          </a:prstGeom>
          <a:solidFill>
            <a:srgbClr val="5C93FF"/>
          </a:solidFill>
          <a:ln w="12700">
            <a:solidFill>
              <a:srgbClr val="333333"/>
            </a:solidFill>
            <a:prstDash val="solid"/>
          </a:ln>
        </p:spPr>
      </p:sp>
      <p:sp>
        <p:nvSpPr>
          <p:cNvPr id="124" name="Shape 122"/>
          <p:cNvSpPr/>
          <p:nvPr/>
        </p:nvSpPr>
        <p:spPr>
          <a:xfrm>
            <a:off x="19805904" y="2670048"/>
            <a:ext cx="6108192" cy="2980944"/>
          </a:xfrm>
          <a:prstGeom prst="rect">
            <a:avLst/>
          </a:prstGeom>
          <a:solidFill>
            <a:srgbClr val="14161A"/>
          </a:solidFill>
          <a:ln w="9525">
            <a:solidFill>
              <a:srgbClr val="262A30"/>
            </a:solidFill>
            <a:prstDash val="solid"/>
          </a:ln>
        </p:spPr>
      </p:sp>
      <p:sp>
        <p:nvSpPr>
          <p:cNvPr id="125" name="Shape 123"/>
          <p:cNvSpPr/>
          <p:nvPr/>
        </p:nvSpPr>
        <p:spPr>
          <a:xfrm>
            <a:off x="19805904" y="2670048"/>
            <a:ext cx="237744" cy="3658"/>
          </a:xfrm>
          <a:prstGeom prst="rect">
            <a:avLst/>
          </a:prstGeom>
          <a:solidFill>
            <a:srgbClr val="3A3F47"/>
          </a:solidFill>
          <a:ln w="12700">
            <a:solidFill>
              <a:srgbClr val="333333"/>
            </a:solidFill>
            <a:prstDash val="solid"/>
          </a:ln>
        </p:spPr>
      </p:sp>
      <p:sp>
        <p:nvSpPr>
          <p:cNvPr id="126" name="Shape 124"/>
          <p:cNvSpPr/>
          <p:nvPr/>
        </p:nvSpPr>
        <p:spPr>
          <a:xfrm>
            <a:off x="19805904" y="2670048"/>
            <a:ext cx="3658" cy="237744"/>
          </a:xfrm>
          <a:prstGeom prst="rect">
            <a:avLst/>
          </a:prstGeom>
          <a:solidFill>
            <a:srgbClr val="3A3F47"/>
          </a:solidFill>
          <a:ln w="12700">
            <a:solidFill>
              <a:srgbClr val="333333"/>
            </a:solidFill>
            <a:prstDash val="solid"/>
          </a:ln>
        </p:spPr>
      </p:sp>
      <p:sp>
        <p:nvSpPr>
          <p:cNvPr id="127" name="Shape 125"/>
          <p:cNvSpPr/>
          <p:nvPr/>
        </p:nvSpPr>
        <p:spPr>
          <a:xfrm>
            <a:off x="25676352" y="2670048"/>
            <a:ext cx="237744" cy="3658"/>
          </a:xfrm>
          <a:prstGeom prst="rect">
            <a:avLst/>
          </a:prstGeom>
          <a:solidFill>
            <a:srgbClr val="3A3F47"/>
          </a:solidFill>
          <a:ln w="12700">
            <a:solidFill>
              <a:srgbClr val="333333"/>
            </a:solidFill>
            <a:prstDash val="solid"/>
          </a:ln>
        </p:spPr>
      </p:sp>
      <p:sp>
        <p:nvSpPr>
          <p:cNvPr id="128" name="Shape 126"/>
          <p:cNvSpPr/>
          <p:nvPr/>
        </p:nvSpPr>
        <p:spPr>
          <a:xfrm>
            <a:off x="25910438" y="2670048"/>
            <a:ext cx="3658" cy="237744"/>
          </a:xfrm>
          <a:prstGeom prst="rect">
            <a:avLst/>
          </a:prstGeom>
          <a:solidFill>
            <a:srgbClr val="3A3F47"/>
          </a:solidFill>
          <a:ln w="12700">
            <a:solidFill>
              <a:srgbClr val="333333"/>
            </a:solidFill>
            <a:prstDash val="solid"/>
          </a:ln>
        </p:spPr>
      </p:sp>
      <p:sp>
        <p:nvSpPr>
          <p:cNvPr id="129" name="Shape 127"/>
          <p:cNvSpPr/>
          <p:nvPr/>
        </p:nvSpPr>
        <p:spPr>
          <a:xfrm>
            <a:off x="19805904" y="5647334"/>
            <a:ext cx="237744" cy="3658"/>
          </a:xfrm>
          <a:prstGeom prst="rect">
            <a:avLst/>
          </a:prstGeom>
          <a:solidFill>
            <a:srgbClr val="3A3F47"/>
          </a:solidFill>
          <a:ln w="12700">
            <a:solidFill>
              <a:srgbClr val="333333"/>
            </a:solidFill>
            <a:prstDash val="solid"/>
          </a:ln>
        </p:spPr>
      </p:sp>
      <p:sp>
        <p:nvSpPr>
          <p:cNvPr id="130" name="Shape 128"/>
          <p:cNvSpPr/>
          <p:nvPr/>
        </p:nvSpPr>
        <p:spPr>
          <a:xfrm>
            <a:off x="19805904" y="5413248"/>
            <a:ext cx="3658" cy="237744"/>
          </a:xfrm>
          <a:prstGeom prst="rect">
            <a:avLst/>
          </a:prstGeom>
          <a:solidFill>
            <a:srgbClr val="3A3F47"/>
          </a:solidFill>
          <a:ln w="12700">
            <a:solidFill>
              <a:srgbClr val="333333"/>
            </a:solidFill>
            <a:prstDash val="solid"/>
          </a:ln>
        </p:spPr>
      </p:sp>
      <p:sp>
        <p:nvSpPr>
          <p:cNvPr id="131" name="Shape 129"/>
          <p:cNvSpPr/>
          <p:nvPr/>
        </p:nvSpPr>
        <p:spPr>
          <a:xfrm>
            <a:off x="25676352" y="5647334"/>
            <a:ext cx="237744" cy="3658"/>
          </a:xfrm>
          <a:prstGeom prst="rect">
            <a:avLst/>
          </a:prstGeom>
          <a:solidFill>
            <a:srgbClr val="3A3F47"/>
          </a:solidFill>
          <a:ln w="12700">
            <a:solidFill>
              <a:srgbClr val="333333"/>
            </a:solidFill>
            <a:prstDash val="solid"/>
          </a:ln>
        </p:spPr>
      </p:sp>
      <p:sp>
        <p:nvSpPr>
          <p:cNvPr id="132" name="Shape 130"/>
          <p:cNvSpPr/>
          <p:nvPr/>
        </p:nvSpPr>
        <p:spPr>
          <a:xfrm>
            <a:off x="25910438" y="5413248"/>
            <a:ext cx="3658" cy="237744"/>
          </a:xfrm>
          <a:prstGeom prst="rect">
            <a:avLst/>
          </a:prstGeom>
          <a:solidFill>
            <a:srgbClr val="3A3F47"/>
          </a:solidFill>
          <a:ln w="12700">
            <a:solidFill>
              <a:srgbClr val="333333"/>
            </a:solidFill>
            <a:prstDash val="solid"/>
          </a:ln>
        </p:spPr>
      </p:sp>
      <p:sp>
        <p:nvSpPr>
          <p:cNvPr id="133" name="Text 131"/>
          <p:cNvSpPr txBox="1"/>
          <p:nvPr/>
        </p:nvSpPr>
        <p:spPr>
          <a:xfrm>
            <a:off x="19805904" y="3922776"/>
            <a:ext cx="6108192" cy="118872"/>
          </a:xfrm>
          <a:prstGeom prst="rect">
            <a:avLst/>
          </a:prstGeom>
          <a:noFill/>
          <a:ln/>
        </p:spPr>
        <p:txBody>
          <a:bodyPr wrap="square" lIns="0" tIns="0" rIns="0" bIns="0" rtlCol="0" anchor="t"/>
          <a:lstStyle/>
          <a:p>
            <a:pPr indent="0" marL="0">
              <a:buNone/>
            </a:pPr>
            <a:r>
              <a:rPr lang="en-US" sz="740" b="1" spc="140" kern="0" dirty="0">
                <a:solidFill>
                  <a:srgbClr val="525862"/>
                </a:solidFill>
                <a:latin typeface="Arial" pitchFamily="34" charset="0"/>
                <a:ea typeface="Arial" pitchFamily="34" charset="-122"/>
                <a:cs typeface="Arial" pitchFamily="34" charset="-120"/>
              </a:rPr>
              <a:t>DASHBOARD / IP</a:t>
            </a:r>
            <a:endParaRPr lang="en-US" sz="740" dirty="0"/>
          </a:p>
        </p:txBody>
      </p:sp>
      <p:sp>
        <p:nvSpPr>
          <p:cNvPr id="134" name="Text 132"/>
          <p:cNvSpPr txBox="1"/>
          <p:nvPr/>
        </p:nvSpPr>
        <p:spPr>
          <a:xfrm>
            <a:off x="20116800" y="4105656"/>
            <a:ext cx="5486400" cy="329184"/>
          </a:xfrm>
          <a:prstGeom prst="rect">
            <a:avLst/>
          </a:prstGeom>
          <a:noFill/>
          <a:ln/>
        </p:spPr>
        <p:txBody>
          <a:bodyPr wrap="square" lIns="0" tIns="0" rIns="0" bIns="0" rtlCol="0" anchor="t"/>
          <a:lstStyle/>
          <a:p>
            <a:pPr algn="ctr" indent="0" marL="0">
              <a:lnSpc>
                <a:spcPct val="112000"/>
              </a:lnSpc>
              <a:buNone/>
            </a:pPr>
            <a:r>
              <a:rPr lang="en-US" sz="760" i="1" dirty="0">
                <a:solidFill>
                  <a:srgbClr val="4A505A"/>
                </a:solidFill>
                <a:latin typeface="Arial" pitchFamily="34" charset="0"/>
                <a:ea typeface="Arial" pitchFamily="34" charset="-122"/>
                <a:cs typeface="Arial" pitchFamily="34" charset="-120"/>
              </a:rPr>
              <a:t>IP — 15.6" tile with no cluster behind the wheel</a:t>
            </a:r>
            <a:endParaRPr lang="en-US" sz="760" dirty="0"/>
          </a:p>
        </p:txBody>
      </p:sp>
      <p:sp>
        <p:nvSpPr>
          <p:cNvPr id="135" name="Shape 133"/>
          <p:cNvSpPr/>
          <p:nvPr/>
        </p:nvSpPr>
        <p:spPr>
          <a:xfrm>
            <a:off x="19805904" y="5797296"/>
            <a:ext cx="6108192" cy="2980944"/>
          </a:xfrm>
          <a:prstGeom prst="rect">
            <a:avLst/>
          </a:prstGeom>
          <a:solidFill>
            <a:srgbClr val="14161A"/>
          </a:solidFill>
          <a:ln w="9525">
            <a:solidFill>
              <a:srgbClr val="262A30"/>
            </a:solidFill>
            <a:prstDash val="solid"/>
          </a:ln>
        </p:spPr>
      </p:sp>
      <p:sp>
        <p:nvSpPr>
          <p:cNvPr id="136" name="Shape 134"/>
          <p:cNvSpPr/>
          <p:nvPr/>
        </p:nvSpPr>
        <p:spPr>
          <a:xfrm>
            <a:off x="19805904" y="5797296"/>
            <a:ext cx="237744" cy="3658"/>
          </a:xfrm>
          <a:prstGeom prst="rect">
            <a:avLst/>
          </a:prstGeom>
          <a:solidFill>
            <a:srgbClr val="3A3F47"/>
          </a:solidFill>
          <a:ln w="12700">
            <a:solidFill>
              <a:srgbClr val="333333"/>
            </a:solidFill>
            <a:prstDash val="solid"/>
          </a:ln>
        </p:spPr>
      </p:sp>
      <p:sp>
        <p:nvSpPr>
          <p:cNvPr id="137" name="Shape 135"/>
          <p:cNvSpPr/>
          <p:nvPr/>
        </p:nvSpPr>
        <p:spPr>
          <a:xfrm>
            <a:off x="19805904" y="5797296"/>
            <a:ext cx="3658" cy="237744"/>
          </a:xfrm>
          <a:prstGeom prst="rect">
            <a:avLst/>
          </a:prstGeom>
          <a:solidFill>
            <a:srgbClr val="3A3F47"/>
          </a:solidFill>
          <a:ln w="12700">
            <a:solidFill>
              <a:srgbClr val="333333"/>
            </a:solidFill>
            <a:prstDash val="solid"/>
          </a:ln>
        </p:spPr>
      </p:sp>
      <p:sp>
        <p:nvSpPr>
          <p:cNvPr id="138" name="Shape 136"/>
          <p:cNvSpPr/>
          <p:nvPr/>
        </p:nvSpPr>
        <p:spPr>
          <a:xfrm>
            <a:off x="25676352" y="5797296"/>
            <a:ext cx="237744" cy="3658"/>
          </a:xfrm>
          <a:prstGeom prst="rect">
            <a:avLst/>
          </a:prstGeom>
          <a:solidFill>
            <a:srgbClr val="3A3F47"/>
          </a:solidFill>
          <a:ln w="12700">
            <a:solidFill>
              <a:srgbClr val="333333"/>
            </a:solidFill>
            <a:prstDash val="solid"/>
          </a:ln>
        </p:spPr>
      </p:sp>
      <p:sp>
        <p:nvSpPr>
          <p:cNvPr id="139" name="Shape 137"/>
          <p:cNvSpPr/>
          <p:nvPr/>
        </p:nvSpPr>
        <p:spPr>
          <a:xfrm>
            <a:off x="25910438" y="5797296"/>
            <a:ext cx="3658" cy="237744"/>
          </a:xfrm>
          <a:prstGeom prst="rect">
            <a:avLst/>
          </a:prstGeom>
          <a:solidFill>
            <a:srgbClr val="3A3F47"/>
          </a:solidFill>
          <a:ln w="12700">
            <a:solidFill>
              <a:srgbClr val="333333"/>
            </a:solidFill>
            <a:prstDash val="solid"/>
          </a:ln>
        </p:spPr>
      </p:sp>
      <p:sp>
        <p:nvSpPr>
          <p:cNvPr id="140" name="Shape 138"/>
          <p:cNvSpPr/>
          <p:nvPr/>
        </p:nvSpPr>
        <p:spPr>
          <a:xfrm>
            <a:off x="19805904" y="8774582"/>
            <a:ext cx="237744" cy="3658"/>
          </a:xfrm>
          <a:prstGeom prst="rect">
            <a:avLst/>
          </a:prstGeom>
          <a:solidFill>
            <a:srgbClr val="3A3F47"/>
          </a:solidFill>
          <a:ln w="12700">
            <a:solidFill>
              <a:srgbClr val="333333"/>
            </a:solidFill>
            <a:prstDash val="solid"/>
          </a:ln>
        </p:spPr>
      </p:sp>
      <p:sp>
        <p:nvSpPr>
          <p:cNvPr id="141" name="Shape 139"/>
          <p:cNvSpPr/>
          <p:nvPr/>
        </p:nvSpPr>
        <p:spPr>
          <a:xfrm>
            <a:off x="19805904" y="8540496"/>
            <a:ext cx="3658" cy="237744"/>
          </a:xfrm>
          <a:prstGeom prst="rect">
            <a:avLst/>
          </a:prstGeom>
          <a:solidFill>
            <a:srgbClr val="3A3F47"/>
          </a:solidFill>
          <a:ln w="12700">
            <a:solidFill>
              <a:srgbClr val="333333"/>
            </a:solidFill>
            <a:prstDash val="solid"/>
          </a:ln>
        </p:spPr>
      </p:sp>
      <p:sp>
        <p:nvSpPr>
          <p:cNvPr id="142" name="Shape 140"/>
          <p:cNvSpPr/>
          <p:nvPr/>
        </p:nvSpPr>
        <p:spPr>
          <a:xfrm>
            <a:off x="25676352" y="8774582"/>
            <a:ext cx="237744" cy="3658"/>
          </a:xfrm>
          <a:prstGeom prst="rect">
            <a:avLst/>
          </a:prstGeom>
          <a:solidFill>
            <a:srgbClr val="3A3F47"/>
          </a:solidFill>
          <a:ln w="12700">
            <a:solidFill>
              <a:srgbClr val="333333"/>
            </a:solidFill>
            <a:prstDash val="solid"/>
          </a:ln>
        </p:spPr>
      </p:sp>
      <p:sp>
        <p:nvSpPr>
          <p:cNvPr id="143" name="Shape 141"/>
          <p:cNvSpPr/>
          <p:nvPr/>
        </p:nvSpPr>
        <p:spPr>
          <a:xfrm>
            <a:off x="25910438" y="8540496"/>
            <a:ext cx="3658" cy="237744"/>
          </a:xfrm>
          <a:prstGeom prst="rect">
            <a:avLst/>
          </a:prstGeom>
          <a:solidFill>
            <a:srgbClr val="3A3F47"/>
          </a:solidFill>
          <a:ln w="12700">
            <a:solidFill>
              <a:srgbClr val="333333"/>
            </a:solidFill>
            <a:prstDash val="solid"/>
          </a:ln>
        </p:spPr>
      </p:sp>
      <p:sp>
        <p:nvSpPr>
          <p:cNvPr id="144" name="Text 142"/>
          <p:cNvSpPr txBox="1"/>
          <p:nvPr/>
        </p:nvSpPr>
        <p:spPr>
          <a:xfrm>
            <a:off x="19805904" y="7050024"/>
            <a:ext cx="6108192" cy="118872"/>
          </a:xfrm>
          <a:prstGeom prst="rect">
            <a:avLst/>
          </a:prstGeom>
          <a:noFill/>
          <a:ln/>
        </p:spPr>
        <p:txBody>
          <a:bodyPr wrap="square" lIns="0" tIns="0" rIns="0" bIns="0" rtlCol="0" anchor="t"/>
          <a:lstStyle/>
          <a:p>
            <a:pPr indent="0" marL="0">
              <a:buNone/>
            </a:pPr>
            <a:r>
              <a:rPr lang="en-US" sz="740" b="1" spc="140" kern="0" dirty="0">
                <a:solidFill>
                  <a:srgbClr val="525862"/>
                </a:solidFill>
                <a:latin typeface="Arial" pitchFamily="34" charset="0"/>
                <a:ea typeface="Arial" pitchFamily="34" charset="-122"/>
                <a:cs typeface="Arial" pitchFamily="34" charset="-120"/>
              </a:rPr>
              <a:t>CABIN DETAIL</a:t>
            </a:r>
            <a:endParaRPr lang="en-US" sz="740" dirty="0"/>
          </a:p>
        </p:txBody>
      </p:sp>
      <p:sp>
        <p:nvSpPr>
          <p:cNvPr id="145" name="Text 143"/>
          <p:cNvSpPr txBox="1"/>
          <p:nvPr/>
        </p:nvSpPr>
        <p:spPr>
          <a:xfrm>
            <a:off x="20116800" y="7232904"/>
            <a:ext cx="5486400" cy="329184"/>
          </a:xfrm>
          <a:prstGeom prst="rect">
            <a:avLst/>
          </a:prstGeom>
          <a:noFill/>
          <a:ln/>
        </p:spPr>
        <p:txBody>
          <a:bodyPr wrap="square" lIns="0" tIns="0" rIns="0" bIns="0" rtlCol="0" anchor="t"/>
          <a:lstStyle/>
          <a:p>
            <a:pPr algn="ctr" indent="0" marL="0">
              <a:lnSpc>
                <a:spcPct val="112000"/>
              </a:lnSpc>
              <a:buNone/>
            </a:pPr>
            <a:r>
              <a:rPr lang="en-US" sz="760" i="1" dirty="0">
                <a:solidFill>
                  <a:srgbClr val="4A505A"/>
                </a:solidFill>
                <a:latin typeface="Arial" pitchFamily="34" charset="0"/>
                <a:ea typeface="Arial" pitchFamily="34" charset="-122"/>
                <a:cs typeface="Arial" pitchFamily="34" charset="-120"/>
              </a:rPr>
              <a:t>the three named themes side by side; zero-gravity seat reclined</a:t>
            </a:r>
            <a:endParaRPr lang="en-US" sz="760" dirty="0"/>
          </a:p>
        </p:txBody>
      </p:sp>
      <p:sp>
        <p:nvSpPr>
          <p:cNvPr id="146" name="Text 144"/>
          <p:cNvSpPr txBox="1"/>
          <p:nvPr/>
        </p:nvSpPr>
        <p:spPr>
          <a:xfrm>
            <a:off x="19805904" y="8961120"/>
            <a:ext cx="6108192" cy="118872"/>
          </a:xfrm>
          <a:prstGeom prst="rect">
            <a:avLst/>
          </a:prstGeom>
          <a:noFill/>
          <a:ln/>
        </p:spPr>
        <p:txBody>
          <a:bodyPr wrap="square" lIns="0" tIns="0" rIns="0" bIns="0" rtlCol="0" anchor="t"/>
          <a:lstStyle/>
          <a:p>
            <a:pPr indent="0" marL="0">
              <a:buNone/>
            </a:pPr>
            <a:r>
              <a:rPr lang="en-US" sz="680" b="1" spc="140" kern="0" dirty="0">
                <a:solidFill>
                  <a:srgbClr val="5E636A"/>
                </a:solidFill>
                <a:latin typeface="Arial" pitchFamily="34" charset="0"/>
                <a:ea typeface="Arial" pitchFamily="34" charset="-122"/>
                <a:cs typeface="Arial" pitchFamily="34" charset="-120"/>
              </a:rPr>
              <a:t>SCREENS</a:t>
            </a:r>
            <a:endParaRPr lang="en-US" sz="680" dirty="0"/>
          </a:p>
        </p:txBody>
      </p:sp>
      <p:sp>
        <p:nvSpPr>
          <p:cNvPr id="147" name="Text 145"/>
          <p:cNvSpPr txBox="1"/>
          <p:nvPr/>
        </p:nvSpPr>
        <p:spPr>
          <a:xfrm>
            <a:off x="19805904" y="9089136"/>
            <a:ext cx="6108192" cy="256032"/>
          </a:xfrm>
          <a:prstGeom prst="rect">
            <a:avLst/>
          </a:prstGeom>
          <a:noFill/>
          <a:ln/>
        </p:spPr>
        <p:txBody>
          <a:bodyPr wrap="square" lIns="0" tIns="0" rIns="0" bIns="0" rtlCol="0" anchor="t"/>
          <a:lstStyle/>
          <a:p>
            <a:pPr indent="0" marL="0">
              <a:lnSpc>
                <a:spcPct val="108000"/>
              </a:lnSpc>
              <a:buNone/>
            </a:pPr>
            <a:r>
              <a:rPr lang="en-US" sz="800" dirty="0">
                <a:solidFill>
                  <a:srgbClr val="C6C9CE"/>
                </a:solidFill>
                <a:latin typeface="Arial" pitchFamily="34" charset="0"/>
                <a:ea typeface="Arial" pitchFamily="34" charset="-122"/>
                <a:cs typeface="Arial" pitchFamily="34" charset="-120"/>
              </a:rPr>
              <a:t>15.6" 2.5K single tile on ADiGO 6.0 — AI voice, Huawei Nebula, iOS and Android casting. Cluster deleted.</a:t>
            </a:r>
            <a:endParaRPr lang="en-US" sz="800" dirty="0"/>
          </a:p>
        </p:txBody>
      </p:sp>
      <p:sp>
        <p:nvSpPr>
          <p:cNvPr id="148" name="Text 146"/>
          <p:cNvSpPr txBox="1"/>
          <p:nvPr/>
        </p:nvSpPr>
        <p:spPr>
          <a:xfrm>
            <a:off x="19805904" y="9345168"/>
            <a:ext cx="6108192" cy="118872"/>
          </a:xfrm>
          <a:prstGeom prst="rect">
            <a:avLst/>
          </a:prstGeom>
          <a:noFill/>
          <a:ln/>
        </p:spPr>
        <p:txBody>
          <a:bodyPr wrap="square" lIns="0" tIns="0" rIns="0" bIns="0" rtlCol="0" anchor="t"/>
          <a:lstStyle/>
          <a:p>
            <a:pPr indent="0" marL="0">
              <a:buNone/>
            </a:pPr>
            <a:r>
              <a:rPr lang="en-US" sz="680" b="1" spc="140" kern="0" dirty="0">
                <a:solidFill>
                  <a:srgbClr val="5E636A"/>
                </a:solidFill>
                <a:latin typeface="Arial" pitchFamily="34" charset="0"/>
                <a:ea typeface="Arial" pitchFamily="34" charset="-122"/>
                <a:cs typeface="Arial" pitchFamily="34" charset="-120"/>
              </a:rPr>
              <a:t>MATERIAL · COLOUR</a:t>
            </a:r>
            <a:endParaRPr lang="en-US" sz="680" dirty="0"/>
          </a:p>
        </p:txBody>
      </p:sp>
      <p:sp>
        <p:nvSpPr>
          <p:cNvPr id="149" name="Text 147"/>
          <p:cNvSpPr txBox="1"/>
          <p:nvPr/>
        </p:nvSpPr>
        <p:spPr>
          <a:xfrm>
            <a:off x="19805904" y="9473184"/>
            <a:ext cx="6108192" cy="256032"/>
          </a:xfrm>
          <a:prstGeom prst="rect">
            <a:avLst/>
          </a:prstGeom>
          <a:noFill/>
          <a:ln/>
        </p:spPr>
        <p:txBody>
          <a:bodyPr wrap="square" lIns="0" tIns="0" rIns="0" bIns="0" rtlCol="0" anchor="t"/>
          <a:lstStyle/>
          <a:p>
            <a:pPr indent="0" marL="0">
              <a:lnSpc>
                <a:spcPct val="108000"/>
              </a:lnSpc>
              <a:buNone/>
            </a:pPr>
            <a:r>
              <a:rPr lang="en-US" sz="800" dirty="0">
                <a:solidFill>
                  <a:srgbClr val="C6C9CE"/>
                </a:solidFill>
                <a:latin typeface="Arial" pitchFamily="34" charset="0"/>
                <a:ea typeface="Arial" pitchFamily="34" charset="-122"/>
                <a:cs typeface="Arial" pitchFamily="34" charset="-120"/>
              </a:rPr>
              <a:t>Three named themes: Soft Light White, Caramel Warm Velvet, Morning Mist Cool Grey. 2.38 m² roof, 35 stowage points.</a:t>
            </a:r>
            <a:endParaRPr lang="en-US" sz="800" dirty="0"/>
          </a:p>
        </p:txBody>
      </p:sp>
      <p:sp>
        <p:nvSpPr>
          <p:cNvPr id="150" name="Text 148"/>
          <p:cNvSpPr txBox="1"/>
          <p:nvPr/>
        </p:nvSpPr>
        <p:spPr>
          <a:xfrm>
            <a:off x="19805904" y="9729216"/>
            <a:ext cx="6108192" cy="118872"/>
          </a:xfrm>
          <a:prstGeom prst="rect">
            <a:avLst/>
          </a:prstGeom>
          <a:noFill/>
          <a:ln/>
        </p:spPr>
        <p:txBody>
          <a:bodyPr wrap="square" lIns="0" tIns="0" rIns="0" bIns="0" rtlCol="0" anchor="t"/>
          <a:lstStyle/>
          <a:p>
            <a:pPr indent="0" marL="0">
              <a:buNone/>
            </a:pPr>
            <a:r>
              <a:rPr lang="en-US" sz="680" b="1" spc="140" kern="0" dirty="0">
                <a:solidFill>
                  <a:srgbClr val="5E636A"/>
                </a:solidFill>
                <a:latin typeface="Arial" pitchFamily="34" charset="0"/>
                <a:ea typeface="Arial" pitchFamily="34" charset="-122"/>
                <a:cs typeface="Arial" pitchFamily="34" charset="-120"/>
              </a:rPr>
              <a:t>SEAT · COMFORT</a:t>
            </a:r>
            <a:endParaRPr lang="en-US" sz="680" dirty="0"/>
          </a:p>
        </p:txBody>
      </p:sp>
      <p:sp>
        <p:nvSpPr>
          <p:cNvPr id="151" name="Text 149"/>
          <p:cNvSpPr txBox="1"/>
          <p:nvPr/>
        </p:nvSpPr>
        <p:spPr>
          <a:xfrm>
            <a:off x="19805904" y="9857232"/>
            <a:ext cx="6108192" cy="256032"/>
          </a:xfrm>
          <a:prstGeom prst="rect">
            <a:avLst/>
          </a:prstGeom>
          <a:noFill/>
          <a:ln/>
        </p:spPr>
        <p:txBody>
          <a:bodyPr wrap="square" lIns="0" tIns="0" rIns="0" bIns="0" rtlCol="0" anchor="t"/>
          <a:lstStyle/>
          <a:p>
            <a:pPr indent="0" marL="0">
              <a:lnSpc>
                <a:spcPct val="108000"/>
              </a:lnSpc>
              <a:buNone/>
            </a:pPr>
            <a:r>
              <a:rPr lang="en-US" sz="800" dirty="0">
                <a:solidFill>
                  <a:srgbClr val="C6C9CE"/>
                </a:solidFill>
                <a:latin typeface="Arial" pitchFamily="34" charset="0"/>
                <a:ea typeface="Arial" pitchFamily="34" charset="-122"/>
                <a:cs typeface="Arial" pitchFamily="34" charset="-120"/>
              </a:rPr>
              <a:t>Zero-gravity front passenger seat standard. Front heat, ventilation, massage, memory. Rear 117–137°.</a:t>
            </a:r>
            <a:endParaRPr lang="en-US" sz="800" dirty="0"/>
          </a:p>
        </p:txBody>
      </p:sp>
      <p:sp>
        <p:nvSpPr>
          <p:cNvPr id="152" name="Text 150"/>
          <p:cNvSpPr txBox="1"/>
          <p:nvPr/>
        </p:nvSpPr>
        <p:spPr>
          <a:xfrm>
            <a:off x="19805904" y="10113264"/>
            <a:ext cx="6108192" cy="118872"/>
          </a:xfrm>
          <a:prstGeom prst="rect">
            <a:avLst/>
          </a:prstGeom>
          <a:noFill/>
          <a:ln/>
        </p:spPr>
        <p:txBody>
          <a:bodyPr wrap="square" lIns="0" tIns="0" rIns="0" bIns="0" rtlCol="0" anchor="t"/>
          <a:lstStyle/>
          <a:p>
            <a:pPr indent="0" marL="0">
              <a:buNone/>
            </a:pPr>
            <a:r>
              <a:rPr lang="en-US" sz="680" b="1" spc="140" kern="0" dirty="0">
                <a:solidFill>
                  <a:srgbClr val="5E636A"/>
                </a:solidFill>
                <a:latin typeface="Arial" pitchFamily="34" charset="0"/>
                <a:ea typeface="Arial" pitchFamily="34" charset="-122"/>
                <a:cs typeface="Arial" pitchFamily="34" charset="-120"/>
              </a:rPr>
              <a:t>FOR WHOM</a:t>
            </a:r>
            <a:endParaRPr lang="en-US" sz="680" dirty="0"/>
          </a:p>
        </p:txBody>
      </p:sp>
      <p:sp>
        <p:nvSpPr>
          <p:cNvPr id="153" name="Text 151"/>
          <p:cNvSpPr txBox="1"/>
          <p:nvPr/>
        </p:nvSpPr>
        <p:spPr>
          <a:xfrm>
            <a:off x="19805904" y="10241280"/>
            <a:ext cx="6108192" cy="256032"/>
          </a:xfrm>
          <a:prstGeom prst="rect">
            <a:avLst/>
          </a:prstGeom>
          <a:noFill/>
          <a:ln/>
        </p:spPr>
        <p:txBody>
          <a:bodyPr wrap="square" lIns="0" tIns="0" rIns="0" bIns="0" rtlCol="0" anchor="t"/>
          <a:lstStyle/>
          <a:p>
            <a:pPr indent="0" marL="0">
              <a:lnSpc>
                <a:spcPct val="108000"/>
              </a:lnSpc>
              <a:buNone/>
            </a:pPr>
            <a:r>
              <a:rPr lang="en-US" sz="800" dirty="0">
                <a:solidFill>
                  <a:srgbClr val="C6C9CE"/>
                </a:solidFill>
                <a:latin typeface="Arial" pitchFamily="34" charset="0"/>
                <a:ea typeface="Arial" pitchFamily="34" charset="-122"/>
                <a:cs typeface="Arial" pitchFamily="34" charset="-120"/>
              </a:rPr>
              <a:t>Young family. Priced at entry, specified like a mid — with LiDAR standard.</a:t>
            </a:r>
            <a:endParaRPr lang="en-US" sz="800" dirty="0"/>
          </a:p>
        </p:txBody>
      </p:sp>
      <p:sp>
        <p:nvSpPr>
          <p:cNvPr id="154" name="Text 152"/>
          <p:cNvSpPr txBox="1"/>
          <p:nvPr/>
        </p:nvSpPr>
        <p:spPr>
          <a:xfrm>
            <a:off x="26224992" y="1956816"/>
            <a:ext cx="4736592" cy="274320"/>
          </a:xfrm>
          <a:prstGeom prst="rect">
            <a:avLst/>
          </a:prstGeom>
          <a:noFill/>
          <a:ln/>
        </p:spPr>
        <p:txBody>
          <a:bodyPr wrap="square" lIns="0" tIns="0" rIns="0" bIns="0" rtlCol="0" anchor="t"/>
          <a:lstStyle/>
          <a:p>
            <a:pPr indent="0" marL="0">
              <a:buNone/>
            </a:pPr>
            <a:r>
              <a:rPr lang="en-US" sz="1300" b="1" spc="70" kern="0" dirty="0">
                <a:solidFill>
                  <a:srgbClr val="F4F2EE"/>
                </a:solidFill>
                <a:latin typeface="Arial" pitchFamily="34" charset="0"/>
                <a:ea typeface="Arial" pitchFamily="34" charset="-122"/>
                <a:cs typeface="Arial" pitchFamily="34" charset="-120"/>
              </a:rPr>
              <a:t>AION i60</a:t>
            </a:r>
            <a:endParaRPr lang="en-US" sz="1300" dirty="0"/>
          </a:p>
        </p:txBody>
      </p:sp>
      <p:sp>
        <p:nvSpPr>
          <p:cNvPr id="155" name="Shape 153"/>
          <p:cNvSpPr/>
          <p:nvPr/>
        </p:nvSpPr>
        <p:spPr>
          <a:xfrm>
            <a:off x="31853124" y="1984248"/>
            <a:ext cx="480060" cy="192024"/>
          </a:xfrm>
          <a:prstGeom prst="roundRect">
            <a:avLst>
              <a:gd name="adj" fmla="val 47619"/>
            </a:avLst>
          </a:prstGeom>
          <a:solidFill>
            <a:srgbClr val="0A0B0D"/>
          </a:solidFill>
          <a:ln w="9525">
            <a:solidFill>
              <a:srgbClr val="8B9098"/>
            </a:solidFill>
            <a:prstDash val="solid"/>
          </a:ln>
        </p:spPr>
      </p:sp>
      <p:sp>
        <p:nvSpPr>
          <p:cNvPr id="156" name="Text 154"/>
          <p:cNvSpPr txBox="1"/>
          <p:nvPr/>
        </p:nvSpPr>
        <p:spPr>
          <a:xfrm>
            <a:off x="31853124" y="2025396"/>
            <a:ext cx="480060" cy="137160"/>
          </a:xfrm>
          <a:prstGeom prst="rect">
            <a:avLst/>
          </a:prstGeom>
          <a:noFill/>
          <a:ln/>
        </p:spPr>
        <p:txBody>
          <a:bodyPr wrap="square" lIns="0" tIns="0" rIns="0" bIns="0" rtlCol="0" anchor="t"/>
          <a:lstStyle/>
          <a:p>
            <a:pPr algn="ctr" indent="0" marL="0">
              <a:buNone/>
            </a:pPr>
            <a:r>
              <a:rPr lang="en-US" sz="660" b="1" spc="100" kern="0" dirty="0">
                <a:solidFill>
                  <a:srgbClr val="8B9098"/>
                </a:solidFill>
                <a:latin typeface="Arial" pitchFamily="34" charset="0"/>
                <a:ea typeface="Arial" pitchFamily="34" charset="-122"/>
                <a:cs typeface="Arial" pitchFamily="34" charset="-120"/>
              </a:rPr>
              <a:t>MID</a:t>
            </a:r>
            <a:endParaRPr lang="en-US" sz="660" dirty="0"/>
          </a:p>
        </p:txBody>
      </p:sp>
      <p:sp>
        <p:nvSpPr>
          <p:cNvPr id="157" name="Text 155"/>
          <p:cNvSpPr txBox="1"/>
          <p:nvPr/>
        </p:nvSpPr>
        <p:spPr>
          <a:xfrm>
            <a:off x="26224992" y="2267712"/>
            <a:ext cx="6108192" cy="182880"/>
          </a:xfrm>
          <a:prstGeom prst="rect">
            <a:avLst/>
          </a:prstGeom>
          <a:noFill/>
          <a:ln/>
        </p:spPr>
        <p:txBody>
          <a:bodyPr wrap="square" lIns="0" tIns="0" rIns="0" bIns="0" rtlCol="0" anchor="t"/>
          <a:lstStyle/>
          <a:p>
            <a:pPr indent="0" marL="0">
              <a:buNone/>
            </a:pPr>
            <a:r>
              <a:rPr lang="en-US" sz="760" dirty="0">
                <a:solidFill>
                  <a:srgbClr val="9DA1A8"/>
                </a:solidFill>
                <a:latin typeface="Arial" pitchFamily="34" charset="0"/>
                <a:ea typeface="Arial" pitchFamily="34" charset="-122"/>
                <a:cs typeface="Arial" pitchFamily="34" charset="-120"/>
              </a:rPr>
              <a:t>Compact crossover · BEV 650 km / EREV 1,240 km · from ≈¥115.8k</a:t>
            </a:r>
            <a:endParaRPr lang="en-US" sz="760" dirty="0"/>
          </a:p>
        </p:txBody>
      </p:sp>
      <p:sp>
        <p:nvSpPr>
          <p:cNvPr id="158" name="Shape 156"/>
          <p:cNvSpPr/>
          <p:nvPr/>
        </p:nvSpPr>
        <p:spPr>
          <a:xfrm>
            <a:off x="26224992" y="2542032"/>
            <a:ext cx="6108192" cy="12802"/>
          </a:xfrm>
          <a:prstGeom prst="rect">
            <a:avLst/>
          </a:prstGeom>
          <a:solidFill>
            <a:srgbClr val="5C93FF"/>
          </a:solidFill>
          <a:ln w="12700">
            <a:solidFill>
              <a:srgbClr val="333333"/>
            </a:solidFill>
            <a:prstDash val="solid"/>
          </a:ln>
        </p:spPr>
      </p:sp>
      <p:sp>
        <p:nvSpPr>
          <p:cNvPr id="159" name="Shape 157"/>
          <p:cNvSpPr/>
          <p:nvPr/>
        </p:nvSpPr>
        <p:spPr>
          <a:xfrm>
            <a:off x="26224992" y="2670048"/>
            <a:ext cx="6108192" cy="2980944"/>
          </a:xfrm>
          <a:prstGeom prst="rect">
            <a:avLst/>
          </a:prstGeom>
          <a:solidFill>
            <a:srgbClr val="14161A"/>
          </a:solidFill>
          <a:ln w="9525">
            <a:solidFill>
              <a:srgbClr val="262A30"/>
            </a:solidFill>
            <a:prstDash val="solid"/>
          </a:ln>
        </p:spPr>
      </p:sp>
      <p:sp>
        <p:nvSpPr>
          <p:cNvPr id="160" name="Shape 158"/>
          <p:cNvSpPr/>
          <p:nvPr/>
        </p:nvSpPr>
        <p:spPr>
          <a:xfrm>
            <a:off x="26224992" y="2670048"/>
            <a:ext cx="237744" cy="3658"/>
          </a:xfrm>
          <a:prstGeom prst="rect">
            <a:avLst/>
          </a:prstGeom>
          <a:solidFill>
            <a:srgbClr val="3A3F47"/>
          </a:solidFill>
          <a:ln w="12700">
            <a:solidFill>
              <a:srgbClr val="333333"/>
            </a:solidFill>
            <a:prstDash val="solid"/>
          </a:ln>
        </p:spPr>
      </p:sp>
      <p:sp>
        <p:nvSpPr>
          <p:cNvPr id="161" name="Shape 159"/>
          <p:cNvSpPr/>
          <p:nvPr/>
        </p:nvSpPr>
        <p:spPr>
          <a:xfrm>
            <a:off x="26224992" y="2670048"/>
            <a:ext cx="3658" cy="237744"/>
          </a:xfrm>
          <a:prstGeom prst="rect">
            <a:avLst/>
          </a:prstGeom>
          <a:solidFill>
            <a:srgbClr val="3A3F47"/>
          </a:solidFill>
          <a:ln w="12700">
            <a:solidFill>
              <a:srgbClr val="333333"/>
            </a:solidFill>
            <a:prstDash val="solid"/>
          </a:ln>
        </p:spPr>
      </p:sp>
      <p:sp>
        <p:nvSpPr>
          <p:cNvPr id="162" name="Shape 160"/>
          <p:cNvSpPr/>
          <p:nvPr/>
        </p:nvSpPr>
        <p:spPr>
          <a:xfrm>
            <a:off x="32095440" y="2670048"/>
            <a:ext cx="237744" cy="3658"/>
          </a:xfrm>
          <a:prstGeom prst="rect">
            <a:avLst/>
          </a:prstGeom>
          <a:solidFill>
            <a:srgbClr val="3A3F47"/>
          </a:solidFill>
          <a:ln w="12700">
            <a:solidFill>
              <a:srgbClr val="333333"/>
            </a:solidFill>
            <a:prstDash val="solid"/>
          </a:ln>
        </p:spPr>
      </p:sp>
      <p:sp>
        <p:nvSpPr>
          <p:cNvPr id="163" name="Shape 161"/>
          <p:cNvSpPr/>
          <p:nvPr/>
        </p:nvSpPr>
        <p:spPr>
          <a:xfrm>
            <a:off x="32329526" y="2670048"/>
            <a:ext cx="3658" cy="237744"/>
          </a:xfrm>
          <a:prstGeom prst="rect">
            <a:avLst/>
          </a:prstGeom>
          <a:solidFill>
            <a:srgbClr val="3A3F47"/>
          </a:solidFill>
          <a:ln w="12700">
            <a:solidFill>
              <a:srgbClr val="333333"/>
            </a:solidFill>
            <a:prstDash val="solid"/>
          </a:ln>
        </p:spPr>
      </p:sp>
      <p:sp>
        <p:nvSpPr>
          <p:cNvPr id="164" name="Shape 162"/>
          <p:cNvSpPr/>
          <p:nvPr/>
        </p:nvSpPr>
        <p:spPr>
          <a:xfrm>
            <a:off x="26224992" y="5647334"/>
            <a:ext cx="237744" cy="3658"/>
          </a:xfrm>
          <a:prstGeom prst="rect">
            <a:avLst/>
          </a:prstGeom>
          <a:solidFill>
            <a:srgbClr val="3A3F47"/>
          </a:solidFill>
          <a:ln w="12700">
            <a:solidFill>
              <a:srgbClr val="333333"/>
            </a:solidFill>
            <a:prstDash val="solid"/>
          </a:ln>
        </p:spPr>
      </p:sp>
      <p:sp>
        <p:nvSpPr>
          <p:cNvPr id="165" name="Shape 163"/>
          <p:cNvSpPr/>
          <p:nvPr/>
        </p:nvSpPr>
        <p:spPr>
          <a:xfrm>
            <a:off x="26224992" y="5413248"/>
            <a:ext cx="3658" cy="237744"/>
          </a:xfrm>
          <a:prstGeom prst="rect">
            <a:avLst/>
          </a:prstGeom>
          <a:solidFill>
            <a:srgbClr val="3A3F47"/>
          </a:solidFill>
          <a:ln w="12700">
            <a:solidFill>
              <a:srgbClr val="333333"/>
            </a:solidFill>
            <a:prstDash val="solid"/>
          </a:ln>
        </p:spPr>
      </p:sp>
      <p:sp>
        <p:nvSpPr>
          <p:cNvPr id="166" name="Shape 164"/>
          <p:cNvSpPr/>
          <p:nvPr/>
        </p:nvSpPr>
        <p:spPr>
          <a:xfrm>
            <a:off x="32095440" y="5647334"/>
            <a:ext cx="237744" cy="3658"/>
          </a:xfrm>
          <a:prstGeom prst="rect">
            <a:avLst/>
          </a:prstGeom>
          <a:solidFill>
            <a:srgbClr val="3A3F47"/>
          </a:solidFill>
          <a:ln w="12700">
            <a:solidFill>
              <a:srgbClr val="333333"/>
            </a:solidFill>
            <a:prstDash val="solid"/>
          </a:ln>
        </p:spPr>
      </p:sp>
      <p:sp>
        <p:nvSpPr>
          <p:cNvPr id="167" name="Shape 165"/>
          <p:cNvSpPr/>
          <p:nvPr/>
        </p:nvSpPr>
        <p:spPr>
          <a:xfrm>
            <a:off x="32329526" y="5413248"/>
            <a:ext cx="3658" cy="237744"/>
          </a:xfrm>
          <a:prstGeom prst="rect">
            <a:avLst/>
          </a:prstGeom>
          <a:solidFill>
            <a:srgbClr val="3A3F47"/>
          </a:solidFill>
          <a:ln w="12700">
            <a:solidFill>
              <a:srgbClr val="333333"/>
            </a:solidFill>
            <a:prstDash val="solid"/>
          </a:ln>
        </p:spPr>
      </p:sp>
      <p:sp>
        <p:nvSpPr>
          <p:cNvPr id="168" name="Text 166"/>
          <p:cNvSpPr txBox="1"/>
          <p:nvPr/>
        </p:nvSpPr>
        <p:spPr>
          <a:xfrm>
            <a:off x="26224992" y="3922776"/>
            <a:ext cx="6108192" cy="118872"/>
          </a:xfrm>
          <a:prstGeom prst="rect">
            <a:avLst/>
          </a:prstGeom>
          <a:noFill/>
          <a:ln/>
        </p:spPr>
        <p:txBody>
          <a:bodyPr wrap="square" lIns="0" tIns="0" rIns="0" bIns="0" rtlCol="0" anchor="t"/>
          <a:lstStyle/>
          <a:p>
            <a:pPr indent="0" marL="0">
              <a:buNone/>
            </a:pPr>
            <a:r>
              <a:rPr lang="en-US" sz="740" b="1" spc="140" kern="0" dirty="0">
                <a:solidFill>
                  <a:srgbClr val="525862"/>
                </a:solidFill>
                <a:latin typeface="Arial" pitchFamily="34" charset="0"/>
                <a:ea typeface="Arial" pitchFamily="34" charset="-122"/>
                <a:cs typeface="Arial" pitchFamily="34" charset="-120"/>
              </a:rPr>
              <a:t>DASHBOARD / IP</a:t>
            </a:r>
            <a:endParaRPr lang="en-US" sz="740" dirty="0"/>
          </a:p>
        </p:txBody>
      </p:sp>
      <p:sp>
        <p:nvSpPr>
          <p:cNvPr id="169" name="Text 167"/>
          <p:cNvSpPr txBox="1"/>
          <p:nvPr/>
        </p:nvSpPr>
        <p:spPr>
          <a:xfrm>
            <a:off x="26535888" y="4105656"/>
            <a:ext cx="5486400" cy="329184"/>
          </a:xfrm>
          <a:prstGeom prst="rect">
            <a:avLst/>
          </a:prstGeom>
          <a:noFill/>
          <a:ln/>
        </p:spPr>
        <p:txBody>
          <a:bodyPr wrap="square" lIns="0" tIns="0" rIns="0" bIns="0" rtlCol="0" anchor="t"/>
          <a:lstStyle/>
          <a:p>
            <a:pPr algn="ctr" indent="0" marL="0">
              <a:lnSpc>
                <a:spcPct val="112000"/>
              </a:lnSpc>
              <a:buNone/>
            </a:pPr>
            <a:r>
              <a:rPr lang="en-US" sz="760" i="1" dirty="0">
                <a:solidFill>
                  <a:srgbClr val="4A505A"/>
                </a:solidFill>
                <a:latin typeface="Arial" pitchFamily="34" charset="0"/>
                <a:ea typeface="Arial" pitchFamily="34" charset="-122"/>
                <a:cs typeface="Arial" pitchFamily="34" charset="-120"/>
              </a:rPr>
              <a:t>IP — dual-tone split across the fascia</a:t>
            </a:r>
            <a:endParaRPr lang="en-US" sz="760" dirty="0"/>
          </a:p>
        </p:txBody>
      </p:sp>
      <p:sp>
        <p:nvSpPr>
          <p:cNvPr id="170" name="Shape 168"/>
          <p:cNvSpPr/>
          <p:nvPr/>
        </p:nvSpPr>
        <p:spPr>
          <a:xfrm>
            <a:off x="26224992" y="5797296"/>
            <a:ext cx="6108192" cy="2980944"/>
          </a:xfrm>
          <a:prstGeom prst="rect">
            <a:avLst/>
          </a:prstGeom>
          <a:solidFill>
            <a:srgbClr val="14161A"/>
          </a:solidFill>
          <a:ln w="9525">
            <a:solidFill>
              <a:srgbClr val="262A30"/>
            </a:solidFill>
            <a:prstDash val="solid"/>
          </a:ln>
        </p:spPr>
      </p:sp>
      <p:sp>
        <p:nvSpPr>
          <p:cNvPr id="171" name="Shape 169"/>
          <p:cNvSpPr/>
          <p:nvPr/>
        </p:nvSpPr>
        <p:spPr>
          <a:xfrm>
            <a:off x="26224992" y="5797296"/>
            <a:ext cx="237744" cy="3658"/>
          </a:xfrm>
          <a:prstGeom prst="rect">
            <a:avLst/>
          </a:prstGeom>
          <a:solidFill>
            <a:srgbClr val="3A3F47"/>
          </a:solidFill>
          <a:ln w="12700">
            <a:solidFill>
              <a:srgbClr val="333333"/>
            </a:solidFill>
            <a:prstDash val="solid"/>
          </a:ln>
        </p:spPr>
      </p:sp>
      <p:sp>
        <p:nvSpPr>
          <p:cNvPr id="172" name="Shape 170"/>
          <p:cNvSpPr/>
          <p:nvPr/>
        </p:nvSpPr>
        <p:spPr>
          <a:xfrm>
            <a:off x="26224992" y="5797296"/>
            <a:ext cx="3658" cy="237744"/>
          </a:xfrm>
          <a:prstGeom prst="rect">
            <a:avLst/>
          </a:prstGeom>
          <a:solidFill>
            <a:srgbClr val="3A3F47"/>
          </a:solidFill>
          <a:ln w="12700">
            <a:solidFill>
              <a:srgbClr val="333333"/>
            </a:solidFill>
            <a:prstDash val="solid"/>
          </a:ln>
        </p:spPr>
      </p:sp>
      <p:sp>
        <p:nvSpPr>
          <p:cNvPr id="173" name="Shape 171"/>
          <p:cNvSpPr/>
          <p:nvPr/>
        </p:nvSpPr>
        <p:spPr>
          <a:xfrm>
            <a:off x="32095440" y="5797296"/>
            <a:ext cx="237744" cy="3658"/>
          </a:xfrm>
          <a:prstGeom prst="rect">
            <a:avLst/>
          </a:prstGeom>
          <a:solidFill>
            <a:srgbClr val="3A3F47"/>
          </a:solidFill>
          <a:ln w="12700">
            <a:solidFill>
              <a:srgbClr val="333333"/>
            </a:solidFill>
            <a:prstDash val="solid"/>
          </a:ln>
        </p:spPr>
      </p:sp>
      <p:sp>
        <p:nvSpPr>
          <p:cNvPr id="174" name="Shape 172"/>
          <p:cNvSpPr/>
          <p:nvPr/>
        </p:nvSpPr>
        <p:spPr>
          <a:xfrm>
            <a:off x="32329526" y="5797296"/>
            <a:ext cx="3658" cy="237744"/>
          </a:xfrm>
          <a:prstGeom prst="rect">
            <a:avLst/>
          </a:prstGeom>
          <a:solidFill>
            <a:srgbClr val="3A3F47"/>
          </a:solidFill>
          <a:ln w="12700">
            <a:solidFill>
              <a:srgbClr val="333333"/>
            </a:solidFill>
            <a:prstDash val="solid"/>
          </a:ln>
        </p:spPr>
      </p:sp>
      <p:sp>
        <p:nvSpPr>
          <p:cNvPr id="175" name="Shape 173"/>
          <p:cNvSpPr/>
          <p:nvPr/>
        </p:nvSpPr>
        <p:spPr>
          <a:xfrm>
            <a:off x="26224992" y="8774582"/>
            <a:ext cx="237744" cy="3658"/>
          </a:xfrm>
          <a:prstGeom prst="rect">
            <a:avLst/>
          </a:prstGeom>
          <a:solidFill>
            <a:srgbClr val="3A3F47"/>
          </a:solidFill>
          <a:ln w="12700">
            <a:solidFill>
              <a:srgbClr val="333333"/>
            </a:solidFill>
            <a:prstDash val="solid"/>
          </a:ln>
        </p:spPr>
      </p:sp>
      <p:sp>
        <p:nvSpPr>
          <p:cNvPr id="176" name="Shape 174"/>
          <p:cNvSpPr/>
          <p:nvPr/>
        </p:nvSpPr>
        <p:spPr>
          <a:xfrm>
            <a:off x="26224992" y="8540496"/>
            <a:ext cx="3658" cy="237744"/>
          </a:xfrm>
          <a:prstGeom prst="rect">
            <a:avLst/>
          </a:prstGeom>
          <a:solidFill>
            <a:srgbClr val="3A3F47"/>
          </a:solidFill>
          <a:ln w="12700">
            <a:solidFill>
              <a:srgbClr val="333333"/>
            </a:solidFill>
            <a:prstDash val="solid"/>
          </a:ln>
        </p:spPr>
      </p:sp>
      <p:sp>
        <p:nvSpPr>
          <p:cNvPr id="177" name="Shape 175"/>
          <p:cNvSpPr/>
          <p:nvPr/>
        </p:nvSpPr>
        <p:spPr>
          <a:xfrm>
            <a:off x="32095440" y="8774582"/>
            <a:ext cx="237744" cy="3658"/>
          </a:xfrm>
          <a:prstGeom prst="rect">
            <a:avLst/>
          </a:prstGeom>
          <a:solidFill>
            <a:srgbClr val="3A3F47"/>
          </a:solidFill>
          <a:ln w="12700">
            <a:solidFill>
              <a:srgbClr val="333333"/>
            </a:solidFill>
            <a:prstDash val="solid"/>
          </a:ln>
        </p:spPr>
      </p:sp>
      <p:sp>
        <p:nvSpPr>
          <p:cNvPr id="178" name="Shape 176"/>
          <p:cNvSpPr/>
          <p:nvPr/>
        </p:nvSpPr>
        <p:spPr>
          <a:xfrm>
            <a:off x="32329526" y="8540496"/>
            <a:ext cx="3658" cy="237744"/>
          </a:xfrm>
          <a:prstGeom prst="rect">
            <a:avLst/>
          </a:prstGeom>
          <a:solidFill>
            <a:srgbClr val="3A3F47"/>
          </a:solidFill>
          <a:ln w="12700">
            <a:solidFill>
              <a:srgbClr val="333333"/>
            </a:solidFill>
            <a:prstDash val="solid"/>
          </a:ln>
        </p:spPr>
      </p:sp>
      <p:sp>
        <p:nvSpPr>
          <p:cNvPr id="179" name="Text 177"/>
          <p:cNvSpPr txBox="1"/>
          <p:nvPr/>
        </p:nvSpPr>
        <p:spPr>
          <a:xfrm>
            <a:off x="26224992" y="7050024"/>
            <a:ext cx="6108192" cy="118872"/>
          </a:xfrm>
          <a:prstGeom prst="rect">
            <a:avLst/>
          </a:prstGeom>
          <a:noFill/>
          <a:ln/>
        </p:spPr>
        <p:txBody>
          <a:bodyPr wrap="square" lIns="0" tIns="0" rIns="0" bIns="0" rtlCol="0" anchor="t"/>
          <a:lstStyle/>
          <a:p>
            <a:pPr indent="0" marL="0">
              <a:buNone/>
            </a:pPr>
            <a:r>
              <a:rPr lang="en-US" sz="740" b="1" spc="140" kern="0" dirty="0">
                <a:solidFill>
                  <a:srgbClr val="525862"/>
                </a:solidFill>
                <a:latin typeface="Arial" pitchFamily="34" charset="0"/>
                <a:ea typeface="Arial" pitchFamily="34" charset="-122"/>
                <a:cs typeface="Arial" pitchFamily="34" charset="-120"/>
              </a:rPr>
              <a:t>CABIN DETAIL</a:t>
            </a:r>
            <a:endParaRPr lang="en-US" sz="740" dirty="0"/>
          </a:p>
        </p:txBody>
      </p:sp>
      <p:sp>
        <p:nvSpPr>
          <p:cNvPr id="180" name="Text 178"/>
          <p:cNvSpPr txBox="1"/>
          <p:nvPr/>
        </p:nvSpPr>
        <p:spPr>
          <a:xfrm>
            <a:off x="26535888" y="7232904"/>
            <a:ext cx="5486400" cy="329184"/>
          </a:xfrm>
          <a:prstGeom prst="rect">
            <a:avLst/>
          </a:prstGeom>
          <a:noFill/>
          <a:ln/>
        </p:spPr>
        <p:txBody>
          <a:bodyPr wrap="square" lIns="0" tIns="0" rIns="0" bIns="0" rtlCol="0" anchor="t"/>
          <a:lstStyle/>
          <a:p>
            <a:pPr algn="ctr" indent="0" marL="0">
              <a:lnSpc>
                <a:spcPct val="112000"/>
              </a:lnSpc>
              <a:buNone/>
            </a:pPr>
            <a:r>
              <a:rPr lang="en-US" sz="760" i="1" dirty="0">
                <a:solidFill>
                  <a:srgbClr val="4A505A"/>
                </a:solidFill>
                <a:latin typeface="Arial" pitchFamily="34" charset="0"/>
                <a:ea typeface="Arial" pitchFamily="34" charset="-122"/>
                <a:cs typeface="Arial" pitchFamily="34" charset="-120"/>
              </a:rPr>
              <a:t>front seat cushion structure; ambient lighting at night</a:t>
            </a:r>
            <a:endParaRPr lang="en-US" sz="760" dirty="0"/>
          </a:p>
        </p:txBody>
      </p:sp>
      <p:sp>
        <p:nvSpPr>
          <p:cNvPr id="181" name="Text 179"/>
          <p:cNvSpPr txBox="1"/>
          <p:nvPr/>
        </p:nvSpPr>
        <p:spPr>
          <a:xfrm>
            <a:off x="26224992" y="8961120"/>
            <a:ext cx="6108192" cy="118872"/>
          </a:xfrm>
          <a:prstGeom prst="rect">
            <a:avLst/>
          </a:prstGeom>
          <a:noFill/>
          <a:ln/>
        </p:spPr>
        <p:txBody>
          <a:bodyPr wrap="square" lIns="0" tIns="0" rIns="0" bIns="0" rtlCol="0" anchor="t"/>
          <a:lstStyle/>
          <a:p>
            <a:pPr indent="0" marL="0">
              <a:buNone/>
            </a:pPr>
            <a:r>
              <a:rPr lang="en-US" sz="680" b="1" spc="140" kern="0" dirty="0">
                <a:solidFill>
                  <a:srgbClr val="5E636A"/>
                </a:solidFill>
                <a:latin typeface="Arial" pitchFamily="34" charset="0"/>
                <a:ea typeface="Arial" pitchFamily="34" charset="-122"/>
                <a:cs typeface="Arial" pitchFamily="34" charset="-120"/>
              </a:rPr>
              <a:t>SCREENS</a:t>
            </a:r>
            <a:endParaRPr lang="en-US" sz="680" dirty="0"/>
          </a:p>
        </p:txBody>
      </p:sp>
      <p:sp>
        <p:nvSpPr>
          <p:cNvPr id="182" name="Text 180"/>
          <p:cNvSpPr txBox="1"/>
          <p:nvPr/>
        </p:nvSpPr>
        <p:spPr>
          <a:xfrm>
            <a:off x="26224992" y="9089136"/>
            <a:ext cx="6108192" cy="256032"/>
          </a:xfrm>
          <a:prstGeom prst="rect">
            <a:avLst/>
          </a:prstGeom>
          <a:noFill/>
          <a:ln/>
        </p:spPr>
        <p:txBody>
          <a:bodyPr wrap="square" lIns="0" tIns="0" rIns="0" bIns="0" rtlCol="0" anchor="t"/>
          <a:lstStyle/>
          <a:p>
            <a:pPr indent="0" marL="0">
              <a:lnSpc>
                <a:spcPct val="108000"/>
              </a:lnSpc>
              <a:buNone/>
            </a:pPr>
            <a:r>
              <a:rPr lang="en-US" sz="800" dirty="0">
                <a:solidFill>
                  <a:srgbClr val="C6C9CE"/>
                </a:solidFill>
                <a:latin typeface="Arial" pitchFamily="34" charset="0"/>
                <a:ea typeface="Arial" pitchFamily="34" charset="-122"/>
                <a:cs typeface="Arial" pitchFamily="34" charset="-120"/>
              </a:rPr>
              <a:t>14.6" on ADiGO 5.0, with GSD highway navigation assist and smart parking.</a:t>
            </a:r>
            <a:endParaRPr lang="en-US" sz="800" dirty="0"/>
          </a:p>
        </p:txBody>
      </p:sp>
      <p:sp>
        <p:nvSpPr>
          <p:cNvPr id="183" name="Text 181"/>
          <p:cNvSpPr txBox="1"/>
          <p:nvPr/>
        </p:nvSpPr>
        <p:spPr>
          <a:xfrm>
            <a:off x="26224992" y="9345168"/>
            <a:ext cx="6108192" cy="118872"/>
          </a:xfrm>
          <a:prstGeom prst="rect">
            <a:avLst/>
          </a:prstGeom>
          <a:noFill/>
          <a:ln/>
        </p:spPr>
        <p:txBody>
          <a:bodyPr wrap="square" lIns="0" tIns="0" rIns="0" bIns="0" rtlCol="0" anchor="t"/>
          <a:lstStyle/>
          <a:p>
            <a:pPr indent="0" marL="0">
              <a:buNone/>
            </a:pPr>
            <a:r>
              <a:rPr lang="en-US" sz="680" b="1" spc="140" kern="0" dirty="0">
                <a:solidFill>
                  <a:srgbClr val="5E636A"/>
                </a:solidFill>
                <a:latin typeface="Arial" pitchFamily="34" charset="0"/>
                <a:ea typeface="Arial" pitchFamily="34" charset="-122"/>
                <a:cs typeface="Arial" pitchFamily="34" charset="-120"/>
              </a:rPr>
              <a:t>MATERIAL · COLOUR</a:t>
            </a:r>
            <a:endParaRPr lang="en-US" sz="680" dirty="0"/>
          </a:p>
        </p:txBody>
      </p:sp>
      <p:sp>
        <p:nvSpPr>
          <p:cNvPr id="184" name="Text 182"/>
          <p:cNvSpPr txBox="1"/>
          <p:nvPr/>
        </p:nvSpPr>
        <p:spPr>
          <a:xfrm>
            <a:off x="26224992" y="9473184"/>
            <a:ext cx="6108192" cy="256032"/>
          </a:xfrm>
          <a:prstGeom prst="rect">
            <a:avLst/>
          </a:prstGeom>
          <a:noFill/>
          <a:ln/>
        </p:spPr>
        <p:txBody>
          <a:bodyPr wrap="square" lIns="0" tIns="0" rIns="0" bIns="0" rtlCol="0" anchor="t"/>
          <a:lstStyle/>
          <a:p>
            <a:pPr indent="0" marL="0">
              <a:lnSpc>
                <a:spcPct val="108000"/>
              </a:lnSpc>
              <a:buNone/>
            </a:pPr>
            <a:r>
              <a:rPr lang="en-US" sz="800" dirty="0">
                <a:solidFill>
                  <a:srgbClr val="C6C9CE"/>
                </a:solidFill>
                <a:latin typeface="Arial" pitchFamily="34" charset="0"/>
                <a:ea typeface="Arial" pitchFamily="34" charset="-122"/>
                <a:cs typeface="Arial" pitchFamily="34" charset="-120"/>
              </a:rPr>
              <a:t>Dual-tone split cabin, 32-colour ambient lighting. Colourway names not published.</a:t>
            </a:r>
            <a:endParaRPr lang="en-US" sz="800" dirty="0"/>
          </a:p>
        </p:txBody>
      </p:sp>
      <p:sp>
        <p:nvSpPr>
          <p:cNvPr id="185" name="Text 183"/>
          <p:cNvSpPr txBox="1"/>
          <p:nvPr/>
        </p:nvSpPr>
        <p:spPr>
          <a:xfrm>
            <a:off x="26224992" y="9729216"/>
            <a:ext cx="6108192" cy="118872"/>
          </a:xfrm>
          <a:prstGeom prst="rect">
            <a:avLst/>
          </a:prstGeom>
          <a:noFill/>
          <a:ln/>
        </p:spPr>
        <p:txBody>
          <a:bodyPr wrap="square" lIns="0" tIns="0" rIns="0" bIns="0" rtlCol="0" anchor="t"/>
          <a:lstStyle/>
          <a:p>
            <a:pPr indent="0" marL="0">
              <a:buNone/>
            </a:pPr>
            <a:r>
              <a:rPr lang="en-US" sz="680" b="1" spc="140" kern="0" dirty="0">
                <a:solidFill>
                  <a:srgbClr val="5E636A"/>
                </a:solidFill>
                <a:latin typeface="Arial" pitchFamily="34" charset="0"/>
                <a:ea typeface="Arial" pitchFamily="34" charset="-122"/>
                <a:cs typeface="Arial" pitchFamily="34" charset="-120"/>
              </a:rPr>
              <a:t>SEAT · COMFORT</a:t>
            </a:r>
            <a:endParaRPr lang="en-US" sz="680" dirty="0"/>
          </a:p>
        </p:txBody>
      </p:sp>
      <p:sp>
        <p:nvSpPr>
          <p:cNvPr id="186" name="Text 184"/>
          <p:cNvSpPr txBox="1"/>
          <p:nvPr/>
        </p:nvSpPr>
        <p:spPr>
          <a:xfrm>
            <a:off x="26224992" y="9857232"/>
            <a:ext cx="6108192" cy="256032"/>
          </a:xfrm>
          <a:prstGeom prst="rect">
            <a:avLst/>
          </a:prstGeom>
          <a:noFill/>
          <a:ln/>
        </p:spPr>
        <p:txBody>
          <a:bodyPr wrap="square" lIns="0" tIns="0" rIns="0" bIns="0" rtlCol="0" anchor="t"/>
          <a:lstStyle/>
          <a:p>
            <a:pPr indent="0" marL="0">
              <a:lnSpc>
                <a:spcPct val="108000"/>
              </a:lnSpc>
              <a:buNone/>
            </a:pPr>
            <a:r>
              <a:rPr lang="en-US" sz="800" dirty="0">
                <a:solidFill>
                  <a:srgbClr val="C6C9CE"/>
                </a:solidFill>
                <a:latin typeface="Arial" pitchFamily="34" charset="0"/>
                <a:ea typeface="Arial" pitchFamily="34" charset="-122"/>
                <a:cs typeface="Arial" pitchFamily="34" charset="-120"/>
              </a:rPr>
              <a:t>“Eight-layer comfort sofa” fronts — 8-point massage, ventilation, heating, memory.</a:t>
            </a:r>
            <a:endParaRPr lang="en-US" sz="800" dirty="0"/>
          </a:p>
        </p:txBody>
      </p:sp>
      <p:sp>
        <p:nvSpPr>
          <p:cNvPr id="187" name="Text 185"/>
          <p:cNvSpPr txBox="1"/>
          <p:nvPr/>
        </p:nvSpPr>
        <p:spPr>
          <a:xfrm>
            <a:off x="26224992" y="10113264"/>
            <a:ext cx="6108192" cy="118872"/>
          </a:xfrm>
          <a:prstGeom prst="rect">
            <a:avLst/>
          </a:prstGeom>
          <a:noFill/>
          <a:ln/>
        </p:spPr>
        <p:txBody>
          <a:bodyPr wrap="square" lIns="0" tIns="0" rIns="0" bIns="0" rtlCol="0" anchor="t"/>
          <a:lstStyle/>
          <a:p>
            <a:pPr indent="0" marL="0">
              <a:buNone/>
            </a:pPr>
            <a:r>
              <a:rPr lang="en-US" sz="680" b="1" spc="140" kern="0" dirty="0">
                <a:solidFill>
                  <a:srgbClr val="5E636A"/>
                </a:solidFill>
                <a:latin typeface="Arial" pitchFamily="34" charset="0"/>
                <a:ea typeface="Arial" pitchFamily="34" charset="-122"/>
                <a:cs typeface="Arial" pitchFamily="34" charset="-120"/>
              </a:rPr>
              <a:t>FOR WHOM</a:t>
            </a:r>
            <a:endParaRPr lang="en-US" sz="680" dirty="0"/>
          </a:p>
        </p:txBody>
      </p:sp>
      <p:sp>
        <p:nvSpPr>
          <p:cNvPr id="188" name="Text 186"/>
          <p:cNvSpPr txBox="1"/>
          <p:nvPr/>
        </p:nvSpPr>
        <p:spPr>
          <a:xfrm>
            <a:off x="26224992" y="10241280"/>
            <a:ext cx="6108192" cy="256032"/>
          </a:xfrm>
          <a:prstGeom prst="rect">
            <a:avLst/>
          </a:prstGeom>
          <a:noFill/>
          <a:ln/>
        </p:spPr>
        <p:txBody>
          <a:bodyPr wrap="square" lIns="0" tIns="0" rIns="0" bIns="0" rtlCol="0" anchor="t"/>
          <a:lstStyle/>
          <a:p>
            <a:pPr indent="0" marL="0">
              <a:lnSpc>
                <a:spcPct val="108000"/>
              </a:lnSpc>
              <a:buNone/>
            </a:pPr>
            <a:r>
              <a:rPr lang="en-US" sz="800" dirty="0">
                <a:solidFill>
                  <a:srgbClr val="C6C9CE"/>
                </a:solidFill>
                <a:latin typeface="Arial" pitchFamily="34" charset="0"/>
                <a:ea typeface="Arial" pitchFamily="34" charset="-122"/>
                <a:cs typeface="Arial" pitchFamily="34" charset="-120"/>
              </a:rPr>
              <a:t>Range-anxious family buyer. Two powertrains, one identical cabin.</a:t>
            </a:r>
            <a:endParaRPr lang="en-US" sz="800" dirty="0"/>
          </a:p>
        </p:txBody>
      </p:sp>
      <p:sp>
        <p:nvSpPr>
          <p:cNvPr id="189" name="Text 187"/>
          <p:cNvSpPr txBox="1"/>
          <p:nvPr/>
        </p:nvSpPr>
        <p:spPr>
          <a:xfrm>
            <a:off x="32644080" y="1956816"/>
            <a:ext cx="4736592" cy="274320"/>
          </a:xfrm>
          <a:prstGeom prst="rect">
            <a:avLst/>
          </a:prstGeom>
          <a:noFill/>
          <a:ln/>
        </p:spPr>
        <p:txBody>
          <a:bodyPr wrap="square" lIns="0" tIns="0" rIns="0" bIns="0" rtlCol="0" anchor="t"/>
          <a:lstStyle/>
          <a:p>
            <a:pPr indent="0" marL="0">
              <a:buNone/>
            </a:pPr>
            <a:r>
              <a:rPr lang="en-US" sz="1300" b="1" spc="70" kern="0" dirty="0">
                <a:solidFill>
                  <a:srgbClr val="F4F2EE"/>
                </a:solidFill>
                <a:latin typeface="Arial" pitchFamily="34" charset="0"/>
                <a:ea typeface="Arial" pitchFamily="34" charset="-122"/>
                <a:cs typeface="Arial" pitchFamily="34" charset="-120"/>
              </a:rPr>
              <a:t>AION V</a:t>
            </a:r>
            <a:endParaRPr lang="en-US" sz="1300" dirty="0"/>
          </a:p>
        </p:txBody>
      </p:sp>
      <p:sp>
        <p:nvSpPr>
          <p:cNvPr id="190" name="Shape 188"/>
          <p:cNvSpPr/>
          <p:nvPr/>
        </p:nvSpPr>
        <p:spPr>
          <a:xfrm>
            <a:off x="37860732" y="1984248"/>
            <a:ext cx="891540" cy="192024"/>
          </a:xfrm>
          <a:prstGeom prst="roundRect">
            <a:avLst>
              <a:gd name="adj" fmla="val 47619"/>
            </a:avLst>
          </a:prstGeom>
          <a:solidFill>
            <a:srgbClr val="0A0B0D"/>
          </a:solidFill>
          <a:ln w="9525">
            <a:solidFill>
              <a:srgbClr val="A9AEB6"/>
            </a:solidFill>
            <a:prstDash val="solid"/>
          </a:ln>
        </p:spPr>
      </p:sp>
      <p:sp>
        <p:nvSpPr>
          <p:cNvPr id="191" name="Text 189"/>
          <p:cNvSpPr txBox="1"/>
          <p:nvPr/>
        </p:nvSpPr>
        <p:spPr>
          <a:xfrm>
            <a:off x="37860732" y="2025396"/>
            <a:ext cx="891540" cy="137160"/>
          </a:xfrm>
          <a:prstGeom prst="rect">
            <a:avLst/>
          </a:prstGeom>
          <a:noFill/>
          <a:ln/>
        </p:spPr>
        <p:txBody>
          <a:bodyPr wrap="square" lIns="0" tIns="0" rIns="0" bIns="0" rtlCol="0" anchor="t"/>
          <a:lstStyle/>
          <a:p>
            <a:pPr algn="ctr" indent="0" marL="0">
              <a:buNone/>
            </a:pPr>
            <a:r>
              <a:rPr lang="en-US" sz="660" b="1" spc="100" kern="0" dirty="0">
                <a:solidFill>
                  <a:srgbClr val="A9AEB6"/>
                </a:solidFill>
                <a:latin typeface="Arial" pitchFamily="34" charset="0"/>
                <a:ea typeface="Arial" pitchFamily="34" charset="-122"/>
                <a:cs typeface="Arial" pitchFamily="34" charset="-120"/>
              </a:rPr>
              <a:t>UPPER-MID</a:t>
            </a:r>
            <a:endParaRPr lang="en-US" sz="660" dirty="0"/>
          </a:p>
        </p:txBody>
      </p:sp>
      <p:sp>
        <p:nvSpPr>
          <p:cNvPr id="192" name="Text 190"/>
          <p:cNvSpPr txBox="1"/>
          <p:nvPr/>
        </p:nvSpPr>
        <p:spPr>
          <a:xfrm>
            <a:off x="32644080" y="2267712"/>
            <a:ext cx="6108192" cy="182880"/>
          </a:xfrm>
          <a:prstGeom prst="rect">
            <a:avLst/>
          </a:prstGeom>
          <a:noFill/>
          <a:ln/>
        </p:spPr>
        <p:txBody>
          <a:bodyPr wrap="square" lIns="0" tIns="0" rIns="0" bIns="0" rtlCol="0" anchor="t"/>
          <a:lstStyle/>
          <a:p>
            <a:pPr indent="0" marL="0">
              <a:buNone/>
            </a:pPr>
            <a:r>
              <a:rPr lang="en-US" sz="760" dirty="0">
                <a:solidFill>
                  <a:srgbClr val="9DA1A8"/>
                </a:solidFill>
                <a:latin typeface="Arial" pitchFamily="34" charset="0"/>
                <a:ea typeface="Arial" pitchFamily="34" charset="-122"/>
                <a:cs typeface="Arial" pitchFamily="34" charset="-120"/>
              </a:rPr>
              <a:t>Mid-size SUV · BEV · 2nd generation 2024 · the export flagship</a:t>
            </a:r>
            <a:endParaRPr lang="en-US" sz="760" dirty="0"/>
          </a:p>
        </p:txBody>
      </p:sp>
      <p:sp>
        <p:nvSpPr>
          <p:cNvPr id="193" name="Shape 191"/>
          <p:cNvSpPr/>
          <p:nvPr/>
        </p:nvSpPr>
        <p:spPr>
          <a:xfrm>
            <a:off x="32644080" y="2542032"/>
            <a:ext cx="6108192" cy="12802"/>
          </a:xfrm>
          <a:prstGeom prst="rect">
            <a:avLst/>
          </a:prstGeom>
          <a:solidFill>
            <a:srgbClr val="5C93FF"/>
          </a:solidFill>
          <a:ln w="12700">
            <a:solidFill>
              <a:srgbClr val="333333"/>
            </a:solidFill>
            <a:prstDash val="solid"/>
          </a:ln>
        </p:spPr>
      </p:sp>
      <p:sp>
        <p:nvSpPr>
          <p:cNvPr id="194" name="Shape 192"/>
          <p:cNvSpPr/>
          <p:nvPr/>
        </p:nvSpPr>
        <p:spPr>
          <a:xfrm>
            <a:off x="32644080" y="2670048"/>
            <a:ext cx="6108192" cy="2980944"/>
          </a:xfrm>
          <a:prstGeom prst="rect">
            <a:avLst/>
          </a:prstGeom>
          <a:solidFill>
            <a:srgbClr val="14161A"/>
          </a:solidFill>
          <a:ln w="9525">
            <a:solidFill>
              <a:srgbClr val="262A30"/>
            </a:solidFill>
            <a:prstDash val="solid"/>
          </a:ln>
        </p:spPr>
      </p:sp>
      <p:sp>
        <p:nvSpPr>
          <p:cNvPr id="195" name="Shape 193"/>
          <p:cNvSpPr/>
          <p:nvPr/>
        </p:nvSpPr>
        <p:spPr>
          <a:xfrm>
            <a:off x="32644080" y="2670048"/>
            <a:ext cx="237744" cy="3658"/>
          </a:xfrm>
          <a:prstGeom prst="rect">
            <a:avLst/>
          </a:prstGeom>
          <a:solidFill>
            <a:srgbClr val="3A3F47"/>
          </a:solidFill>
          <a:ln w="12700">
            <a:solidFill>
              <a:srgbClr val="333333"/>
            </a:solidFill>
            <a:prstDash val="solid"/>
          </a:ln>
        </p:spPr>
      </p:sp>
      <p:sp>
        <p:nvSpPr>
          <p:cNvPr id="196" name="Shape 194"/>
          <p:cNvSpPr/>
          <p:nvPr/>
        </p:nvSpPr>
        <p:spPr>
          <a:xfrm>
            <a:off x="32644080" y="2670048"/>
            <a:ext cx="3658" cy="237744"/>
          </a:xfrm>
          <a:prstGeom prst="rect">
            <a:avLst/>
          </a:prstGeom>
          <a:solidFill>
            <a:srgbClr val="3A3F47"/>
          </a:solidFill>
          <a:ln w="12700">
            <a:solidFill>
              <a:srgbClr val="333333"/>
            </a:solidFill>
            <a:prstDash val="solid"/>
          </a:ln>
        </p:spPr>
      </p:sp>
      <p:sp>
        <p:nvSpPr>
          <p:cNvPr id="197" name="Shape 195"/>
          <p:cNvSpPr/>
          <p:nvPr/>
        </p:nvSpPr>
        <p:spPr>
          <a:xfrm>
            <a:off x="38514528" y="2670048"/>
            <a:ext cx="237744" cy="3658"/>
          </a:xfrm>
          <a:prstGeom prst="rect">
            <a:avLst/>
          </a:prstGeom>
          <a:solidFill>
            <a:srgbClr val="3A3F47"/>
          </a:solidFill>
          <a:ln w="12700">
            <a:solidFill>
              <a:srgbClr val="333333"/>
            </a:solidFill>
            <a:prstDash val="solid"/>
          </a:ln>
        </p:spPr>
      </p:sp>
      <p:sp>
        <p:nvSpPr>
          <p:cNvPr id="198" name="Shape 196"/>
          <p:cNvSpPr/>
          <p:nvPr/>
        </p:nvSpPr>
        <p:spPr>
          <a:xfrm>
            <a:off x="38748614" y="2670048"/>
            <a:ext cx="3658" cy="237744"/>
          </a:xfrm>
          <a:prstGeom prst="rect">
            <a:avLst/>
          </a:prstGeom>
          <a:solidFill>
            <a:srgbClr val="3A3F47"/>
          </a:solidFill>
          <a:ln w="12700">
            <a:solidFill>
              <a:srgbClr val="333333"/>
            </a:solidFill>
            <a:prstDash val="solid"/>
          </a:ln>
        </p:spPr>
      </p:sp>
      <p:sp>
        <p:nvSpPr>
          <p:cNvPr id="199" name="Shape 197"/>
          <p:cNvSpPr/>
          <p:nvPr/>
        </p:nvSpPr>
        <p:spPr>
          <a:xfrm>
            <a:off x="32644080" y="5647334"/>
            <a:ext cx="237744" cy="3658"/>
          </a:xfrm>
          <a:prstGeom prst="rect">
            <a:avLst/>
          </a:prstGeom>
          <a:solidFill>
            <a:srgbClr val="3A3F47"/>
          </a:solidFill>
          <a:ln w="12700">
            <a:solidFill>
              <a:srgbClr val="333333"/>
            </a:solidFill>
            <a:prstDash val="solid"/>
          </a:ln>
        </p:spPr>
      </p:sp>
      <p:sp>
        <p:nvSpPr>
          <p:cNvPr id="200" name="Shape 198"/>
          <p:cNvSpPr/>
          <p:nvPr/>
        </p:nvSpPr>
        <p:spPr>
          <a:xfrm>
            <a:off x="32644080" y="5413248"/>
            <a:ext cx="3658" cy="237744"/>
          </a:xfrm>
          <a:prstGeom prst="rect">
            <a:avLst/>
          </a:prstGeom>
          <a:solidFill>
            <a:srgbClr val="3A3F47"/>
          </a:solidFill>
          <a:ln w="12700">
            <a:solidFill>
              <a:srgbClr val="333333"/>
            </a:solidFill>
            <a:prstDash val="solid"/>
          </a:ln>
        </p:spPr>
      </p:sp>
      <p:sp>
        <p:nvSpPr>
          <p:cNvPr id="201" name="Shape 199"/>
          <p:cNvSpPr/>
          <p:nvPr/>
        </p:nvSpPr>
        <p:spPr>
          <a:xfrm>
            <a:off x="38514528" y="5647334"/>
            <a:ext cx="237744" cy="3658"/>
          </a:xfrm>
          <a:prstGeom prst="rect">
            <a:avLst/>
          </a:prstGeom>
          <a:solidFill>
            <a:srgbClr val="3A3F47"/>
          </a:solidFill>
          <a:ln w="12700">
            <a:solidFill>
              <a:srgbClr val="333333"/>
            </a:solidFill>
            <a:prstDash val="solid"/>
          </a:ln>
        </p:spPr>
      </p:sp>
      <p:sp>
        <p:nvSpPr>
          <p:cNvPr id="202" name="Shape 200"/>
          <p:cNvSpPr/>
          <p:nvPr/>
        </p:nvSpPr>
        <p:spPr>
          <a:xfrm>
            <a:off x="38748614" y="5413248"/>
            <a:ext cx="3658" cy="237744"/>
          </a:xfrm>
          <a:prstGeom prst="rect">
            <a:avLst/>
          </a:prstGeom>
          <a:solidFill>
            <a:srgbClr val="3A3F47"/>
          </a:solidFill>
          <a:ln w="12700">
            <a:solidFill>
              <a:srgbClr val="333333"/>
            </a:solidFill>
            <a:prstDash val="solid"/>
          </a:ln>
        </p:spPr>
      </p:sp>
      <p:sp>
        <p:nvSpPr>
          <p:cNvPr id="203" name="Text 201"/>
          <p:cNvSpPr txBox="1"/>
          <p:nvPr/>
        </p:nvSpPr>
        <p:spPr>
          <a:xfrm>
            <a:off x="32644080" y="3922776"/>
            <a:ext cx="6108192" cy="118872"/>
          </a:xfrm>
          <a:prstGeom prst="rect">
            <a:avLst/>
          </a:prstGeom>
          <a:noFill/>
          <a:ln/>
        </p:spPr>
        <p:txBody>
          <a:bodyPr wrap="square" lIns="0" tIns="0" rIns="0" bIns="0" rtlCol="0" anchor="t"/>
          <a:lstStyle/>
          <a:p>
            <a:pPr indent="0" marL="0">
              <a:buNone/>
            </a:pPr>
            <a:r>
              <a:rPr lang="en-US" sz="740" b="1" spc="140" kern="0" dirty="0">
                <a:solidFill>
                  <a:srgbClr val="525862"/>
                </a:solidFill>
                <a:latin typeface="Arial" pitchFamily="34" charset="0"/>
                <a:ea typeface="Arial" pitchFamily="34" charset="-122"/>
                <a:cs typeface="Arial" pitchFamily="34" charset="-120"/>
              </a:rPr>
              <a:t>DASHBOARD / IP</a:t>
            </a:r>
            <a:endParaRPr lang="en-US" sz="740" dirty="0"/>
          </a:p>
        </p:txBody>
      </p:sp>
      <p:sp>
        <p:nvSpPr>
          <p:cNvPr id="204" name="Text 202"/>
          <p:cNvSpPr txBox="1"/>
          <p:nvPr/>
        </p:nvSpPr>
        <p:spPr>
          <a:xfrm>
            <a:off x="32954976" y="4105656"/>
            <a:ext cx="5486400" cy="329184"/>
          </a:xfrm>
          <a:prstGeom prst="rect">
            <a:avLst/>
          </a:prstGeom>
          <a:noFill/>
          <a:ln/>
        </p:spPr>
        <p:txBody>
          <a:bodyPr wrap="square" lIns="0" tIns="0" rIns="0" bIns="0" rtlCol="0" anchor="t"/>
          <a:lstStyle/>
          <a:p>
            <a:pPr algn="ctr" indent="0" marL="0">
              <a:lnSpc>
                <a:spcPct val="112000"/>
              </a:lnSpc>
              <a:buNone/>
            </a:pPr>
            <a:r>
              <a:rPr lang="en-US" sz="760" i="1" dirty="0">
                <a:solidFill>
                  <a:srgbClr val="4A505A"/>
                </a:solidFill>
                <a:latin typeface="Arial" pitchFamily="34" charset="0"/>
                <a:ea typeface="Arial" pitchFamily="34" charset="-122"/>
                <a:cs typeface="Arial" pitchFamily="34" charset="-120"/>
              </a:rPr>
              <a:t>IP — black standard trim</a:t>
            </a:r>
            <a:endParaRPr lang="en-US" sz="760" dirty="0"/>
          </a:p>
        </p:txBody>
      </p:sp>
      <p:sp>
        <p:nvSpPr>
          <p:cNvPr id="205" name="Shape 203"/>
          <p:cNvSpPr/>
          <p:nvPr/>
        </p:nvSpPr>
        <p:spPr>
          <a:xfrm>
            <a:off x="32644080" y="5797296"/>
            <a:ext cx="6108192" cy="2980944"/>
          </a:xfrm>
          <a:prstGeom prst="rect">
            <a:avLst/>
          </a:prstGeom>
          <a:solidFill>
            <a:srgbClr val="14161A"/>
          </a:solidFill>
          <a:ln w="9525">
            <a:solidFill>
              <a:srgbClr val="262A30"/>
            </a:solidFill>
            <a:prstDash val="solid"/>
          </a:ln>
        </p:spPr>
      </p:sp>
      <p:sp>
        <p:nvSpPr>
          <p:cNvPr id="206" name="Shape 204"/>
          <p:cNvSpPr/>
          <p:nvPr/>
        </p:nvSpPr>
        <p:spPr>
          <a:xfrm>
            <a:off x="32644080" y="5797296"/>
            <a:ext cx="237744" cy="3658"/>
          </a:xfrm>
          <a:prstGeom prst="rect">
            <a:avLst/>
          </a:prstGeom>
          <a:solidFill>
            <a:srgbClr val="3A3F47"/>
          </a:solidFill>
          <a:ln w="12700">
            <a:solidFill>
              <a:srgbClr val="333333"/>
            </a:solidFill>
            <a:prstDash val="solid"/>
          </a:ln>
        </p:spPr>
      </p:sp>
      <p:sp>
        <p:nvSpPr>
          <p:cNvPr id="207" name="Shape 205"/>
          <p:cNvSpPr/>
          <p:nvPr/>
        </p:nvSpPr>
        <p:spPr>
          <a:xfrm>
            <a:off x="32644080" y="5797296"/>
            <a:ext cx="3658" cy="237744"/>
          </a:xfrm>
          <a:prstGeom prst="rect">
            <a:avLst/>
          </a:prstGeom>
          <a:solidFill>
            <a:srgbClr val="3A3F47"/>
          </a:solidFill>
          <a:ln w="12700">
            <a:solidFill>
              <a:srgbClr val="333333"/>
            </a:solidFill>
            <a:prstDash val="solid"/>
          </a:ln>
        </p:spPr>
      </p:sp>
      <p:sp>
        <p:nvSpPr>
          <p:cNvPr id="208" name="Shape 206"/>
          <p:cNvSpPr/>
          <p:nvPr/>
        </p:nvSpPr>
        <p:spPr>
          <a:xfrm>
            <a:off x="38514528" y="5797296"/>
            <a:ext cx="237744" cy="3658"/>
          </a:xfrm>
          <a:prstGeom prst="rect">
            <a:avLst/>
          </a:prstGeom>
          <a:solidFill>
            <a:srgbClr val="3A3F47"/>
          </a:solidFill>
          <a:ln w="12700">
            <a:solidFill>
              <a:srgbClr val="333333"/>
            </a:solidFill>
            <a:prstDash val="solid"/>
          </a:ln>
        </p:spPr>
      </p:sp>
      <p:sp>
        <p:nvSpPr>
          <p:cNvPr id="209" name="Shape 207"/>
          <p:cNvSpPr/>
          <p:nvPr/>
        </p:nvSpPr>
        <p:spPr>
          <a:xfrm>
            <a:off x="38748614" y="5797296"/>
            <a:ext cx="3658" cy="237744"/>
          </a:xfrm>
          <a:prstGeom prst="rect">
            <a:avLst/>
          </a:prstGeom>
          <a:solidFill>
            <a:srgbClr val="3A3F47"/>
          </a:solidFill>
          <a:ln w="12700">
            <a:solidFill>
              <a:srgbClr val="333333"/>
            </a:solidFill>
            <a:prstDash val="solid"/>
          </a:ln>
        </p:spPr>
      </p:sp>
      <p:sp>
        <p:nvSpPr>
          <p:cNvPr id="210" name="Shape 208"/>
          <p:cNvSpPr/>
          <p:nvPr/>
        </p:nvSpPr>
        <p:spPr>
          <a:xfrm>
            <a:off x="32644080" y="8774582"/>
            <a:ext cx="237744" cy="3658"/>
          </a:xfrm>
          <a:prstGeom prst="rect">
            <a:avLst/>
          </a:prstGeom>
          <a:solidFill>
            <a:srgbClr val="3A3F47"/>
          </a:solidFill>
          <a:ln w="12700">
            <a:solidFill>
              <a:srgbClr val="333333"/>
            </a:solidFill>
            <a:prstDash val="solid"/>
          </a:ln>
        </p:spPr>
      </p:sp>
      <p:sp>
        <p:nvSpPr>
          <p:cNvPr id="211" name="Shape 209"/>
          <p:cNvSpPr/>
          <p:nvPr/>
        </p:nvSpPr>
        <p:spPr>
          <a:xfrm>
            <a:off x="32644080" y="8540496"/>
            <a:ext cx="3658" cy="237744"/>
          </a:xfrm>
          <a:prstGeom prst="rect">
            <a:avLst/>
          </a:prstGeom>
          <a:solidFill>
            <a:srgbClr val="3A3F47"/>
          </a:solidFill>
          <a:ln w="12700">
            <a:solidFill>
              <a:srgbClr val="333333"/>
            </a:solidFill>
            <a:prstDash val="solid"/>
          </a:ln>
        </p:spPr>
      </p:sp>
      <p:sp>
        <p:nvSpPr>
          <p:cNvPr id="212" name="Shape 210"/>
          <p:cNvSpPr/>
          <p:nvPr/>
        </p:nvSpPr>
        <p:spPr>
          <a:xfrm>
            <a:off x="38514528" y="8774582"/>
            <a:ext cx="237744" cy="3658"/>
          </a:xfrm>
          <a:prstGeom prst="rect">
            <a:avLst/>
          </a:prstGeom>
          <a:solidFill>
            <a:srgbClr val="3A3F47"/>
          </a:solidFill>
          <a:ln w="12700">
            <a:solidFill>
              <a:srgbClr val="333333"/>
            </a:solidFill>
            <a:prstDash val="solid"/>
          </a:ln>
        </p:spPr>
      </p:sp>
      <p:sp>
        <p:nvSpPr>
          <p:cNvPr id="213" name="Shape 211"/>
          <p:cNvSpPr/>
          <p:nvPr/>
        </p:nvSpPr>
        <p:spPr>
          <a:xfrm>
            <a:off x="38748614" y="8540496"/>
            <a:ext cx="3658" cy="237744"/>
          </a:xfrm>
          <a:prstGeom prst="rect">
            <a:avLst/>
          </a:prstGeom>
          <a:solidFill>
            <a:srgbClr val="3A3F47"/>
          </a:solidFill>
          <a:ln w="12700">
            <a:solidFill>
              <a:srgbClr val="333333"/>
            </a:solidFill>
            <a:prstDash val="solid"/>
          </a:ln>
        </p:spPr>
      </p:sp>
      <p:sp>
        <p:nvSpPr>
          <p:cNvPr id="214" name="Text 212"/>
          <p:cNvSpPr txBox="1"/>
          <p:nvPr/>
        </p:nvSpPr>
        <p:spPr>
          <a:xfrm>
            <a:off x="32644080" y="7050024"/>
            <a:ext cx="6108192" cy="118872"/>
          </a:xfrm>
          <a:prstGeom prst="rect">
            <a:avLst/>
          </a:prstGeom>
          <a:noFill/>
          <a:ln/>
        </p:spPr>
        <p:txBody>
          <a:bodyPr wrap="square" lIns="0" tIns="0" rIns="0" bIns="0" rtlCol="0" anchor="t"/>
          <a:lstStyle/>
          <a:p>
            <a:pPr indent="0" marL="0">
              <a:buNone/>
            </a:pPr>
            <a:r>
              <a:rPr lang="en-US" sz="740" b="1" spc="140" kern="0" dirty="0">
                <a:solidFill>
                  <a:srgbClr val="525862"/>
                </a:solidFill>
                <a:latin typeface="Arial" pitchFamily="34" charset="0"/>
                <a:ea typeface="Arial" pitchFamily="34" charset="-122"/>
                <a:cs typeface="Arial" pitchFamily="34" charset="-120"/>
              </a:rPr>
              <a:t>CABIN DETAIL</a:t>
            </a:r>
            <a:endParaRPr lang="en-US" sz="740" dirty="0"/>
          </a:p>
        </p:txBody>
      </p:sp>
      <p:sp>
        <p:nvSpPr>
          <p:cNvPr id="215" name="Text 213"/>
          <p:cNvSpPr txBox="1"/>
          <p:nvPr/>
        </p:nvSpPr>
        <p:spPr>
          <a:xfrm>
            <a:off x="32954976" y="7232904"/>
            <a:ext cx="5486400" cy="329184"/>
          </a:xfrm>
          <a:prstGeom prst="rect">
            <a:avLst/>
          </a:prstGeom>
          <a:noFill/>
          <a:ln/>
        </p:spPr>
        <p:txBody>
          <a:bodyPr wrap="square" lIns="0" tIns="0" rIns="0" bIns="0" rtlCol="0" anchor="t"/>
          <a:lstStyle/>
          <a:p>
            <a:pPr algn="ctr" indent="0" marL="0">
              <a:lnSpc>
                <a:spcPct val="112000"/>
              </a:lnSpc>
              <a:buNone/>
            </a:pPr>
            <a:r>
              <a:rPr lang="en-US" sz="760" i="1" dirty="0">
                <a:solidFill>
                  <a:srgbClr val="4A505A"/>
                </a:solidFill>
                <a:latin typeface="Arial" pitchFamily="34" charset="0"/>
                <a:ea typeface="Arial" pitchFamily="34" charset="-122"/>
                <a:cs typeface="Arial" pitchFamily="34" charset="-120"/>
              </a:rPr>
              <a:t>the cream or tan leather option, same angle</a:t>
            </a:r>
            <a:endParaRPr lang="en-US" sz="760" dirty="0"/>
          </a:p>
        </p:txBody>
      </p:sp>
      <p:sp>
        <p:nvSpPr>
          <p:cNvPr id="216" name="Text 214"/>
          <p:cNvSpPr txBox="1"/>
          <p:nvPr/>
        </p:nvSpPr>
        <p:spPr>
          <a:xfrm>
            <a:off x="32644080" y="8961120"/>
            <a:ext cx="6108192" cy="118872"/>
          </a:xfrm>
          <a:prstGeom prst="rect">
            <a:avLst/>
          </a:prstGeom>
          <a:noFill/>
          <a:ln/>
        </p:spPr>
        <p:txBody>
          <a:bodyPr wrap="square" lIns="0" tIns="0" rIns="0" bIns="0" rtlCol="0" anchor="t"/>
          <a:lstStyle/>
          <a:p>
            <a:pPr indent="0" marL="0">
              <a:buNone/>
            </a:pPr>
            <a:r>
              <a:rPr lang="en-US" sz="680" b="1" spc="140" kern="0" dirty="0">
                <a:solidFill>
                  <a:srgbClr val="5E636A"/>
                </a:solidFill>
                <a:latin typeface="Arial" pitchFamily="34" charset="0"/>
                <a:ea typeface="Arial" pitchFamily="34" charset="-122"/>
                <a:cs typeface="Arial" pitchFamily="34" charset="-120"/>
              </a:rPr>
              <a:t>SCREENS</a:t>
            </a:r>
            <a:endParaRPr lang="en-US" sz="680" dirty="0"/>
          </a:p>
        </p:txBody>
      </p:sp>
      <p:sp>
        <p:nvSpPr>
          <p:cNvPr id="217" name="Text 215"/>
          <p:cNvSpPr txBox="1"/>
          <p:nvPr/>
        </p:nvSpPr>
        <p:spPr>
          <a:xfrm>
            <a:off x="32644080" y="9089136"/>
            <a:ext cx="6108192" cy="256032"/>
          </a:xfrm>
          <a:prstGeom prst="rect">
            <a:avLst/>
          </a:prstGeom>
          <a:noFill/>
          <a:ln/>
        </p:spPr>
        <p:txBody>
          <a:bodyPr wrap="square" lIns="0" tIns="0" rIns="0" bIns="0" rtlCol="0" anchor="t"/>
          <a:lstStyle/>
          <a:p>
            <a:pPr indent="0" marL="0">
              <a:lnSpc>
                <a:spcPct val="108000"/>
              </a:lnSpc>
              <a:buNone/>
            </a:pPr>
            <a:r>
              <a:rPr lang="en-US" sz="800" dirty="0">
                <a:solidFill>
                  <a:srgbClr val="C6C9CE"/>
                </a:solidFill>
                <a:latin typeface="Arial" pitchFamily="34" charset="0"/>
                <a:ea typeface="Arial" pitchFamily="34" charset="-122"/>
                <a:cs typeface="Arial" pitchFamily="34" charset="-120"/>
              </a:rPr>
              <a:t>14.6" centre runs climate, mirrors and ADAS settings; 8.8" cluster retained.</a:t>
            </a:r>
            <a:endParaRPr lang="en-US" sz="800" dirty="0"/>
          </a:p>
        </p:txBody>
      </p:sp>
      <p:sp>
        <p:nvSpPr>
          <p:cNvPr id="218" name="Text 216"/>
          <p:cNvSpPr txBox="1"/>
          <p:nvPr/>
        </p:nvSpPr>
        <p:spPr>
          <a:xfrm>
            <a:off x="32644080" y="9345168"/>
            <a:ext cx="6108192" cy="118872"/>
          </a:xfrm>
          <a:prstGeom prst="rect">
            <a:avLst/>
          </a:prstGeom>
          <a:noFill/>
          <a:ln/>
        </p:spPr>
        <p:txBody>
          <a:bodyPr wrap="square" lIns="0" tIns="0" rIns="0" bIns="0" rtlCol="0" anchor="t"/>
          <a:lstStyle/>
          <a:p>
            <a:pPr indent="0" marL="0">
              <a:buNone/>
            </a:pPr>
            <a:r>
              <a:rPr lang="en-US" sz="680" b="1" spc="140" kern="0" dirty="0">
                <a:solidFill>
                  <a:srgbClr val="5E636A"/>
                </a:solidFill>
                <a:latin typeface="Arial" pitchFamily="34" charset="0"/>
                <a:ea typeface="Arial" pitchFamily="34" charset="-122"/>
                <a:cs typeface="Arial" pitchFamily="34" charset="-120"/>
              </a:rPr>
              <a:t>MATERIAL · COLOUR</a:t>
            </a:r>
            <a:endParaRPr lang="en-US" sz="680" dirty="0"/>
          </a:p>
        </p:txBody>
      </p:sp>
      <p:sp>
        <p:nvSpPr>
          <p:cNvPr id="219" name="Text 217"/>
          <p:cNvSpPr txBox="1"/>
          <p:nvPr/>
        </p:nvSpPr>
        <p:spPr>
          <a:xfrm>
            <a:off x="32644080" y="9473184"/>
            <a:ext cx="6108192" cy="256032"/>
          </a:xfrm>
          <a:prstGeom prst="rect">
            <a:avLst/>
          </a:prstGeom>
          <a:noFill/>
          <a:ln/>
        </p:spPr>
        <p:txBody>
          <a:bodyPr wrap="square" lIns="0" tIns="0" rIns="0" bIns="0" rtlCol="0" anchor="t"/>
          <a:lstStyle/>
          <a:p>
            <a:pPr indent="0" marL="0">
              <a:lnSpc>
                <a:spcPct val="108000"/>
              </a:lnSpc>
              <a:buNone/>
            </a:pPr>
            <a:r>
              <a:rPr lang="en-US" sz="800" dirty="0">
                <a:solidFill>
                  <a:srgbClr val="C6C9CE"/>
                </a:solidFill>
                <a:latin typeface="Arial" pitchFamily="34" charset="0"/>
                <a:ea typeface="Arial" pitchFamily="34" charset="-122"/>
                <a:cs typeface="Arial" pitchFamily="34" charset="-120"/>
              </a:rPr>
              <a:t>Black faux leather standard; genuine leather in cream or tan for a small premium. 32-colour ambient standard.</a:t>
            </a:r>
            <a:endParaRPr lang="en-US" sz="800" dirty="0"/>
          </a:p>
        </p:txBody>
      </p:sp>
      <p:sp>
        <p:nvSpPr>
          <p:cNvPr id="220" name="Text 218"/>
          <p:cNvSpPr txBox="1"/>
          <p:nvPr/>
        </p:nvSpPr>
        <p:spPr>
          <a:xfrm>
            <a:off x="32644080" y="9729216"/>
            <a:ext cx="6108192" cy="118872"/>
          </a:xfrm>
          <a:prstGeom prst="rect">
            <a:avLst/>
          </a:prstGeom>
          <a:noFill/>
          <a:ln/>
        </p:spPr>
        <p:txBody>
          <a:bodyPr wrap="square" lIns="0" tIns="0" rIns="0" bIns="0" rtlCol="0" anchor="t"/>
          <a:lstStyle/>
          <a:p>
            <a:pPr indent="0" marL="0">
              <a:buNone/>
            </a:pPr>
            <a:r>
              <a:rPr lang="en-US" sz="680" b="1" spc="140" kern="0" dirty="0">
                <a:solidFill>
                  <a:srgbClr val="5E636A"/>
                </a:solidFill>
                <a:latin typeface="Arial" pitchFamily="34" charset="0"/>
                <a:ea typeface="Arial" pitchFamily="34" charset="-122"/>
                <a:cs typeface="Arial" pitchFamily="34" charset="-120"/>
              </a:rPr>
              <a:t>SEAT · COMFORT</a:t>
            </a:r>
            <a:endParaRPr lang="en-US" sz="680" dirty="0"/>
          </a:p>
        </p:txBody>
      </p:sp>
      <p:sp>
        <p:nvSpPr>
          <p:cNvPr id="221" name="Text 219"/>
          <p:cNvSpPr txBox="1"/>
          <p:nvPr/>
        </p:nvSpPr>
        <p:spPr>
          <a:xfrm>
            <a:off x="32644080" y="9857232"/>
            <a:ext cx="6108192" cy="256032"/>
          </a:xfrm>
          <a:prstGeom prst="rect">
            <a:avLst/>
          </a:prstGeom>
          <a:noFill/>
          <a:ln/>
        </p:spPr>
        <p:txBody>
          <a:bodyPr wrap="square" lIns="0" tIns="0" rIns="0" bIns="0" rtlCol="0" anchor="t"/>
          <a:lstStyle/>
          <a:p>
            <a:pPr indent="0" marL="0">
              <a:lnSpc>
                <a:spcPct val="108000"/>
              </a:lnSpc>
              <a:buNone/>
            </a:pPr>
            <a:r>
              <a:rPr lang="en-US" sz="800" dirty="0">
                <a:solidFill>
                  <a:srgbClr val="C6C9CE"/>
                </a:solidFill>
                <a:latin typeface="Arial" pitchFamily="34" charset="0"/>
                <a:ea typeface="Arial" pitchFamily="34" charset="-122"/>
                <a:cs typeface="Arial" pitchFamily="34" charset="-120"/>
              </a:rPr>
              <a:t>Comfort-led. Nine-speaker 360 W audio, two-metre-plus panoramic roof with powered blind.</a:t>
            </a:r>
            <a:endParaRPr lang="en-US" sz="800" dirty="0"/>
          </a:p>
        </p:txBody>
      </p:sp>
      <p:sp>
        <p:nvSpPr>
          <p:cNvPr id="222" name="Text 220"/>
          <p:cNvSpPr txBox="1"/>
          <p:nvPr/>
        </p:nvSpPr>
        <p:spPr>
          <a:xfrm>
            <a:off x="32644080" y="10113264"/>
            <a:ext cx="6108192" cy="118872"/>
          </a:xfrm>
          <a:prstGeom prst="rect">
            <a:avLst/>
          </a:prstGeom>
          <a:noFill/>
          <a:ln/>
        </p:spPr>
        <p:txBody>
          <a:bodyPr wrap="square" lIns="0" tIns="0" rIns="0" bIns="0" rtlCol="0" anchor="t"/>
          <a:lstStyle/>
          <a:p>
            <a:pPr indent="0" marL="0">
              <a:buNone/>
            </a:pPr>
            <a:r>
              <a:rPr lang="en-US" sz="680" b="1" spc="140" kern="0" dirty="0">
                <a:solidFill>
                  <a:srgbClr val="5E636A"/>
                </a:solidFill>
                <a:latin typeface="Arial" pitchFamily="34" charset="0"/>
                <a:ea typeface="Arial" pitchFamily="34" charset="-122"/>
                <a:cs typeface="Arial" pitchFamily="34" charset="-120"/>
              </a:rPr>
              <a:t>FOR WHOM</a:t>
            </a:r>
            <a:endParaRPr lang="en-US" sz="680" dirty="0"/>
          </a:p>
        </p:txBody>
      </p:sp>
      <p:sp>
        <p:nvSpPr>
          <p:cNvPr id="223" name="Text 221"/>
          <p:cNvSpPr txBox="1"/>
          <p:nvPr/>
        </p:nvSpPr>
        <p:spPr>
          <a:xfrm>
            <a:off x="32644080" y="10241280"/>
            <a:ext cx="6108192" cy="256032"/>
          </a:xfrm>
          <a:prstGeom prst="rect">
            <a:avLst/>
          </a:prstGeom>
          <a:noFill/>
          <a:ln/>
        </p:spPr>
        <p:txBody>
          <a:bodyPr wrap="square" lIns="0" tIns="0" rIns="0" bIns="0" rtlCol="0" anchor="t"/>
          <a:lstStyle/>
          <a:p>
            <a:pPr indent="0" marL="0">
              <a:lnSpc>
                <a:spcPct val="108000"/>
              </a:lnSpc>
              <a:buNone/>
            </a:pPr>
            <a:r>
              <a:rPr lang="en-US" sz="800" dirty="0">
                <a:solidFill>
                  <a:srgbClr val="C6C9CE"/>
                </a:solidFill>
                <a:latin typeface="Arial" pitchFamily="34" charset="0"/>
                <a:ea typeface="Arial" pitchFamily="34" charset="-122"/>
                <a:cs typeface="Arial" pitchFamily="34" charset="-120"/>
              </a:rPr>
              <a:t>The car GAC exports — the cabin that faces European and Australian press.</a:t>
            </a:r>
            <a:endParaRPr lang="en-US" sz="800" dirty="0"/>
          </a:p>
        </p:txBody>
      </p:sp>
      <p:sp>
        <p:nvSpPr>
          <p:cNvPr id="224" name="Text 222"/>
          <p:cNvSpPr txBox="1"/>
          <p:nvPr/>
        </p:nvSpPr>
        <p:spPr>
          <a:xfrm>
            <a:off x="39063168" y="1956816"/>
            <a:ext cx="4736592" cy="274320"/>
          </a:xfrm>
          <a:prstGeom prst="rect">
            <a:avLst/>
          </a:prstGeom>
          <a:noFill/>
          <a:ln/>
        </p:spPr>
        <p:txBody>
          <a:bodyPr wrap="square" lIns="0" tIns="0" rIns="0" bIns="0" rtlCol="0" anchor="t"/>
          <a:lstStyle/>
          <a:p>
            <a:pPr indent="0" marL="0">
              <a:buNone/>
            </a:pPr>
            <a:r>
              <a:rPr lang="en-US" sz="1300" b="1" spc="70" kern="0" dirty="0">
                <a:solidFill>
                  <a:srgbClr val="F4F2EE"/>
                </a:solidFill>
                <a:latin typeface="Arial" pitchFamily="34" charset="0"/>
                <a:ea typeface="Arial" pitchFamily="34" charset="-122"/>
                <a:cs typeface="Arial" pitchFamily="34" charset="-120"/>
              </a:rPr>
              <a:t>AION RAY 7</a:t>
            </a:r>
            <a:endParaRPr lang="en-US" sz="1300" dirty="0"/>
          </a:p>
        </p:txBody>
      </p:sp>
      <p:sp>
        <p:nvSpPr>
          <p:cNvPr id="225" name="Shape 223"/>
          <p:cNvSpPr/>
          <p:nvPr/>
        </p:nvSpPr>
        <p:spPr>
          <a:xfrm>
            <a:off x="44416980" y="1984248"/>
            <a:ext cx="754380" cy="192024"/>
          </a:xfrm>
          <a:prstGeom prst="roundRect">
            <a:avLst>
              <a:gd name="adj" fmla="val 47619"/>
            </a:avLst>
          </a:prstGeom>
          <a:solidFill>
            <a:srgbClr val="0A0B0D"/>
          </a:solidFill>
          <a:ln w="9525">
            <a:solidFill>
              <a:srgbClr val="C4AC7A"/>
            </a:solidFill>
            <a:prstDash val="solid"/>
          </a:ln>
        </p:spPr>
      </p:sp>
      <p:sp>
        <p:nvSpPr>
          <p:cNvPr id="226" name="Text 224"/>
          <p:cNvSpPr txBox="1"/>
          <p:nvPr/>
        </p:nvSpPr>
        <p:spPr>
          <a:xfrm>
            <a:off x="44416980" y="2025396"/>
            <a:ext cx="754380" cy="137160"/>
          </a:xfrm>
          <a:prstGeom prst="rect">
            <a:avLst/>
          </a:prstGeom>
          <a:noFill/>
          <a:ln/>
        </p:spPr>
        <p:txBody>
          <a:bodyPr wrap="square" lIns="0" tIns="0" rIns="0" bIns="0" rtlCol="0" anchor="t"/>
          <a:lstStyle/>
          <a:p>
            <a:pPr algn="ctr" indent="0" marL="0">
              <a:buNone/>
            </a:pPr>
            <a:r>
              <a:rPr lang="en-US" sz="660" b="1" spc="100" kern="0" dirty="0">
                <a:solidFill>
                  <a:srgbClr val="C4AC7A"/>
                </a:solidFill>
                <a:latin typeface="Arial" pitchFamily="34" charset="0"/>
                <a:ea typeface="Arial" pitchFamily="34" charset="-122"/>
                <a:cs typeface="Arial" pitchFamily="34" charset="-120"/>
              </a:rPr>
              <a:t>PREMIUM</a:t>
            </a:r>
            <a:endParaRPr lang="en-US" sz="660" dirty="0"/>
          </a:p>
        </p:txBody>
      </p:sp>
      <p:sp>
        <p:nvSpPr>
          <p:cNvPr id="227" name="Text 225"/>
          <p:cNvSpPr txBox="1"/>
          <p:nvPr/>
        </p:nvSpPr>
        <p:spPr>
          <a:xfrm>
            <a:off x="39063168" y="2267712"/>
            <a:ext cx="6108192" cy="182880"/>
          </a:xfrm>
          <a:prstGeom prst="rect">
            <a:avLst/>
          </a:prstGeom>
          <a:noFill/>
          <a:ln/>
        </p:spPr>
        <p:txBody>
          <a:bodyPr wrap="square" lIns="0" tIns="0" rIns="0" bIns="0" rtlCol="0" anchor="t"/>
          <a:lstStyle/>
          <a:p>
            <a:pPr indent="0" marL="0">
              <a:buNone/>
            </a:pPr>
            <a:r>
              <a:rPr lang="en-US" sz="760" dirty="0">
                <a:solidFill>
                  <a:srgbClr val="9DA1A8"/>
                </a:solidFill>
                <a:latin typeface="Arial" pitchFamily="34" charset="0"/>
                <a:ea typeface="Arial" pitchFamily="34" charset="-122"/>
                <a:cs typeface="Arial" pitchFamily="34" charset="-120"/>
              </a:rPr>
              <a:t>Mid-large fastback · BEV ≈700 km · expected ¥200–250k · unveiled 19 Aug 2026</a:t>
            </a:r>
            <a:endParaRPr lang="en-US" sz="760" dirty="0"/>
          </a:p>
        </p:txBody>
      </p:sp>
      <p:sp>
        <p:nvSpPr>
          <p:cNvPr id="228" name="Shape 226"/>
          <p:cNvSpPr/>
          <p:nvPr/>
        </p:nvSpPr>
        <p:spPr>
          <a:xfrm>
            <a:off x="39063168" y="2542032"/>
            <a:ext cx="6108192" cy="12802"/>
          </a:xfrm>
          <a:prstGeom prst="rect">
            <a:avLst/>
          </a:prstGeom>
          <a:solidFill>
            <a:srgbClr val="5C93FF"/>
          </a:solidFill>
          <a:ln w="12700">
            <a:solidFill>
              <a:srgbClr val="333333"/>
            </a:solidFill>
            <a:prstDash val="solid"/>
          </a:ln>
        </p:spPr>
      </p:sp>
      <p:sp>
        <p:nvSpPr>
          <p:cNvPr id="229" name="Shape 227"/>
          <p:cNvSpPr/>
          <p:nvPr/>
        </p:nvSpPr>
        <p:spPr>
          <a:xfrm>
            <a:off x="39063168" y="2670048"/>
            <a:ext cx="6108192" cy="2980944"/>
          </a:xfrm>
          <a:prstGeom prst="rect">
            <a:avLst/>
          </a:prstGeom>
          <a:solidFill>
            <a:srgbClr val="14161A"/>
          </a:solidFill>
          <a:ln w="9525">
            <a:solidFill>
              <a:srgbClr val="262A30"/>
            </a:solidFill>
            <a:prstDash val="solid"/>
          </a:ln>
        </p:spPr>
      </p:sp>
      <p:sp>
        <p:nvSpPr>
          <p:cNvPr id="230" name="Shape 228"/>
          <p:cNvSpPr/>
          <p:nvPr/>
        </p:nvSpPr>
        <p:spPr>
          <a:xfrm>
            <a:off x="39063168" y="2670048"/>
            <a:ext cx="237744" cy="3658"/>
          </a:xfrm>
          <a:prstGeom prst="rect">
            <a:avLst/>
          </a:prstGeom>
          <a:solidFill>
            <a:srgbClr val="3A3F47"/>
          </a:solidFill>
          <a:ln w="12700">
            <a:solidFill>
              <a:srgbClr val="333333"/>
            </a:solidFill>
            <a:prstDash val="solid"/>
          </a:ln>
        </p:spPr>
      </p:sp>
      <p:sp>
        <p:nvSpPr>
          <p:cNvPr id="231" name="Shape 229"/>
          <p:cNvSpPr/>
          <p:nvPr/>
        </p:nvSpPr>
        <p:spPr>
          <a:xfrm>
            <a:off x="39063168" y="2670048"/>
            <a:ext cx="3658" cy="237744"/>
          </a:xfrm>
          <a:prstGeom prst="rect">
            <a:avLst/>
          </a:prstGeom>
          <a:solidFill>
            <a:srgbClr val="3A3F47"/>
          </a:solidFill>
          <a:ln w="12700">
            <a:solidFill>
              <a:srgbClr val="333333"/>
            </a:solidFill>
            <a:prstDash val="solid"/>
          </a:ln>
        </p:spPr>
      </p:sp>
      <p:sp>
        <p:nvSpPr>
          <p:cNvPr id="232" name="Shape 230"/>
          <p:cNvSpPr/>
          <p:nvPr/>
        </p:nvSpPr>
        <p:spPr>
          <a:xfrm>
            <a:off x="44933616" y="2670048"/>
            <a:ext cx="237744" cy="3658"/>
          </a:xfrm>
          <a:prstGeom prst="rect">
            <a:avLst/>
          </a:prstGeom>
          <a:solidFill>
            <a:srgbClr val="3A3F47"/>
          </a:solidFill>
          <a:ln w="12700">
            <a:solidFill>
              <a:srgbClr val="333333"/>
            </a:solidFill>
            <a:prstDash val="solid"/>
          </a:ln>
        </p:spPr>
      </p:sp>
      <p:sp>
        <p:nvSpPr>
          <p:cNvPr id="233" name="Shape 231"/>
          <p:cNvSpPr/>
          <p:nvPr/>
        </p:nvSpPr>
        <p:spPr>
          <a:xfrm>
            <a:off x="45167702" y="2670048"/>
            <a:ext cx="3658" cy="237744"/>
          </a:xfrm>
          <a:prstGeom prst="rect">
            <a:avLst/>
          </a:prstGeom>
          <a:solidFill>
            <a:srgbClr val="3A3F47"/>
          </a:solidFill>
          <a:ln w="12700">
            <a:solidFill>
              <a:srgbClr val="333333"/>
            </a:solidFill>
            <a:prstDash val="solid"/>
          </a:ln>
        </p:spPr>
      </p:sp>
      <p:sp>
        <p:nvSpPr>
          <p:cNvPr id="234" name="Shape 232"/>
          <p:cNvSpPr/>
          <p:nvPr/>
        </p:nvSpPr>
        <p:spPr>
          <a:xfrm>
            <a:off x="39063168" y="5647334"/>
            <a:ext cx="237744" cy="3658"/>
          </a:xfrm>
          <a:prstGeom prst="rect">
            <a:avLst/>
          </a:prstGeom>
          <a:solidFill>
            <a:srgbClr val="3A3F47"/>
          </a:solidFill>
          <a:ln w="12700">
            <a:solidFill>
              <a:srgbClr val="333333"/>
            </a:solidFill>
            <a:prstDash val="solid"/>
          </a:ln>
        </p:spPr>
      </p:sp>
      <p:sp>
        <p:nvSpPr>
          <p:cNvPr id="235" name="Shape 233"/>
          <p:cNvSpPr/>
          <p:nvPr/>
        </p:nvSpPr>
        <p:spPr>
          <a:xfrm>
            <a:off x="39063168" y="5413248"/>
            <a:ext cx="3658" cy="237744"/>
          </a:xfrm>
          <a:prstGeom prst="rect">
            <a:avLst/>
          </a:prstGeom>
          <a:solidFill>
            <a:srgbClr val="3A3F47"/>
          </a:solidFill>
          <a:ln w="12700">
            <a:solidFill>
              <a:srgbClr val="333333"/>
            </a:solidFill>
            <a:prstDash val="solid"/>
          </a:ln>
        </p:spPr>
      </p:sp>
      <p:sp>
        <p:nvSpPr>
          <p:cNvPr id="236" name="Shape 234"/>
          <p:cNvSpPr/>
          <p:nvPr/>
        </p:nvSpPr>
        <p:spPr>
          <a:xfrm>
            <a:off x="44933616" y="5647334"/>
            <a:ext cx="237744" cy="3658"/>
          </a:xfrm>
          <a:prstGeom prst="rect">
            <a:avLst/>
          </a:prstGeom>
          <a:solidFill>
            <a:srgbClr val="3A3F47"/>
          </a:solidFill>
          <a:ln w="12700">
            <a:solidFill>
              <a:srgbClr val="333333"/>
            </a:solidFill>
            <a:prstDash val="solid"/>
          </a:ln>
        </p:spPr>
      </p:sp>
      <p:sp>
        <p:nvSpPr>
          <p:cNvPr id="237" name="Shape 235"/>
          <p:cNvSpPr/>
          <p:nvPr/>
        </p:nvSpPr>
        <p:spPr>
          <a:xfrm>
            <a:off x="45167702" y="5413248"/>
            <a:ext cx="3658" cy="237744"/>
          </a:xfrm>
          <a:prstGeom prst="rect">
            <a:avLst/>
          </a:prstGeom>
          <a:solidFill>
            <a:srgbClr val="3A3F47"/>
          </a:solidFill>
          <a:ln w="12700">
            <a:solidFill>
              <a:srgbClr val="333333"/>
            </a:solidFill>
            <a:prstDash val="solid"/>
          </a:ln>
        </p:spPr>
      </p:sp>
      <p:sp>
        <p:nvSpPr>
          <p:cNvPr id="238" name="Text 236"/>
          <p:cNvSpPr txBox="1"/>
          <p:nvPr/>
        </p:nvSpPr>
        <p:spPr>
          <a:xfrm>
            <a:off x="39063168" y="3922776"/>
            <a:ext cx="6108192" cy="118872"/>
          </a:xfrm>
          <a:prstGeom prst="rect">
            <a:avLst/>
          </a:prstGeom>
          <a:noFill/>
          <a:ln/>
        </p:spPr>
        <p:txBody>
          <a:bodyPr wrap="square" lIns="0" tIns="0" rIns="0" bIns="0" rtlCol="0" anchor="t"/>
          <a:lstStyle/>
          <a:p>
            <a:pPr indent="0" marL="0">
              <a:buNone/>
            </a:pPr>
            <a:r>
              <a:rPr lang="en-US" sz="740" b="1" spc="140" kern="0" dirty="0">
                <a:solidFill>
                  <a:srgbClr val="525862"/>
                </a:solidFill>
                <a:latin typeface="Arial" pitchFamily="34" charset="0"/>
                <a:ea typeface="Arial" pitchFamily="34" charset="-122"/>
                <a:cs typeface="Arial" pitchFamily="34" charset="-120"/>
              </a:rPr>
              <a:t>DASHBOARD / IP</a:t>
            </a:r>
            <a:endParaRPr lang="en-US" sz="740" dirty="0"/>
          </a:p>
        </p:txBody>
      </p:sp>
      <p:sp>
        <p:nvSpPr>
          <p:cNvPr id="239" name="Text 237"/>
          <p:cNvSpPr txBox="1"/>
          <p:nvPr/>
        </p:nvSpPr>
        <p:spPr>
          <a:xfrm>
            <a:off x="39374064" y="4105656"/>
            <a:ext cx="5486400" cy="329184"/>
          </a:xfrm>
          <a:prstGeom prst="rect">
            <a:avLst/>
          </a:prstGeom>
          <a:noFill/>
          <a:ln/>
        </p:spPr>
        <p:txBody>
          <a:bodyPr wrap="square" lIns="0" tIns="0" rIns="0" bIns="0" rtlCol="0" anchor="t"/>
          <a:lstStyle/>
          <a:p>
            <a:pPr algn="ctr" indent="0" marL="0">
              <a:lnSpc>
                <a:spcPct val="112000"/>
              </a:lnSpc>
              <a:buNone/>
            </a:pPr>
            <a:r>
              <a:rPr lang="en-US" sz="760" i="1" dirty="0">
                <a:solidFill>
                  <a:srgbClr val="4A505A"/>
                </a:solidFill>
                <a:latin typeface="Arial" pitchFamily="34" charset="0"/>
                <a:ea typeface="Arial" pitchFamily="34" charset="-122"/>
                <a:cs typeface="Arial" pitchFamily="34" charset="-120"/>
              </a:rPr>
              <a:t>any interior frame from the Chengdu unveil</a:t>
            </a:r>
            <a:endParaRPr lang="en-US" sz="760" dirty="0"/>
          </a:p>
        </p:txBody>
      </p:sp>
      <p:sp>
        <p:nvSpPr>
          <p:cNvPr id="240" name="Shape 238"/>
          <p:cNvSpPr/>
          <p:nvPr/>
        </p:nvSpPr>
        <p:spPr>
          <a:xfrm>
            <a:off x="39063168" y="5797296"/>
            <a:ext cx="6108192" cy="2980944"/>
          </a:xfrm>
          <a:prstGeom prst="rect">
            <a:avLst/>
          </a:prstGeom>
          <a:solidFill>
            <a:srgbClr val="14161A"/>
          </a:solidFill>
          <a:ln w="9525">
            <a:solidFill>
              <a:srgbClr val="262A30"/>
            </a:solidFill>
            <a:prstDash val="solid"/>
          </a:ln>
        </p:spPr>
      </p:sp>
      <p:sp>
        <p:nvSpPr>
          <p:cNvPr id="241" name="Shape 239"/>
          <p:cNvSpPr/>
          <p:nvPr/>
        </p:nvSpPr>
        <p:spPr>
          <a:xfrm>
            <a:off x="39063168" y="5797296"/>
            <a:ext cx="237744" cy="3658"/>
          </a:xfrm>
          <a:prstGeom prst="rect">
            <a:avLst/>
          </a:prstGeom>
          <a:solidFill>
            <a:srgbClr val="3A3F47"/>
          </a:solidFill>
          <a:ln w="12700">
            <a:solidFill>
              <a:srgbClr val="333333"/>
            </a:solidFill>
            <a:prstDash val="solid"/>
          </a:ln>
        </p:spPr>
      </p:sp>
      <p:sp>
        <p:nvSpPr>
          <p:cNvPr id="242" name="Shape 240"/>
          <p:cNvSpPr/>
          <p:nvPr/>
        </p:nvSpPr>
        <p:spPr>
          <a:xfrm>
            <a:off x="39063168" y="5797296"/>
            <a:ext cx="3658" cy="237744"/>
          </a:xfrm>
          <a:prstGeom prst="rect">
            <a:avLst/>
          </a:prstGeom>
          <a:solidFill>
            <a:srgbClr val="3A3F47"/>
          </a:solidFill>
          <a:ln w="12700">
            <a:solidFill>
              <a:srgbClr val="333333"/>
            </a:solidFill>
            <a:prstDash val="solid"/>
          </a:ln>
        </p:spPr>
      </p:sp>
      <p:sp>
        <p:nvSpPr>
          <p:cNvPr id="243" name="Shape 241"/>
          <p:cNvSpPr/>
          <p:nvPr/>
        </p:nvSpPr>
        <p:spPr>
          <a:xfrm>
            <a:off x="44933616" y="5797296"/>
            <a:ext cx="237744" cy="3658"/>
          </a:xfrm>
          <a:prstGeom prst="rect">
            <a:avLst/>
          </a:prstGeom>
          <a:solidFill>
            <a:srgbClr val="3A3F47"/>
          </a:solidFill>
          <a:ln w="12700">
            <a:solidFill>
              <a:srgbClr val="333333"/>
            </a:solidFill>
            <a:prstDash val="solid"/>
          </a:ln>
        </p:spPr>
      </p:sp>
      <p:sp>
        <p:nvSpPr>
          <p:cNvPr id="244" name="Shape 242"/>
          <p:cNvSpPr/>
          <p:nvPr/>
        </p:nvSpPr>
        <p:spPr>
          <a:xfrm>
            <a:off x="45167702" y="5797296"/>
            <a:ext cx="3658" cy="237744"/>
          </a:xfrm>
          <a:prstGeom prst="rect">
            <a:avLst/>
          </a:prstGeom>
          <a:solidFill>
            <a:srgbClr val="3A3F47"/>
          </a:solidFill>
          <a:ln w="12700">
            <a:solidFill>
              <a:srgbClr val="333333"/>
            </a:solidFill>
            <a:prstDash val="solid"/>
          </a:ln>
        </p:spPr>
      </p:sp>
      <p:sp>
        <p:nvSpPr>
          <p:cNvPr id="245" name="Shape 243"/>
          <p:cNvSpPr/>
          <p:nvPr/>
        </p:nvSpPr>
        <p:spPr>
          <a:xfrm>
            <a:off x="39063168" y="8774582"/>
            <a:ext cx="237744" cy="3658"/>
          </a:xfrm>
          <a:prstGeom prst="rect">
            <a:avLst/>
          </a:prstGeom>
          <a:solidFill>
            <a:srgbClr val="3A3F47"/>
          </a:solidFill>
          <a:ln w="12700">
            <a:solidFill>
              <a:srgbClr val="333333"/>
            </a:solidFill>
            <a:prstDash val="solid"/>
          </a:ln>
        </p:spPr>
      </p:sp>
      <p:sp>
        <p:nvSpPr>
          <p:cNvPr id="246" name="Shape 244"/>
          <p:cNvSpPr/>
          <p:nvPr/>
        </p:nvSpPr>
        <p:spPr>
          <a:xfrm>
            <a:off x="39063168" y="8540496"/>
            <a:ext cx="3658" cy="237744"/>
          </a:xfrm>
          <a:prstGeom prst="rect">
            <a:avLst/>
          </a:prstGeom>
          <a:solidFill>
            <a:srgbClr val="3A3F47"/>
          </a:solidFill>
          <a:ln w="12700">
            <a:solidFill>
              <a:srgbClr val="333333"/>
            </a:solidFill>
            <a:prstDash val="solid"/>
          </a:ln>
        </p:spPr>
      </p:sp>
      <p:sp>
        <p:nvSpPr>
          <p:cNvPr id="247" name="Shape 245"/>
          <p:cNvSpPr/>
          <p:nvPr/>
        </p:nvSpPr>
        <p:spPr>
          <a:xfrm>
            <a:off x="44933616" y="8774582"/>
            <a:ext cx="237744" cy="3658"/>
          </a:xfrm>
          <a:prstGeom prst="rect">
            <a:avLst/>
          </a:prstGeom>
          <a:solidFill>
            <a:srgbClr val="3A3F47"/>
          </a:solidFill>
          <a:ln w="12700">
            <a:solidFill>
              <a:srgbClr val="333333"/>
            </a:solidFill>
            <a:prstDash val="solid"/>
          </a:ln>
        </p:spPr>
      </p:sp>
      <p:sp>
        <p:nvSpPr>
          <p:cNvPr id="248" name="Shape 246"/>
          <p:cNvSpPr/>
          <p:nvPr/>
        </p:nvSpPr>
        <p:spPr>
          <a:xfrm>
            <a:off x="45167702" y="8540496"/>
            <a:ext cx="3658" cy="237744"/>
          </a:xfrm>
          <a:prstGeom prst="rect">
            <a:avLst/>
          </a:prstGeom>
          <a:solidFill>
            <a:srgbClr val="3A3F47"/>
          </a:solidFill>
          <a:ln w="12700">
            <a:solidFill>
              <a:srgbClr val="333333"/>
            </a:solidFill>
            <a:prstDash val="solid"/>
          </a:ln>
        </p:spPr>
      </p:sp>
      <p:sp>
        <p:nvSpPr>
          <p:cNvPr id="249" name="Text 247"/>
          <p:cNvSpPr txBox="1"/>
          <p:nvPr/>
        </p:nvSpPr>
        <p:spPr>
          <a:xfrm>
            <a:off x="39063168" y="7050024"/>
            <a:ext cx="6108192" cy="118872"/>
          </a:xfrm>
          <a:prstGeom prst="rect">
            <a:avLst/>
          </a:prstGeom>
          <a:noFill/>
          <a:ln/>
        </p:spPr>
        <p:txBody>
          <a:bodyPr wrap="square" lIns="0" tIns="0" rIns="0" bIns="0" rtlCol="0" anchor="t"/>
          <a:lstStyle/>
          <a:p>
            <a:pPr indent="0" marL="0">
              <a:buNone/>
            </a:pPr>
            <a:r>
              <a:rPr lang="en-US" sz="740" b="1" spc="140" kern="0" dirty="0">
                <a:solidFill>
                  <a:srgbClr val="525862"/>
                </a:solidFill>
                <a:latin typeface="Arial" pitchFamily="34" charset="0"/>
                <a:ea typeface="Arial" pitchFamily="34" charset="-122"/>
                <a:cs typeface="Arial" pitchFamily="34" charset="-120"/>
              </a:rPr>
              <a:t>CABIN DETAIL</a:t>
            </a:r>
            <a:endParaRPr lang="en-US" sz="740" dirty="0"/>
          </a:p>
        </p:txBody>
      </p:sp>
      <p:sp>
        <p:nvSpPr>
          <p:cNvPr id="250" name="Text 248"/>
          <p:cNvSpPr txBox="1"/>
          <p:nvPr/>
        </p:nvSpPr>
        <p:spPr>
          <a:xfrm>
            <a:off x="39374064" y="7232904"/>
            <a:ext cx="5486400" cy="329184"/>
          </a:xfrm>
          <a:prstGeom prst="rect">
            <a:avLst/>
          </a:prstGeom>
          <a:noFill/>
          <a:ln/>
        </p:spPr>
        <p:txBody>
          <a:bodyPr wrap="square" lIns="0" tIns="0" rIns="0" bIns="0" rtlCol="0" anchor="t"/>
          <a:lstStyle/>
          <a:p>
            <a:pPr algn="ctr" indent="0" marL="0">
              <a:lnSpc>
                <a:spcPct val="112000"/>
              </a:lnSpc>
              <a:buNone/>
            </a:pPr>
            <a:r>
              <a:rPr lang="en-US" sz="760" i="1" dirty="0">
                <a:solidFill>
                  <a:srgbClr val="4A505A"/>
                </a:solidFill>
                <a:latin typeface="Arial" pitchFamily="34" charset="0"/>
                <a:ea typeface="Arial" pitchFamily="34" charset="-122"/>
                <a:cs typeface="Arial" pitchFamily="34" charset="-120"/>
              </a:rPr>
              <a:t>the new illuminated AION logo in the star-ring light bar</a:t>
            </a:r>
            <a:endParaRPr lang="en-US" sz="760" dirty="0"/>
          </a:p>
        </p:txBody>
      </p:sp>
      <p:sp>
        <p:nvSpPr>
          <p:cNvPr id="251" name="Text 249"/>
          <p:cNvSpPr txBox="1"/>
          <p:nvPr/>
        </p:nvSpPr>
        <p:spPr>
          <a:xfrm>
            <a:off x="39063168" y="8961120"/>
            <a:ext cx="6108192" cy="118872"/>
          </a:xfrm>
          <a:prstGeom prst="rect">
            <a:avLst/>
          </a:prstGeom>
          <a:noFill/>
          <a:ln/>
        </p:spPr>
        <p:txBody>
          <a:bodyPr wrap="square" lIns="0" tIns="0" rIns="0" bIns="0" rtlCol="0" anchor="t"/>
          <a:lstStyle/>
          <a:p>
            <a:pPr indent="0" marL="0">
              <a:buNone/>
            </a:pPr>
            <a:r>
              <a:rPr lang="en-US" sz="680" b="1" spc="140" kern="0" dirty="0">
                <a:solidFill>
                  <a:srgbClr val="5E636A"/>
                </a:solidFill>
                <a:latin typeface="Arial" pitchFamily="34" charset="0"/>
                <a:ea typeface="Arial" pitchFamily="34" charset="-122"/>
                <a:cs typeface="Arial" pitchFamily="34" charset="-120"/>
              </a:rPr>
              <a:t>SCREENS</a:t>
            </a:r>
            <a:endParaRPr lang="en-US" sz="680" dirty="0"/>
          </a:p>
        </p:txBody>
      </p:sp>
      <p:sp>
        <p:nvSpPr>
          <p:cNvPr id="252" name="Text 250"/>
          <p:cNvSpPr txBox="1"/>
          <p:nvPr/>
        </p:nvSpPr>
        <p:spPr>
          <a:xfrm>
            <a:off x="39063168" y="9089136"/>
            <a:ext cx="6108192" cy="256032"/>
          </a:xfrm>
          <a:prstGeom prst="rect">
            <a:avLst/>
          </a:prstGeom>
          <a:noFill/>
          <a:ln/>
        </p:spPr>
        <p:txBody>
          <a:bodyPr wrap="square" lIns="0" tIns="0" rIns="0" bIns="0" rtlCol="0" anchor="t"/>
          <a:lstStyle/>
          <a:p>
            <a:pPr indent="0" marL="0">
              <a:lnSpc>
                <a:spcPct val="108000"/>
              </a:lnSpc>
              <a:buNone/>
            </a:pPr>
            <a:r>
              <a:rPr lang="en-US" sz="800" dirty="0">
                <a:solidFill>
                  <a:srgbClr val="C6C9CE"/>
                </a:solidFill>
                <a:latin typeface="Arial" pitchFamily="34" charset="0"/>
                <a:ea typeface="Arial" pitchFamily="34" charset="-122"/>
                <a:cs typeface="Arial" pitchFamily="34" charset="-120"/>
              </a:rPr>
              <a:t>Not disclosed at the unveil — the single biggest unknown on this board.</a:t>
            </a:r>
            <a:endParaRPr lang="en-US" sz="800" dirty="0"/>
          </a:p>
        </p:txBody>
      </p:sp>
      <p:sp>
        <p:nvSpPr>
          <p:cNvPr id="253" name="Text 251"/>
          <p:cNvSpPr txBox="1"/>
          <p:nvPr/>
        </p:nvSpPr>
        <p:spPr>
          <a:xfrm>
            <a:off x="39063168" y="9345168"/>
            <a:ext cx="6108192" cy="118872"/>
          </a:xfrm>
          <a:prstGeom prst="rect">
            <a:avLst/>
          </a:prstGeom>
          <a:noFill/>
          <a:ln/>
        </p:spPr>
        <p:txBody>
          <a:bodyPr wrap="square" lIns="0" tIns="0" rIns="0" bIns="0" rtlCol="0" anchor="t"/>
          <a:lstStyle/>
          <a:p>
            <a:pPr indent="0" marL="0">
              <a:buNone/>
            </a:pPr>
            <a:r>
              <a:rPr lang="en-US" sz="680" b="1" spc="140" kern="0" dirty="0">
                <a:solidFill>
                  <a:srgbClr val="5E636A"/>
                </a:solidFill>
                <a:latin typeface="Arial" pitchFamily="34" charset="0"/>
                <a:ea typeface="Arial" pitchFamily="34" charset="-122"/>
                <a:cs typeface="Arial" pitchFamily="34" charset="-120"/>
              </a:rPr>
              <a:t>MATERIAL · COLOUR</a:t>
            </a:r>
            <a:endParaRPr lang="en-US" sz="680" dirty="0"/>
          </a:p>
        </p:txBody>
      </p:sp>
      <p:sp>
        <p:nvSpPr>
          <p:cNvPr id="254" name="Text 252"/>
          <p:cNvSpPr txBox="1"/>
          <p:nvPr/>
        </p:nvSpPr>
        <p:spPr>
          <a:xfrm>
            <a:off x="39063168" y="9473184"/>
            <a:ext cx="6108192" cy="256032"/>
          </a:xfrm>
          <a:prstGeom prst="rect">
            <a:avLst/>
          </a:prstGeom>
          <a:noFill/>
          <a:ln/>
        </p:spPr>
        <p:txBody>
          <a:bodyPr wrap="square" lIns="0" tIns="0" rIns="0" bIns="0" rtlCol="0" anchor="t"/>
          <a:lstStyle/>
          <a:p>
            <a:pPr indent="0" marL="0">
              <a:lnSpc>
                <a:spcPct val="108000"/>
              </a:lnSpc>
              <a:buNone/>
            </a:pPr>
            <a:r>
              <a:rPr lang="en-US" sz="800" dirty="0">
                <a:solidFill>
                  <a:srgbClr val="C6C9CE"/>
                </a:solidFill>
                <a:latin typeface="Arial" pitchFamily="34" charset="0"/>
                <a:ea typeface="Arial" pitchFamily="34" charset="-122"/>
                <a:cs typeface="Arial" pitchFamily="34" charset="-120"/>
              </a:rPr>
              <a:t>Not published. First interior of the post-rebrand AION design language.</a:t>
            </a:r>
            <a:endParaRPr lang="en-US" sz="800" dirty="0"/>
          </a:p>
        </p:txBody>
      </p:sp>
      <p:sp>
        <p:nvSpPr>
          <p:cNvPr id="255" name="Text 253"/>
          <p:cNvSpPr txBox="1"/>
          <p:nvPr/>
        </p:nvSpPr>
        <p:spPr>
          <a:xfrm>
            <a:off x="39063168" y="9729216"/>
            <a:ext cx="6108192" cy="118872"/>
          </a:xfrm>
          <a:prstGeom prst="rect">
            <a:avLst/>
          </a:prstGeom>
          <a:noFill/>
          <a:ln/>
        </p:spPr>
        <p:txBody>
          <a:bodyPr wrap="square" lIns="0" tIns="0" rIns="0" bIns="0" rtlCol="0" anchor="t"/>
          <a:lstStyle/>
          <a:p>
            <a:pPr indent="0" marL="0">
              <a:buNone/>
            </a:pPr>
            <a:r>
              <a:rPr lang="en-US" sz="680" b="1" spc="140" kern="0" dirty="0">
                <a:solidFill>
                  <a:srgbClr val="5E636A"/>
                </a:solidFill>
                <a:latin typeface="Arial" pitchFamily="34" charset="0"/>
                <a:ea typeface="Arial" pitchFamily="34" charset="-122"/>
                <a:cs typeface="Arial" pitchFamily="34" charset="-120"/>
              </a:rPr>
              <a:t>SEAT · COMFORT</a:t>
            </a:r>
            <a:endParaRPr lang="en-US" sz="680" dirty="0"/>
          </a:p>
        </p:txBody>
      </p:sp>
      <p:sp>
        <p:nvSpPr>
          <p:cNvPr id="256" name="Text 254"/>
          <p:cNvSpPr txBox="1"/>
          <p:nvPr/>
        </p:nvSpPr>
        <p:spPr>
          <a:xfrm>
            <a:off x="39063168" y="9857232"/>
            <a:ext cx="6108192" cy="256032"/>
          </a:xfrm>
          <a:prstGeom prst="rect">
            <a:avLst/>
          </a:prstGeom>
          <a:noFill/>
          <a:ln/>
        </p:spPr>
        <p:txBody>
          <a:bodyPr wrap="square" lIns="0" tIns="0" rIns="0" bIns="0" rtlCol="0" anchor="t"/>
          <a:lstStyle/>
          <a:p>
            <a:pPr indent="0" marL="0">
              <a:lnSpc>
                <a:spcPct val="108000"/>
              </a:lnSpc>
              <a:buNone/>
            </a:pPr>
            <a:r>
              <a:rPr lang="en-US" sz="800" dirty="0">
                <a:solidFill>
                  <a:srgbClr val="C6C9CE"/>
                </a:solidFill>
                <a:latin typeface="Arial" pitchFamily="34" charset="0"/>
                <a:ea typeface="Arial" pitchFamily="34" charset="-122"/>
                <a:cs typeface="Arial" pitchFamily="34" charset="-120"/>
              </a:rPr>
              <a:t>Not published.</a:t>
            </a:r>
            <a:endParaRPr lang="en-US" sz="800" dirty="0"/>
          </a:p>
        </p:txBody>
      </p:sp>
      <p:sp>
        <p:nvSpPr>
          <p:cNvPr id="257" name="Text 255"/>
          <p:cNvSpPr txBox="1"/>
          <p:nvPr/>
        </p:nvSpPr>
        <p:spPr>
          <a:xfrm>
            <a:off x="39063168" y="10113264"/>
            <a:ext cx="6108192" cy="118872"/>
          </a:xfrm>
          <a:prstGeom prst="rect">
            <a:avLst/>
          </a:prstGeom>
          <a:noFill/>
          <a:ln/>
        </p:spPr>
        <p:txBody>
          <a:bodyPr wrap="square" lIns="0" tIns="0" rIns="0" bIns="0" rtlCol="0" anchor="t"/>
          <a:lstStyle/>
          <a:p>
            <a:pPr indent="0" marL="0">
              <a:buNone/>
            </a:pPr>
            <a:r>
              <a:rPr lang="en-US" sz="680" b="1" spc="140" kern="0" dirty="0">
                <a:solidFill>
                  <a:srgbClr val="5E636A"/>
                </a:solidFill>
                <a:latin typeface="Arial" pitchFamily="34" charset="0"/>
                <a:ea typeface="Arial" pitchFamily="34" charset="-122"/>
                <a:cs typeface="Arial" pitchFamily="34" charset="-120"/>
              </a:rPr>
              <a:t>FOR WHOM</a:t>
            </a:r>
            <a:endParaRPr lang="en-US" sz="680" dirty="0"/>
          </a:p>
        </p:txBody>
      </p:sp>
      <p:sp>
        <p:nvSpPr>
          <p:cNvPr id="258" name="Text 256"/>
          <p:cNvSpPr txBox="1"/>
          <p:nvPr/>
        </p:nvSpPr>
        <p:spPr>
          <a:xfrm>
            <a:off x="39063168" y="10241280"/>
            <a:ext cx="6108192" cy="256032"/>
          </a:xfrm>
          <a:prstGeom prst="rect">
            <a:avLst/>
          </a:prstGeom>
          <a:noFill/>
          <a:ln/>
        </p:spPr>
        <p:txBody>
          <a:bodyPr wrap="square" lIns="0" tIns="0" rIns="0" bIns="0" rtlCol="0" anchor="t"/>
          <a:lstStyle/>
          <a:p>
            <a:pPr indent="0" marL="0">
              <a:lnSpc>
                <a:spcPct val="108000"/>
              </a:lnSpc>
              <a:buNone/>
            </a:pPr>
            <a:r>
              <a:rPr lang="en-US" sz="800" dirty="0">
                <a:solidFill>
                  <a:srgbClr val="C6C9CE"/>
                </a:solidFill>
                <a:latin typeface="Arial" pitchFamily="34" charset="0"/>
                <a:ea typeface="Arial" pitchFamily="34" charset="-122"/>
                <a:cs typeface="Arial" pitchFamily="34" charset="-120"/>
              </a:rPr>
              <a:t>Launch model of the new Ray series for young buyers. Huawei DriveONE 180 kW.</a:t>
            </a:r>
            <a:endParaRPr lang="en-US" sz="800" dirty="0"/>
          </a:p>
        </p:txBody>
      </p:sp>
      <p:sp>
        <p:nvSpPr>
          <p:cNvPr id="259" name="Shape 257"/>
          <p:cNvSpPr/>
          <p:nvPr/>
        </p:nvSpPr>
        <p:spPr>
          <a:xfrm>
            <a:off x="548640" y="10643616"/>
            <a:ext cx="44622720" cy="12802"/>
          </a:xfrm>
          <a:prstGeom prst="rect">
            <a:avLst/>
          </a:prstGeom>
          <a:solidFill>
            <a:srgbClr val="23262B"/>
          </a:solidFill>
          <a:ln w="12700">
            <a:solidFill>
              <a:srgbClr val="333333"/>
            </a:solidFill>
            <a:prstDash val="solid"/>
          </a:ln>
        </p:spPr>
      </p:sp>
      <p:sp>
        <p:nvSpPr>
          <p:cNvPr id="260" name="Text 258"/>
          <p:cNvSpPr txBox="1"/>
          <p:nvPr/>
        </p:nvSpPr>
        <p:spPr>
          <a:xfrm>
            <a:off x="548640" y="10771632"/>
            <a:ext cx="44622720" cy="292608"/>
          </a:xfrm>
          <a:prstGeom prst="rect">
            <a:avLst/>
          </a:prstGeom>
          <a:noFill/>
          <a:ln/>
        </p:spPr>
        <p:txBody>
          <a:bodyPr wrap="square" lIns="0" tIns="0" rIns="0" bIns="0" rtlCol="0" anchor="t"/>
          <a:lstStyle/>
          <a:p>
            <a:pPr indent="0" marL="0">
              <a:lnSpc>
                <a:spcPct val="114000"/>
              </a:lnSpc>
              <a:buNone/>
            </a:pPr>
            <a:r>
              <a:rPr lang="en-US" sz="700" dirty="0">
                <a:solidFill>
                  <a:srgbClr val="494E55"/>
                </a:solidFill>
                <a:latin typeface="Arial" pitchFamily="34" charset="0"/>
                <a:ea typeface="Arial" pitchFamily="34" charset="-122"/>
                <a:cs typeface="Arial" pitchFamily="34" charset="-120"/>
              </a:rPr>
              <a:t>Image frames are intentionally empty — drop press photography in and the grid holds.   ·   Sources: GAC / AION press material and Auto China 2026 releases; CnEVPost; CarNewsChina; Gasgoo; BitAuto; CarExpert, Chasing Cars, What Car?, Electrifying, RACV, zecar. Compiled September 2026. Prices are China MSRP bands and move with promotion; fields marked “not published” were not found in a primary or reputable secondary source.</a:t>
            </a:r>
            <a:endParaRPr lang="en-US" sz="7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Shape 0"/>
          <p:cNvSpPr/>
          <p:nvPr/>
        </p:nvSpPr>
        <p:spPr>
          <a:xfrm>
            <a:off x="0" y="0"/>
            <a:ext cx="45720000" cy="11320272"/>
          </a:xfrm>
          <a:prstGeom prst="rect">
            <a:avLst/>
          </a:prstGeom>
          <a:solidFill>
            <a:srgbClr val="0A0B0D"/>
          </a:solidFill>
          <a:ln w="12700">
            <a:solidFill>
              <a:srgbClr val="333333"/>
            </a:solidFill>
            <a:prstDash val="solid"/>
          </a:ln>
        </p:spPr>
      </p:sp>
      <p:sp>
        <p:nvSpPr>
          <p:cNvPr id="3" name="Text 1"/>
          <p:cNvSpPr txBox="1"/>
          <p:nvPr/>
        </p:nvSpPr>
        <p:spPr>
          <a:xfrm>
            <a:off x="548640" y="365760"/>
            <a:ext cx="1280160" cy="365760"/>
          </a:xfrm>
          <a:prstGeom prst="rect">
            <a:avLst/>
          </a:prstGeom>
          <a:noFill/>
          <a:ln/>
        </p:spPr>
        <p:txBody>
          <a:bodyPr wrap="square" lIns="0" tIns="0" rIns="0" bIns="0" rtlCol="0" anchor="t"/>
          <a:lstStyle/>
          <a:p>
            <a:pPr indent="0" marL="0">
              <a:buNone/>
            </a:pPr>
            <a:r>
              <a:rPr lang="en-US" sz="2600" b="1" dirty="0">
                <a:solidFill>
                  <a:srgbClr val="343941"/>
                </a:solidFill>
                <a:latin typeface="Cambria" pitchFamily="34" charset="0"/>
                <a:ea typeface="Cambria" pitchFamily="34" charset="-122"/>
                <a:cs typeface="Cambria" pitchFamily="34" charset="-120"/>
              </a:rPr>
              <a:t>02</a:t>
            </a:r>
            <a:endParaRPr lang="en-US" sz="2600" dirty="0"/>
          </a:p>
        </p:txBody>
      </p:sp>
      <p:sp>
        <p:nvSpPr>
          <p:cNvPr id="4" name="Text 2"/>
          <p:cNvSpPr txBox="1"/>
          <p:nvPr/>
        </p:nvSpPr>
        <p:spPr>
          <a:xfrm>
            <a:off x="1207008" y="457200"/>
            <a:ext cx="14630400" cy="118872"/>
          </a:xfrm>
          <a:prstGeom prst="rect">
            <a:avLst/>
          </a:prstGeom>
          <a:noFill/>
          <a:ln/>
        </p:spPr>
        <p:txBody>
          <a:bodyPr wrap="square" lIns="0" tIns="0" rIns="0" bIns="0" rtlCol="0" anchor="t"/>
          <a:lstStyle/>
          <a:p>
            <a:pPr indent="0" marL="0">
              <a:buNone/>
            </a:pPr>
            <a:r>
              <a:rPr lang="en-US" sz="680" b="1" spc="140" kern="0" dirty="0">
                <a:solidFill>
                  <a:srgbClr val="5E636A"/>
                </a:solidFill>
                <a:latin typeface="Arial" pitchFamily="34" charset="0"/>
                <a:ea typeface="Arial" pitchFamily="34" charset="-122"/>
                <a:cs typeface="Arial" pitchFamily="34" charset="-120"/>
              </a:rPr>
              <a:t>INTERIOR BENCHMARK · GAC GROUP · SEPTEMBER 2026</a:t>
            </a:r>
            <a:endParaRPr lang="en-US" sz="680" dirty="0"/>
          </a:p>
        </p:txBody>
      </p:sp>
      <p:sp>
        <p:nvSpPr>
          <p:cNvPr id="5" name="Text 3"/>
          <p:cNvSpPr txBox="1"/>
          <p:nvPr/>
        </p:nvSpPr>
        <p:spPr>
          <a:xfrm>
            <a:off x="1188720" y="603504"/>
            <a:ext cx="27432000" cy="548640"/>
          </a:xfrm>
          <a:prstGeom prst="rect">
            <a:avLst/>
          </a:prstGeom>
          <a:noFill/>
          <a:ln/>
        </p:spPr>
        <p:txBody>
          <a:bodyPr wrap="square" lIns="0" tIns="0" rIns="0" bIns="0" rtlCol="0" anchor="t"/>
          <a:lstStyle/>
          <a:p>
            <a:pPr indent="0" marL="0">
              <a:buNone/>
            </a:pPr>
            <a:r>
              <a:rPr lang="en-US" sz="3200" dirty="0">
                <a:solidFill>
                  <a:srgbClr val="F4F2EE"/>
                </a:solidFill>
                <a:latin typeface="Cambria" pitchFamily="34" charset="0"/>
                <a:ea typeface="Cambria" pitchFamily="34" charset="-122"/>
                <a:cs typeface="Cambria" pitchFamily="34" charset="-120"/>
              </a:rPr>
              <a:t>TRUMPCHI  ·  HYPTEC</a:t>
            </a:r>
            <a:endParaRPr lang="en-US" sz="3200" dirty="0"/>
          </a:p>
        </p:txBody>
      </p:sp>
      <p:sp>
        <p:nvSpPr>
          <p:cNvPr id="6" name="Text 4"/>
          <p:cNvSpPr txBox="1"/>
          <p:nvPr/>
        </p:nvSpPr>
        <p:spPr>
          <a:xfrm>
            <a:off x="1207008" y="1188720"/>
            <a:ext cx="27432000" cy="219456"/>
          </a:xfrm>
          <a:prstGeom prst="rect">
            <a:avLst/>
          </a:prstGeom>
          <a:noFill/>
          <a:ln/>
        </p:spPr>
        <p:txBody>
          <a:bodyPr wrap="square" lIns="0" tIns="0" rIns="0" bIns="0" rtlCol="0" anchor="t"/>
          <a:lstStyle/>
          <a:p>
            <a:pPr indent="0" marL="0">
              <a:buNone/>
            </a:pPr>
            <a:r>
              <a:rPr lang="en-US" sz="960" dirty="0">
                <a:solidFill>
                  <a:srgbClr val="9DA1A8"/>
                </a:solidFill>
                <a:latin typeface="Arial" pitchFamily="34" charset="0"/>
                <a:ea typeface="Arial" pitchFamily="34" charset="-122"/>
                <a:cs typeface="Arial" pitchFamily="34" charset="-120"/>
              </a:rPr>
              <a:t>Six Trumpchi cabins and the Hyptec flagship. Prices are MSRP bands in RMB.</a:t>
            </a:r>
            <a:endParaRPr lang="en-US" sz="960" dirty="0"/>
          </a:p>
        </p:txBody>
      </p:sp>
      <p:sp>
        <p:nvSpPr>
          <p:cNvPr id="7" name="Text 5"/>
          <p:cNvSpPr txBox="1"/>
          <p:nvPr/>
        </p:nvSpPr>
        <p:spPr>
          <a:xfrm>
            <a:off x="1207008" y="1426464"/>
            <a:ext cx="27432000" cy="219456"/>
          </a:xfrm>
          <a:prstGeom prst="rect">
            <a:avLst/>
          </a:prstGeom>
          <a:noFill/>
          <a:ln/>
        </p:spPr>
        <p:txBody>
          <a:bodyPr wrap="square" lIns="0" tIns="0" rIns="0" bIns="0" rtlCol="0" anchor="t"/>
          <a:lstStyle/>
          <a:p>
            <a:pPr indent="0" marL="0">
              <a:buNone/>
            </a:pPr>
            <a:r>
              <a:rPr lang="en-US" sz="960" i="1" dirty="0">
                <a:solidFill>
                  <a:srgbClr val="E07B62"/>
                </a:solidFill>
                <a:latin typeface="Arial" pitchFamily="34" charset="0"/>
                <a:ea typeface="Arial" pitchFamily="34" charset="-122"/>
                <a:cs typeface="Arial" pitchFamily="34" charset="-120"/>
              </a:rPr>
              <a:t>Comfort you can count — recline angle, massage modes, screens per seat.</a:t>
            </a:r>
            <a:endParaRPr lang="en-US" sz="960" dirty="0"/>
          </a:p>
        </p:txBody>
      </p:sp>
      <p:sp>
        <p:nvSpPr>
          <p:cNvPr id="8" name="Text 6"/>
          <p:cNvSpPr txBox="1"/>
          <p:nvPr/>
        </p:nvSpPr>
        <p:spPr>
          <a:xfrm>
            <a:off x="31638240" y="548640"/>
            <a:ext cx="4206240" cy="402336"/>
          </a:xfrm>
          <a:prstGeom prst="rect">
            <a:avLst/>
          </a:prstGeom>
          <a:noFill/>
          <a:ln/>
        </p:spPr>
        <p:txBody>
          <a:bodyPr wrap="square" lIns="0" tIns="0" rIns="0" bIns="0" rtlCol="0" anchor="t"/>
          <a:lstStyle/>
          <a:p>
            <a:pPr indent="0" marL="0">
              <a:buNone/>
            </a:pPr>
            <a:r>
              <a:rPr lang="en-US" sz="2600" dirty="0">
                <a:solidFill>
                  <a:srgbClr val="E07B62"/>
                </a:solidFill>
                <a:latin typeface="Cambria" pitchFamily="34" charset="0"/>
                <a:ea typeface="Cambria" pitchFamily="34" charset="-122"/>
                <a:cs typeface="Cambria" pitchFamily="34" charset="-120"/>
              </a:rPr>
              <a:t>92,100</a:t>
            </a:r>
            <a:endParaRPr lang="en-US" sz="2600" dirty="0"/>
          </a:p>
        </p:txBody>
      </p:sp>
      <p:sp>
        <p:nvSpPr>
          <p:cNvPr id="9" name="Text 7"/>
          <p:cNvSpPr txBox="1"/>
          <p:nvPr/>
        </p:nvSpPr>
        <p:spPr>
          <a:xfrm>
            <a:off x="31638240" y="987552"/>
            <a:ext cx="4206240" cy="347472"/>
          </a:xfrm>
          <a:prstGeom prst="rect">
            <a:avLst/>
          </a:prstGeom>
          <a:noFill/>
          <a:ln/>
        </p:spPr>
        <p:txBody>
          <a:bodyPr wrap="square" lIns="0" tIns="0" rIns="0" bIns="0" rtlCol="0" anchor="t"/>
          <a:lstStyle/>
          <a:p>
            <a:pPr indent="0" marL="0">
              <a:lnSpc>
                <a:spcPct val="110000"/>
              </a:lnSpc>
              <a:buNone/>
            </a:pPr>
            <a:r>
              <a:rPr lang="en-US" sz="760" dirty="0">
                <a:solidFill>
                  <a:srgbClr val="5E636A"/>
                </a:solidFill>
                <a:latin typeface="Arial" pitchFamily="34" charset="0"/>
                <a:ea typeface="Arial" pitchFamily="34" charset="-122"/>
                <a:cs typeface="Arial" pitchFamily="34" charset="-120"/>
              </a:rPr>
              <a:t>TRUMPCHI retail, Q1 2026</a:t>
            </a:r>
            <a:endParaRPr lang="en-US" sz="760" dirty="0"/>
          </a:p>
          <a:p>
            <a:pPr indent="0" marL="0">
              <a:lnSpc>
                <a:spcPct val="110000"/>
              </a:lnSpc>
              <a:buNone/>
            </a:pPr>
            <a:r>
              <a:rPr lang="en-US" sz="760" dirty="0">
                <a:solidFill>
                  <a:srgbClr val="5E636A"/>
                </a:solidFill>
                <a:latin typeface="Arial" pitchFamily="34" charset="0"/>
                <a:ea typeface="Arial" pitchFamily="34" charset="-122"/>
                <a:cs typeface="Arial" pitchFamily="34" charset="-120"/>
              </a:rPr>
              <a:t>+33.1% year on year</a:t>
            </a:r>
            <a:endParaRPr lang="en-US" sz="760" dirty="0"/>
          </a:p>
        </p:txBody>
      </p:sp>
      <p:sp>
        <p:nvSpPr>
          <p:cNvPr id="10" name="Text 8"/>
          <p:cNvSpPr txBox="1"/>
          <p:nvPr/>
        </p:nvSpPr>
        <p:spPr>
          <a:xfrm>
            <a:off x="36210240" y="548640"/>
            <a:ext cx="4206240" cy="402336"/>
          </a:xfrm>
          <a:prstGeom prst="rect">
            <a:avLst/>
          </a:prstGeom>
          <a:noFill/>
          <a:ln/>
        </p:spPr>
        <p:txBody>
          <a:bodyPr wrap="square" lIns="0" tIns="0" rIns="0" bIns="0" rtlCol="0" anchor="t"/>
          <a:lstStyle/>
          <a:p>
            <a:pPr indent="0" marL="0">
              <a:buNone/>
            </a:pPr>
            <a:r>
              <a:rPr lang="en-US" sz="2600" dirty="0">
                <a:solidFill>
                  <a:srgbClr val="F4F2EE"/>
                </a:solidFill>
                <a:latin typeface="Cambria" pitchFamily="34" charset="0"/>
                <a:ea typeface="Cambria" pitchFamily="34" charset="-122"/>
                <a:cs typeface="Cambria" pitchFamily="34" charset="-120"/>
              </a:rPr>
              <a:t>137°</a:t>
            </a:r>
            <a:endParaRPr lang="en-US" sz="2600" dirty="0"/>
          </a:p>
        </p:txBody>
      </p:sp>
      <p:sp>
        <p:nvSpPr>
          <p:cNvPr id="11" name="Text 9"/>
          <p:cNvSpPr txBox="1"/>
          <p:nvPr/>
        </p:nvSpPr>
        <p:spPr>
          <a:xfrm>
            <a:off x="36210240" y="987552"/>
            <a:ext cx="4206240" cy="347472"/>
          </a:xfrm>
          <a:prstGeom prst="rect">
            <a:avLst/>
          </a:prstGeom>
          <a:noFill/>
          <a:ln/>
        </p:spPr>
        <p:txBody>
          <a:bodyPr wrap="square" lIns="0" tIns="0" rIns="0" bIns="0" rtlCol="0" anchor="t"/>
          <a:lstStyle/>
          <a:p>
            <a:pPr indent="0" marL="0">
              <a:lnSpc>
                <a:spcPct val="110000"/>
              </a:lnSpc>
              <a:buNone/>
            </a:pPr>
            <a:r>
              <a:rPr lang="en-US" sz="760" dirty="0">
                <a:solidFill>
                  <a:srgbClr val="5E636A"/>
                </a:solidFill>
                <a:latin typeface="Arial" pitchFamily="34" charset="0"/>
                <a:ea typeface="Arial" pitchFamily="34" charset="-122"/>
                <a:cs typeface="Arial" pitchFamily="34" charset="-120"/>
              </a:rPr>
              <a:t>rear recline already at</a:t>
            </a:r>
            <a:endParaRPr lang="en-US" sz="760" dirty="0"/>
          </a:p>
          <a:p>
            <a:pPr indent="0" marL="0">
              <a:lnSpc>
                <a:spcPct val="110000"/>
              </a:lnSpc>
              <a:buNone/>
            </a:pPr>
            <a:r>
              <a:rPr lang="en-US" sz="760" dirty="0">
                <a:solidFill>
                  <a:srgbClr val="5E636A"/>
                </a:solidFill>
                <a:latin typeface="Arial" pitchFamily="34" charset="0"/>
                <a:ea typeface="Arial" pitchFamily="34" charset="-122"/>
                <a:cs typeface="Arial" pitchFamily="34" charset="-120"/>
              </a:rPr>
              <a:t>¥170k (Xiangwang S7)</a:t>
            </a:r>
            <a:endParaRPr lang="en-US" sz="760" dirty="0"/>
          </a:p>
        </p:txBody>
      </p:sp>
      <p:sp>
        <p:nvSpPr>
          <p:cNvPr id="12" name="Text 10"/>
          <p:cNvSpPr txBox="1"/>
          <p:nvPr/>
        </p:nvSpPr>
        <p:spPr>
          <a:xfrm>
            <a:off x="40782240" y="548640"/>
            <a:ext cx="4389120" cy="402336"/>
          </a:xfrm>
          <a:prstGeom prst="rect">
            <a:avLst/>
          </a:prstGeom>
          <a:noFill/>
          <a:ln/>
        </p:spPr>
        <p:txBody>
          <a:bodyPr wrap="square" lIns="0" tIns="0" rIns="0" bIns="0" rtlCol="0" anchor="t"/>
          <a:lstStyle/>
          <a:p>
            <a:pPr indent="0" marL="0">
              <a:buNone/>
            </a:pPr>
            <a:r>
              <a:rPr lang="en-US" sz="2600" dirty="0">
                <a:solidFill>
                  <a:srgbClr val="C4AC7A"/>
                </a:solidFill>
                <a:latin typeface="Cambria" pitchFamily="34" charset="0"/>
                <a:ea typeface="Cambria" pitchFamily="34" charset="-122"/>
                <a:cs typeface="Cambria" pitchFamily="34" charset="-120"/>
              </a:rPr>
              <a:t>6,536</a:t>
            </a:r>
            <a:endParaRPr lang="en-US" sz="2600" dirty="0"/>
          </a:p>
        </p:txBody>
      </p:sp>
      <p:sp>
        <p:nvSpPr>
          <p:cNvPr id="13" name="Text 11"/>
          <p:cNvSpPr txBox="1"/>
          <p:nvPr/>
        </p:nvSpPr>
        <p:spPr>
          <a:xfrm>
            <a:off x="40782240" y="987552"/>
            <a:ext cx="4389120" cy="347472"/>
          </a:xfrm>
          <a:prstGeom prst="rect">
            <a:avLst/>
          </a:prstGeom>
          <a:noFill/>
          <a:ln/>
        </p:spPr>
        <p:txBody>
          <a:bodyPr wrap="square" lIns="0" tIns="0" rIns="0" bIns="0" rtlCol="0" anchor="t"/>
          <a:lstStyle/>
          <a:p>
            <a:pPr indent="0" marL="0">
              <a:lnSpc>
                <a:spcPct val="110000"/>
              </a:lnSpc>
              <a:buNone/>
            </a:pPr>
            <a:r>
              <a:rPr lang="en-US" sz="760" dirty="0">
                <a:solidFill>
                  <a:srgbClr val="5E636A"/>
                </a:solidFill>
                <a:latin typeface="Arial" pitchFamily="34" charset="0"/>
                <a:ea typeface="Arial" pitchFamily="34" charset="-122"/>
                <a:cs typeface="Arial" pitchFamily="34" charset="-120"/>
              </a:rPr>
              <a:t>mm of ambient light run</a:t>
            </a:r>
            <a:endParaRPr lang="en-US" sz="760" dirty="0"/>
          </a:p>
          <a:p>
            <a:pPr indent="0" marL="0">
              <a:lnSpc>
                <a:spcPct val="110000"/>
              </a:lnSpc>
              <a:buNone/>
            </a:pPr>
            <a:r>
              <a:rPr lang="en-US" sz="760" dirty="0">
                <a:solidFill>
                  <a:srgbClr val="5E636A"/>
                </a:solidFill>
                <a:latin typeface="Arial" pitchFamily="34" charset="0"/>
                <a:ea typeface="Arial" pitchFamily="34" charset="-122"/>
                <a:cs typeface="Arial" pitchFamily="34" charset="-120"/>
              </a:rPr>
              <a:t>in the Hyptec A800</a:t>
            </a:r>
            <a:endParaRPr lang="en-US" sz="760" dirty="0"/>
          </a:p>
        </p:txBody>
      </p:sp>
      <p:sp>
        <p:nvSpPr>
          <p:cNvPr id="14" name="Text 12"/>
          <p:cNvSpPr txBox="1"/>
          <p:nvPr/>
        </p:nvSpPr>
        <p:spPr>
          <a:xfrm>
            <a:off x="548640" y="1956816"/>
            <a:ext cx="4736592" cy="274320"/>
          </a:xfrm>
          <a:prstGeom prst="rect">
            <a:avLst/>
          </a:prstGeom>
          <a:noFill/>
          <a:ln/>
        </p:spPr>
        <p:txBody>
          <a:bodyPr wrap="square" lIns="0" tIns="0" rIns="0" bIns="0" rtlCol="0" anchor="t"/>
          <a:lstStyle/>
          <a:p>
            <a:pPr indent="0" marL="0">
              <a:buNone/>
            </a:pPr>
            <a:r>
              <a:rPr lang="en-US" sz="1300" b="1" spc="70" kern="0" dirty="0">
                <a:solidFill>
                  <a:srgbClr val="F4F2EE"/>
                </a:solidFill>
                <a:latin typeface="Arial" pitchFamily="34" charset="0"/>
                <a:ea typeface="Arial" pitchFamily="34" charset="-122"/>
                <a:cs typeface="Arial" pitchFamily="34" charset="-120"/>
              </a:rPr>
              <a:t>GS3 EMZOOM</a:t>
            </a:r>
            <a:endParaRPr lang="en-US" sz="1300" dirty="0"/>
          </a:p>
        </p:txBody>
      </p:sp>
      <p:sp>
        <p:nvSpPr>
          <p:cNvPr id="15" name="Shape 13"/>
          <p:cNvSpPr/>
          <p:nvPr/>
        </p:nvSpPr>
        <p:spPr>
          <a:xfrm>
            <a:off x="6039612" y="1984248"/>
            <a:ext cx="617220" cy="192024"/>
          </a:xfrm>
          <a:prstGeom prst="roundRect">
            <a:avLst>
              <a:gd name="adj" fmla="val 47619"/>
            </a:avLst>
          </a:prstGeom>
          <a:solidFill>
            <a:srgbClr val="0A0B0D"/>
          </a:solidFill>
          <a:ln w="9525">
            <a:solidFill>
              <a:srgbClr val="6E737A"/>
            </a:solidFill>
            <a:prstDash val="solid"/>
          </a:ln>
        </p:spPr>
      </p:sp>
      <p:sp>
        <p:nvSpPr>
          <p:cNvPr id="16" name="Text 14"/>
          <p:cNvSpPr txBox="1"/>
          <p:nvPr/>
        </p:nvSpPr>
        <p:spPr>
          <a:xfrm>
            <a:off x="6039612" y="2025396"/>
            <a:ext cx="617220" cy="137160"/>
          </a:xfrm>
          <a:prstGeom prst="rect">
            <a:avLst/>
          </a:prstGeom>
          <a:noFill/>
          <a:ln/>
        </p:spPr>
        <p:txBody>
          <a:bodyPr wrap="square" lIns="0" tIns="0" rIns="0" bIns="0" rtlCol="0" anchor="t"/>
          <a:lstStyle/>
          <a:p>
            <a:pPr algn="ctr" indent="0" marL="0">
              <a:buNone/>
            </a:pPr>
            <a:r>
              <a:rPr lang="en-US" sz="660" b="1" spc="100" kern="0" dirty="0">
                <a:solidFill>
                  <a:srgbClr val="6E737A"/>
                </a:solidFill>
                <a:latin typeface="Arial" pitchFamily="34" charset="0"/>
                <a:ea typeface="Arial" pitchFamily="34" charset="-122"/>
                <a:cs typeface="Arial" pitchFamily="34" charset="-120"/>
              </a:rPr>
              <a:t>ENTRY</a:t>
            </a:r>
            <a:endParaRPr lang="en-US" sz="660" dirty="0"/>
          </a:p>
        </p:txBody>
      </p:sp>
      <p:sp>
        <p:nvSpPr>
          <p:cNvPr id="17" name="Text 15"/>
          <p:cNvSpPr txBox="1"/>
          <p:nvPr/>
        </p:nvSpPr>
        <p:spPr>
          <a:xfrm>
            <a:off x="548640" y="2267712"/>
            <a:ext cx="6108192" cy="182880"/>
          </a:xfrm>
          <a:prstGeom prst="rect">
            <a:avLst/>
          </a:prstGeom>
          <a:noFill/>
          <a:ln/>
        </p:spPr>
        <p:txBody>
          <a:bodyPr wrap="square" lIns="0" tIns="0" rIns="0" bIns="0" rtlCol="0" anchor="t"/>
          <a:lstStyle/>
          <a:p>
            <a:pPr indent="0" marL="0">
              <a:buNone/>
            </a:pPr>
            <a:r>
              <a:rPr lang="en-US" sz="760" dirty="0">
                <a:solidFill>
                  <a:srgbClr val="9DA1A8"/>
                </a:solidFill>
                <a:latin typeface="Arial" pitchFamily="34" charset="0"/>
                <a:ea typeface="Arial" pitchFamily="34" charset="-122"/>
                <a:cs typeface="Arial" pitchFamily="34" charset="-120"/>
              </a:rPr>
              <a:t>Small SUV · 1.5T petrol · the brand's youth entry point</a:t>
            </a:r>
            <a:endParaRPr lang="en-US" sz="760" dirty="0"/>
          </a:p>
        </p:txBody>
      </p:sp>
      <p:sp>
        <p:nvSpPr>
          <p:cNvPr id="18" name="Shape 16"/>
          <p:cNvSpPr/>
          <p:nvPr/>
        </p:nvSpPr>
        <p:spPr>
          <a:xfrm>
            <a:off x="548640" y="2542032"/>
            <a:ext cx="6108192" cy="12802"/>
          </a:xfrm>
          <a:prstGeom prst="rect">
            <a:avLst/>
          </a:prstGeom>
          <a:solidFill>
            <a:srgbClr val="E07B62"/>
          </a:solidFill>
          <a:ln w="12700">
            <a:solidFill>
              <a:srgbClr val="333333"/>
            </a:solidFill>
            <a:prstDash val="solid"/>
          </a:ln>
        </p:spPr>
      </p:sp>
      <p:sp>
        <p:nvSpPr>
          <p:cNvPr id="19" name="Shape 17"/>
          <p:cNvSpPr/>
          <p:nvPr/>
        </p:nvSpPr>
        <p:spPr>
          <a:xfrm>
            <a:off x="548640" y="2670048"/>
            <a:ext cx="6108192" cy="2980944"/>
          </a:xfrm>
          <a:prstGeom prst="rect">
            <a:avLst/>
          </a:prstGeom>
          <a:solidFill>
            <a:srgbClr val="14161A"/>
          </a:solidFill>
          <a:ln w="9525">
            <a:solidFill>
              <a:srgbClr val="262A30"/>
            </a:solidFill>
            <a:prstDash val="solid"/>
          </a:ln>
        </p:spPr>
      </p:sp>
      <p:sp>
        <p:nvSpPr>
          <p:cNvPr id="20" name="Shape 18"/>
          <p:cNvSpPr/>
          <p:nvPr/>
        </p:nvSpPr>
        <p:spPr>
          <a:xfrm>
            <a:off x="548640" y="2670048"/>
            <a:ext cx="237744" cy="3658"/>
          </a:xfrm>
          <a:prstGeom prst="rect">
            <a:avLst/>
          </a:prstGeom>
          <a:solidFill>
            <a:srgbClr val="3A3F47"/>
          </a:solidFill>
          <a:ln w="12700">
            <a:solidFill>
              <a:srgbClr val="333333"/>
            </a:solidFill>
            <a:prstDash val="solid"/>
          </a:ln>
        </p:spPr>
      </p:sp>
      <p:sp>
        <p:nvSpPr>
          <p:cNvPr id="21" name="Shape 19"/>
          <p:cNvSpPr/>
          <p:nvPr/>
        </p:nvSpPr>
        <p:spPr>
          <a:xfrm>
            <a:off x="548640" y="2670048"/>
            <a:ext cx="3658" cy="237744"/>
          </a:xfrm>
          <a:prstGeom prst="rect">
            <a:avLst/>
          </a:prstGeom>
          <a:solidFill>
            <a:srgbClr val="3A3F47"/>
          </a:solidFill>
          <a:ln w="12700">
            <a:solidFill>
              <a:srgbClr val="333333"/>
            </a:solidFill>
            <a:prstDash val="solid"/>
          </a:ln>
        </p:spPr>
      </p:sp>
      <p:sp>
        <p:nvSpPr>
          <p:cNvPr id="22" name="Shape 20"/>
          <p:cNvSpPr/>
          <p:nvPr/>
        </p:nvSpPr>
        <p:spPr>
          <a:xfrm>
            <a:off x="6419088" y="2670048"/>
            <a:ext cx="237744" cy="3658"/>
          </a:xfrm>
          <a:prstGeom prst="rect">
            <a:avLst/>
          </a:prstGeom>
          <a:solidFill>
            <a:srgbClr val="3A3F47"/>
          </a:solidFill>
          <a:ln w="12700">
            <a:solidFill>
              <a:srgbClr val="333333"/>
            </a:solidFill>
            <a:prstDash val="solid"/>
          </a:ln>
        </p:spPr>
      </p:sp>
      <p:sp>
        <p:nvSpPr>
          <p:cNvPr id="23" name="Shape 21"/>
          <p:cNvSpPr/>
          <p:nvPr/>
        </p:nvSpPr>
        <p:spPr>
          <a:xfrm>
            <a:off x="6653174" y="2670048"/>
            <a:ext cx="3658" cy="237744"/>
          </a:xfrm>
          <a:prstGeom prst="rect">
            <a:avLst/>
          </a:prstGeom>
          <a:solidFill>
            <a:srgbClr val="3A3F47"/>
          </a:solidFill>
          <a:ln w="12700">
            <a:solidFill>
              <a:srgbClr val="333333"/>
            </a:solidFill>
            <a:prstDash val="solid"/>
          </a:ln>
        </p:spPr>
      </p:sp>
      <p:sp>
        <p:nvSpPr>
          <p:cNvPr id="24" name="Shape 22"/>
          <p:cNvSpPr/>
          <p:nvPr/>
        </p:nvSpPr>
        <p:spPr>
          <a:xfrm>
            <a:off x="548640" y="5647334"/>
            <a:ext cx="237744" cy="3658"/>
          </a:xfrm>
          <a:prstGeom prst="rect">
            <a:avLst/>
          </a:prstGeom>
          <a:solidFill>
            <a:srgbClr val="3A3F47"/>
          </a:solidFill>
          <a:ln w="12700">
            <a:solidFill>
              <a:srgbClr val="333333"/>
            </a:solidFill>
            <a:prstDash val="solid"/>
          </a:ln>
        </p:spPr>
      </p:sp>
      <p:sp>
        <p:nvSpPr>
          <p:cNvPr id="25" name="Shape 23"/>
          <p:cNvSpPr/>
          <p:nvPr/>
        </p:nvSpPr>
        <p:spPr>
          <a:xfrm>
            <a:off x="548640" y="5413248"/>
            <a:ext cx="3658" cy="237744"/>
          </a:xfrm>
          <a:prstGeom prst="rect">
            <a:avLst/>
          </a:prstGeom>
          <a:solidFill>
            <a:srgbClr val="3A3F47"/>
          </a:solidFill>
          <a:ln w="12700">
            <a:solidFill>
              <a:srgbClr val="333333"/>
            </a:solidFill>
            <a:prstDash val="solid"/>
          </a:ln>
        </p:spPr>
      </p:sp>
      <p:sp>
        <p:nvSpPr>
          <p:cNvPr id="26" name="Shape 24"/>
          <p:cNvSpPr/>
          <p:nvPr/>
        </p:nvSpPr>
        <p:spPr>
          <a:xfrm>
            <a:off x="6419088" y="5647334"/>
            <a:ext cx="237744" cy="3658"/>
          </a:xfrm>
          <a:prstGeom prst="rect">
            <a:avLst/>
          </a:prstGeom>
          <a:solidFill>
            <a:srgbClr val="3A3F47"/>
          </a:solidFill>
          <a:ln w="12700">
            <a:solidFill>
              <a:srgbClr val="333333"/>
            </a:solidFill>
            <a:prstDash val="solid"/>
          </a:ln>
        </p:spPr>
      </p:sp>
      <p:sp>
        <p:nvSpPr>
          <p:cNvPr id="27" name="Shape 25"/>
          <p:cNvSpPr/>
          <p:nvPr/>
        </p:nvSpPr>
        <p:spPr>
          <a:xfrm>
            <a:off x="6653174" y="5413248"/>
            <a:ext cx="3658" cy="237744"/>
          </a:xfrm>
          <a:prstGeom prst="rect">
            <a:avLst/>
          </a:prstGeom>
          <a:solidFill>
            <a:srgbClr val="3A3F47"/>
          </a:solidFill>
          <a:ln w="12700">
            <a:solidFill>
              <a:srgbClr val="333333"/>
            </a:solidFill>
            <a:prstDash val="solid"/>
          </a:ln>
        </p:spPr>
      </p:sp>
      <p:sp>
        <p:nvSpPr>
          <p:cNvPr id="28" name="Text 26"/>
          <p:cNvSpPr txBox="1"/>
          <p:nvPr/>
        </p:nvSpPr>
        <p:spPr>
          <a:xfrm>
            <a:off x="548640" y="3922776"/>
            <a:ext cx="6108192" cy="118872"/>
          </a:xfrm>
          <a:prstGeom prst="rect">
            <a:avLst/>
          </a:prstGeom>
          <a:noFill/>
          <a:ln/>
        </p:spPr>
        <p:txBody>
          <a:bodyPr wrap="square" lIns="0" tIns="0" rIns="0" bIns="0" rtlCol="0" anchor="t"/>
          <a:lstStyle/>
          <a:p>
            <a:pPr indent="0" marL="0">
              <a:buNone/>
            </a:pPr>
            <a:r>
              <a:rPr lang="en-US" sz="740" b="1" spc="140" kern="0" dirty="0">
                <a:solidFill>
                  <a:srgbClr val="525862"/>
                </a:solidFill>
                <a:latin typeface="Arial" pitchFamily="34" charset="0"/>
                <a:ea typeface="Arial" pitchFamily="34" charset="-122"/>
                <a:cs typeface="Arial" pitchFamily="34" charset="-120"/>
              </a:rPr>
              <a:t>DASHBOARD / IP</a:t>
            </a:r>
            <a:endParaRPr lang="en-US" sz="740" dirty="0"/>
          </a:p>
        </p:txBody>
      </p:sp>
      <p:sp>
        <p:nvSpPr>
          <p:cNvPr id="29" name="Text 27"/>
          <p:cNvSpPr txBox="1"/>
          <p:nvPr/>
        </p:nvSpPr>
        <p:spPr>
          <a:xfrm>
            <a:off x="859536" y="4105656"/>
            <a:ext cx="5486400" cy="329184"/>
          </a:xfrm>
          <a:prstGeom prst="rect">
            <a:avLst/>
          </a:prstGeom>
          <a:noFill/>
          <a:ln/>
        </p:spPr>
        <p:txBody>
          <a:bodyPr wrap="square" lIns="0" tIns="0" rIns="0" bIns="0" rtlCol="0" anchor="t"/>
          <a:lstStyle/>
          <a:p>
            <a:pPr algn="ctr" indent="0" marL="0">
              <a:lnSpc>
                <a:spcPct val="112000"/>
              </a:lnSpc>
              <a:buNone/>
            </a:pPr>
            <a:r>
              <a:rPr lang="en-US" sz="760" i="1" dirty="0">
                <a:solidFill>
                  <a:srgbClr val="4A505A"/>
                </a:solidFill>
                <a:latin typeface="Arial" pitchFamily="34" charset="0"/>
                <a:ea typeface="Arial" pitchFamily="34" charset="-122"/>
                <a:cs typeface="Arial" pitchFamily="34" charset="-120"/>
              </a:rPr>
              <a:t>driver-side IP</a:t>
            </a:r>
            <a:endParaRPr lang="en-US" sz="760" dirty="0"/>
          </a:p>
        </p:txBody>
      </p:sp>
      <p:sp>
        <p:nvSpPr>
          <p:cNvPr id="30" name="Shape 28"/>
          <p:cNvSpPr/>
          <p:nvPr/>
        </p:nvSpPr>
        <p:spPr>
          <a:xfrm>
            <a:off x="548640" y="5797296"/>
            <a:ext cx="6108192" cy="2980944"/>
          </a:xfrm>
          <a:prstGeom prst="rect">
            <a:avLst/>
          </a:prstGeom>
          <a:solidFill>
            <a:srgbClr val="14161A"/>
          </a:solidFill>
          <a:ln w="9525">
            <a:solidFill>
              <a:srgbClr val="262A30"/>
            </a:solidFill>
            <a:prstDash val="solid"/>
          </a:ln>
        </p:spPr>
      </p:sp>
      <p:sp>
        <p:nvSpPr>
          <p:cNvPr id="31" name="Shape 29"/>
          <p:cNvSpPr/>
          <p:nvPr/>
        </p:nvSpPr>
        <p:spPr>
          <a:xfrm>
            <a:off x="548640" y="5797296"/>
            <a:ext cx="237744" cy="3658"/>
          </a:xfrm>
          <a:prstGeom prst="rect">
            <a:avLst/>
          </a:prstGeom>
          <a:solidFill>
            <a:srgbClr val="3A3F47"/>
          </a:solidFill>
          <a:ln w="12700">
            <a:solidFill>
              <a:srgbClr val="333333"/>
            </a:solidFill>
            <a:prstDash val="solid"/>
          </a:ln>
        </p:spPr>
      </p:sp>
      <p:sp>
        <p:nvSpPr>
          <p:cNvPr id="32" name="Shape 30"/>
          <p:cNvSpPr/>
          <p:nvPr/>
        </p:nvSpPr>
        <p:spPr>
          <a:xfrm>
            <a:off x="548640" y="5797296"/>
            <a:ext cx="3658" cy="237744"/>
          </a:xfrm>
          <a:prstGeom prst="rect">
            <a:avLst/>
          </a:prstGeom>
          <a:solidFill>
            <a:srgbClr val="3A3F47"/>
          </a:solidFill>
          <a:ln w="12700">
            <a:solidFill>
              <a:srgbClr val="333333"/>
            </a:solidFill>
            <a:prstDash val="solid"/>
          </a:ln>
        </p:spPr>
      </p:sp>
      <p:sp>
        <p:nvSpPr>
          <p:cNvPr id="33" name="Shape 31"/>
          <p:cNvSpPr/>
          <p:nvPr/>
        </p:nvSpPr>
        <p:spPr>
          <a:xfrm>
            <a:off x="6419088" y="5797296"/>
            <a:ext cx="237744" cy="3658"/>
          </a:xfrm>
          <a:prstGeom prst="rect">
            <a:avLst/>
          </a:prstGeom>
          <a:solidFill>
            <a:srgbClr val="3A3F47"/>
          </a:solidFill>
          <a:ln w="12700">
            <a:solidFill>
              <a:srgbClr val="333333"/>
            </a:solidFill>
            <a:prstDash val="solid"/>
          </a:ln>
        </p:spPr>
      </p:sp>
      <p:sp>
        <p:nvSpPr>
          <p:cNvPr id="34" name="Shape 32"/>
          <p:cNvSpPr/>
          <p:nvPr/>
        </p:nvSpPr>
        <p:spPr>
          <a:xfrm>
            <a:off x="6653174" y="5797296"/>
            <a:ext cx="3658" cy="237744"/>
          </a:xfrm>
          <a:prstGeom prst="rect">
            <a:avLst/>
          </a:prstGeom>
          <a:solidFill>
            <a:srgbClr val="3A3F47"/>
          </a:solidFill>
          <a:ln w="12700">
            <a:solidFill>
              <a:srgbClr val="333333"/>
            </a:solidFill>
            <a:prstDash val="solid"/>
          </a:ln>
        </p:spPr>
      </p:sp>
      <p:sp>
        <p:nvSpPr>
          <p:cNvPr id="35" name="Shape 33"/>
          <p:cNvSpPr/>
          <p:nvPr/>
        </p:nvSpPr>
        <p:spPr>
          <a:xfrm>
            <a:off x="548640" y="8774582"/>
            <a:ext cx="237744" cy="3658"/>
          </a:xfrm>
          <a:prstGeom prst="rect">
            <a:avLst/>
          </a:prstGeom>
          <a:solidFill>
            <a:srgbClr val="3A3F47"/>
          </a:solidFill>
          <a:ln w="12700">
            <a:solidFill>
              <a:srgbClr val="333333"/>
            </a:solidFill>
            <a:prstDash val="solid"/>
          </a:ln>
        </p:spPr>
      </p:sp>
      <p:sp>
        <p:nvSpPr>
          <p:cNvPr id="36" name="Shape 34"/>
          <p:cNvSpPr/>
          <p:nvPr/>
        </p:nvSpPr>
        <p:spPr>
          <a:xfrm>
            <a:off x="548640" y="8540496"/>
            <a:ext cx="3658" cy="237744"/>
          </a:xfrm>
          <a:prstGeom prst="rect">
            <a:avLst/>
          </a:prstGeom>
          <a:solidFill>
            <a:srgbClr val="3A3F47"/>
          </a:solidFill>
          <a:ln w="12700">
            <a:solidFill>
              <a:srgbClr val="333333"/>
            </a:solidFill>
            <a:prstDash val="solid"/>
          </a:ln>
        </p:spPr>
      </p:sp>
      <p:sp>
        <p:nvSpPr>
          <p:cNvPr id="37" name="Shape 35"/>
          <p:cNvSpPr/>
          <p:nvPr/>
        </p:nvSpPr>
        <p:spPr>
          <a:xfrm>
            <a:off x="6419088" y="8774582"/>
            <a:ext cx="237744" cy="3658"/>
          </a:xfrm>
          <a:prstGeom prst="rect">
            <a:avLst/>
          </a:prstGeom>
          <a:solidFill>
            <a:srgbClr val="3A3F47"/>
          </a:solidFill>
          <a:ln w="12700">
            <a:solidFill>
              <a:srgbClr val="333333"/>
            </a:solidFill>
            <a:prstDash val="solid"/>
          </a:ln>
        </p:spPr>
      </p:sp>
      <p:sp>
        <p:nvSpPr>
          <p:cNvPr id="38" name="Shape 36"/>
          <p:cNvSpPr/>
          <p:nvPr/>
        </p:nvSpPr>
        <p:spPr>
          <a:xfrm>
            <a:off x="6653174" y="8540496"/>
            <a:ext cx="3658" cy="237744"/>
          </a:xfrm>
          <a:prstGeom prst="rect">
            <a:avLst/>
          </a:prstGeom>
          <a:solidFill>
            <a:srgbClr val="3A3F47"/>
          </a:solidFill>
          <a:ln w="12700">
            <a:solidFill>
              <a:srgbClr val="333333"/>
            </a:solidFill>
            <a:prstDash val="solid"/>
          </a:ln>
        </p:spPr>
      </p:sp>
      <p:sp>
        <p:nvSpPr>
          <p:cNvPr id="39" name="Text 37"/>
          <p:cNvSpPr txBox="1"/>
          <p:nvPr/>
        </p:nvSpPr>
        <p:spPr>
          <a:xfrm>
            <a:off x="548640" y="7050024"/>
            <a:ext cx="6108192" cy="118872"/>
          </a:xfrm>
          <a:prstGeom prst="rect">
            <a:avLst/>
          </a:prstGeom>
          <a:noFill/>
          <a:ln/>
        </p:spPr>
        <p:txBody>
          <a:bodyPr wrap="square" lIns="0" tIns="0" rIns="0" bIns="0" rtlCol="0" anchor="t"/>
          <a:lstStyle/>
          <a:p>
            <a:pPr indent="0" marL="0">
              <a:buNone/>
            </a:pPr>
            <a:r>
              <a:rPr lang="en-US" sz="740" b="1" spc="140" kern="0" dirty="0">
                <a:solidFill>
                  <a:srgbClr val="525862"/>
                </a:solidFill>
                <a:latin typeface="Arial" pitchFamily="34" charset="0"/>
                <a:ea typeface="Arial" pitchFamily="34" charset="-122"/>
                <a:cs typeface="Arial" pitchFamily="34" charset="-120"/>
              </a:rPr>
              <a:t>CABIN DETAIL</a:t>
            </a:r>
            <a:endParaRPr lang="en-US" sz="740" dirty="0"/>
          </a:p>
        </p:txBody>
      </p:sp>
      <p:sp>
        <p:nvSpPr>
          <p:cNvPr id="40" name="Text 38"/>
          <p:cNvSpPr txBox="1"/>
          <p:nvPr/>
        </p:nvSpPr>
        <p:spPr>
          <a:xfrm>
            <a:off x="859536" y="7232904"/>
            <a:ext cx="5486400" cy="329184"/>
          </a:xfrm>
          <a:prstGeom prst="rect">
            <a:avLst/>
          </a:prstGeom>
          <a:noFill/>
          <a:ln/>
        </p:spPr>
        <p:txBody>
          <a:bodyPr wrap="square" lIns="0" tIns="0" rIns="0" bIns="0" rtlCol="0" anchor="t"/>
          <a:lstStyle/>
          <a:p>
            <a:pPr algn="ctr" indent="0" marL="0">
              <a:lnSpc>
                <a:spcPct val="112000"/>
              </a:lnSpc>
              <a:buNone/>
            </a:pPr>
            <a:r>
              <a:rPr lang="en-US" sz="760" i="1" dirty="0">
                <a:solidFill>
                  <a:srgbClr val="4A505A"/>
                </a:solidFill>
                <a:latin typeface="Arial" pitchFamily="34" charset="0"/>
                <a:ea typeface="Arial" pitchFamily="34" charset="-122"/>
                <a:cs typeface="Arial" pitchFamily="34" charset="-120"/>
              </a:rPr>
              <a:t>sport seat bolster and ambient lighting</a:t>
            </a:r>
            <a:endParaRPr lang="en-US" sz="760" dirty="0"/>
          </a:p>
        </p:txBody>
      </p:sp>
      <p:sp>
        <p:nvSpPr>
          <p:cNvPr id="41" name="Text 39"/>
          <p:cNvSpPr txBox="1"/>
          <p:nvPr/>
        </p:nvSpPr>
        <p:spPr>
          <a:xfrm>
            <a:off x="548640" y="8961120"/>
            <a:ext cx="6108192" cy="118872"/>
          </a:xfrm>
          <a:prstGeom prst="rect">
            <a:avLst/>
          </a:prstGeom>
          <a:noFill/>
          <a:ln/>
        </p:spPr>
        <p:txBody>
          <a:bodyPr wrap="square" lIns="0" tIns="0" rIns="0" bIns="0" rtlCol="0" anchor="t"/>
          <a:lstStyle/>
          <a:p>
            <a:pPr indent="0" marL="0">
              <a:buNone/>
            </a:pPr>
            <a:r>
              <a:rPr lang="en-US" sz="680" b="1" spc="140" kern="0" dirty="0">
                <a:solidFill>
                  <a:srgbClr val="5E636A"/>
                </a:solidFill>
                <a:latin typeface="Arial" pitchFamily="34" charset="0"/>
                <a:ea typeface="Arial" pitchFamily="34" charset="-122"/>
                <a:cs typeface="Arial" pitchFamily="34" charset="-120"/>
              </a:rPr>
              <a:t>SCREENS</a:t>
            </a:r>
            <a:endParaRPr lang="en-US" sz="680" dirty="0"/>
          </a:p>
        </p:txBody>
      </p:sp>
      <p:sp>
        <p:nvSpPr>
          <p:cNvPr id="42" name="Text 40"/>
          <p:cNvSpPr txBox="1"/>
          <p:nvPr/>
        </p:nvSpPr>
        <p:spPr>
          <a:xfrm>
            <a:off x="548640" y="9089136"/>
            <a:ext cx="6108192" cy="256032"/>
          </a:xfrm>
          <a:prstGeom prst="rect">
            <a:avLst/>
          </a:prstGeom>
          <a:noFill/>
          <a:ln/>
        </p:spPr>
        <p:txBody>
          <a:bodyPr wrap="square" lIns="0" tIns="0" rIns="0" bIns="0" rtlCol="0" anchor="t"/>
          <a:lstStyle/>
          <a:p>
            <a:pPr indent="0" marL="0">
              <a:lnSpc>
                <a:spcPct val="108000"/>
              </a:lnSpc>
              <a:buNone/>
            </a:pPr>
            <a:r>
              <a:rPr lang="en-US" sz="800" dirty="0">
                <a:solidFill>
                  <a:srgbClr val="C6C9CE"/>
                </a:solidFill>
                <a:latin typeface="Arial" pitchFamily="34" charset="0"/>
                <a:ea typeface="Arial" pitchFamily="34" charset="-122"/>
                <a:cs typeface="Arial" pitchFamily="34" charset="-120"/>
              </a:rPr>
              <a:t>12.3" centre screen — the smallest display anywhere in the group.</a:t>
            </a:r>
            <a:endParaRPr lang="en-US" sz="800" dirty="0"/>
          </a:p>
        </p:txBody>
      </p:sp>
      <p:sp>
        <p:nvSpPr>
          <p:cNvPr id="43" name="Text 41"/>
          <p:cNvSpPr txBox="1"/>
          <p:nvPr/>
        </p:nvSpPr>
        <p:spPr>
          <a:xfrm>
            <a:off x="548640" y="9345168"/>
            <a:ext cx="6108192" cy="118872"/>
          </a:xfrm>
          <a:prstGeom prst="rect">
            <a:avLst/>
          </a:prstGeom>
          <a:noFill/>
          <a:ln/>
        </p:spPr>
        <p:txBody>
          <a:bodyPr wrap="square" lIns="0" tIns="0" rIns="0" bIns="0" rtlCol="0" anchor="t"/>
          <a:lstStyle/>
          <a:p>
            <a:pPr indent="0" marL="0">
              <a:buNone/>
            </a:pPr>
            <a:r>
              <a:rPr lang="en-US" sz="680" b="1" spc="140" kern="0" dirty="0">
                <a:solidFill>
                  <a:srgbClr val="5E636A"/>
                </a:solidFill>
                <a:latin typeface="Arial" pitchFamily="34" charset="0"/>
                <a:ea typeface="Arial" pitchFamily="34" charset="-122"/>
                <a:cs typeface="Arial" pitchFamily="34" charset="-120"/>
              </a:rPr>
              <a:t>MATERIAL · COLOUR</a:t>
            </a:r>
            <a:endParaRPr lang="en-US" sz="680" dirty="0"/>
          </a:p>
        </p:txBody>
      </p:sp>
      <p:sp>
        <p:nvSpPr>
          <p:cNvPr id="44" name="Text 42"/>
          <p:cNvSpPr txBox="1"/>
          <p:nvPr/>
        </p:nvSpPr>
        <p:spPr>
          <a:xfrm>
            <a:off x="548640" y="9473184"/>
            <a:ext cx="6108192" cy="256032"/>
          </a:xfrm>
          <a:prstGeom prst="rect">
            <a:avLst/>
          </a:prstGeom>
          <a:noFill/>
          <a:ln/>
        </p:spPr>
        <p:txBody>
          <a:bodyPr wrap="square" lIns="0" tIns="0" rIns="0" bIns="0" rtlCol="0" anchor="t"/>
          <a:lstStyle/>
          <a:p>
            <a:pPr indent="0" marL="0">
              <a:lnSpc>
                <a:spcPct val="108000"/>
              </a:lnSpc>
              <a:buNone/>
            </a:pPr>
            <a:r>
              <a:rPr lang="en-US" sz="800" dirty="0">
                <a:solidFill>
                  <a:srgbClr val="C6C9CE"/>
                </a:solidFill>
                <a:latin typeface="Arial" pitchFamily="34" charset="0"/>
                <a:ea typeface="Arial" pitchFamily="34" charset="-122"/>
                <a:cs typeface="Arial" pitchFamily="34" charset="-120"/>
              </a:rPr>
              <a:t>32-colour ambient even at the entry point. Driver-focused, sport-flavoured trim.</a:t>
            </a:r>
            <a:endParaRPr lang="en-US" sz="800" dirty="0"/>
          </a:p>
        </p:txBody>
      </p:sp>
      <p:sp>
        <p:nvSpPr>
          <p:cNvPr id="45" name="Text 43"/>
          <p:cNvSpPr txBox="1"/>
          <p:nvPr/>
        </p:nvSpPr>
        <p:spPr>
          <a:xfrm>
            <a:off x="548640" y="9729216"/>
            <a:ext cx="6108192" cy="118872"/>
          </a:xfrm>
          <a:prstGeom prst="rect">
            <a:avLst/>
          </a:prstGeom>
          <a:noFill/>
          <a:ln/>
        </p:spPr>
        <p:txBody>
          <a:bodyPr wrap="square" lIns="0" tIns="0" rIns="0" bIns="0" rtlCol="0" anchor="t"/>
          <a:lstStyle/>
          <a:p>
            <a:pPr indent="0" marL="0">
              <a:buNone/>
            </a:pPr>
            <a:r>
              <a:rPr lang="en-US" sz="680" b="1" spc="140" kern="0" dirty="0">
                <a:solidFill>
                  <a:srgbClr val="5E636A"/>
                </a:solidFill>
                <a:latin typeface="Arial" pitchFamily="34" charset="0"/>
                <a:ea typeface="Arial" pitchFamily="34" charset="-122"/>
                <a:cs typeface="Arial" pitchFamily="34" charset="-120"/>
              </a:rPr>
              <a:t>SEAT · COMFORT</a:t>
            </a:r>
            <a:endParaRPr lang="en-US" sz="680" dirty="0"/>
          </a:p>
        </p:txBody>
      </p:sp>
      <p:sp>
        <p:nvSpPr>
          <p:cNvPr id="46" name="Text 44"/>
          <p:cNvSpPr txBox="1"/>
          <p:nvPr/>
        </p:nvSpPr>
        <p:spPr>
          <a:xfrm>
            <a:off x="548640" y="9857232"/>
            <a:ext cx="6108192" cy="256032"/>
          </a:xfrm>
          <a:prstGeom prst="rect">
            <a:avLst/>
          </a:prstGeom>
          <a:noFill/>
          <a:ln/>
        </p:spPr>
        <p:txBody>
          <a:bodyPr wrap="square" lIns="0" tIns="0" rIns="0" bIns="0" rtlCol="0" anchor="t"/>
          <a:lstStyle/>
          <a:p>
            <a:pPr indent="0" marL="0">
              <a:lnSpc>
                <a:spcPct val="108000"/>
              </a:lnSpc>
              <a:buNone/>
            </a:pPr>
            <a:r>
              <a:rPr lang="en-US" sz="800" dirty="0">
                <a:solidFill>
                  <a:srgbClr val="C6C9CE"/>
                </a:solidFill>
                <a:latin typeface="Arial" pitchFamily="34" charset="0"/>
                <a:ea typeface="Arial" pitchFamily="34" charset="-122"/>
                <a:cs typeface="Arial" pitchFamily="34" charset="-120"/>
              </a:rPr>
              <a:t>Sport-bolstered fronts. No comfort electronics at this level.</a:t>
            </a:r>
            <a:endParaRPr lang="en-US" sz="800" dirty="0"/>
          </a:p>
        </p:txBody>
      </p:sp>
      <p:sp>
        <p:nvSpPr>
          <p:cNvPr id="47" name="Text 45"/>
          <p:cNvSpPr txBox="1"/>
          <p:nvPr/>
        </p:nvSpPr>
        <p:spPr>
          <a:xfrm>
            <a:off x="548640" y="10113264"/>
            <a:ext cx="6108192" cy="118872"/>
          </a:xfrm>
          <a:prstGeom prst="rect">
            <a:avLst/>
          </a:prstGeom>
          <a:noFill/>
          <a:ln/>
        </p:spPr>
        <p:txBody>
          <a:bodyPr wrap="square" lIns="0" tIns="0" rIns="0" bIns="0" rtlCol="0" anchor="t"/>
          <a:lstStyle/>
          <a:p>
            <a:pPr indent="0" marL="0">
              <a:buNone/>
            </a:pPr>
            <a:r>
              <a:rPr lang="en-US" sz="680" b="1" spc="140" kern="0" dirty="0">
                <a:solidFill>
                  <a:srgbClr val="5E636A"/>
                </a:solidFill>
                <a:latin typeface="Arial" pitchFamily="34" charset="0"/>
                <a:ea typeface="Arial" pitchFamily="34" charset="-122"/>
                <a:cs typeface="Arial" pitchFamily="34" charset="-120"/>
              </a:rPr>
              <a:t>FOR WHOM</a:t>
            </a:r>
            <a:endParaRPr lang="en-US" sz="680" dirty="0"/>
          </a:p>
        </p:txBody>
      </p:sp>
      <p:sp>
        <p:nvSpPr>
          <p:cNvPr id="48" name="Text 46"/>
          <p:cNvSpPr txBox="1"/>
          <p:nvPr/>
        </p:nvSpPr>
        <p:spPr>
          <a:xfrm>
            <a:off x="548640" y="10241280"/>
            <a:ext cx="6108192" cy="256032"/>
          </a:xfrm>
          <a:prstGeom prst="rect">
            <a:avLst/>
          </a:prstGeom>
          <a:noFill/>
          <a:ln/>
        </p:spPr>
        <p:txBody>
          <a:bodyPr wrap="square" lIns="0" tIns="0" rIns="0" bIns="0" rtlCol="0" anchor="t"/>
          <a:lstStyle/>
          <a:p>
            <a:pPr indent="0" marL="0">
              <a:lnSpc>
                <a:spcPct val="108000"/>
              </a:lnSpc>
              <a:buNone/>
            </a:pPr>
            <a:r>
              <a:rPr lang="en-US" sz="800" dirty="0">
                <a:solidFill>
                  <a:srgbClr val="C6C9CE"/>
                </a:solidFill>
                <a:latin typeface="Arial" pitchFamily="34" charset="0"/>
                <a:ea typeface="Arial" pitchFamily="34" charset="-122"/>
                <a:cs typeface="Arial" pitchFamily="34" charset="-120"/>
              </a:rPr>
              <a:t>Under-30 first-car buyer who still wants an engine.</a:t>
            </a:r>
            <a:endParaRPr lang="en-US" sz="800" dirty="0"/>
          </a:p>
        </p:txBody>
      </p:sp>
      <p:sp>
        <p:nvSpPr>
          <p:cNvPr id="49" name="Text 47"/>
          <p:cNvSpPr txBox="1"/>
          <p:nvPr/>
        </p:nvSpPr>
        <p:spPr>
          <a:xfrm>
            <a:off x="6967728" y="1956816"/>
            <a:ext cx="4736592" cy="274320"/>
          </a:xfrm>
          <a:prstGeom prst="rect">
            <a:avLst/>
          </a:prstGeom>
          <a:noFill/>
          <a:ln/>
        </p:spPr>
        <p:txBody>
          <a:bodyPr wrap="square" lIns="0" tIns="0" rIns="0" bIns="0" rtlCol="0" anchor="t"/>
          <a:lstStyle/>
          <a:p>
            <a:pPr indent="0" marL="0">
              <a:buNone/>
            </a:pPr>
            <a:r>
              <a:rPr lang="en-US" sz="1300" b="1" spc="70" kern="0" dirty="0">
                <a:solidFill>
                  <a:srgbClr val="F4F2EE"/>
                </a:solidFill>
                <a:latin typeface="Arial" pitchFamily="34" charset="0"/>
                <a:ea typeface="Arial" pitchFamily="34" charset="-122"/>
                <a:cs typeface="Arial" pitchFamily="34" charset="-120"/>
              </a:rPr>
              <a:t>GS8</a:t>
            </a:r>
            <a:endParaRPr lang="en-US" sz="1300" dirty="0"/>
          </a:p>
        </p:txBody>
      </p:sp>
      <p:sp>
        <p:nvSpPr>
          <p:cNvPr id="50" name="Shape 48"/>
          <p:cNvSpPr/>
          <p:nvPr/>
        </p:nvSpPr>
        <p:spPr>
          <a:xfrm>
            <a:off x="12595860" y="1984248"/>
            <a:ext cx="480060" cy="192024"/>
          </a:xfrm>
          <a:prstGeom prst="roundRect">
            <a:avLst>
              <a:gd name="adj" fmla="val 47619"/>
            </a:avLst>
          </a:prstGeom>
          <a:solidFill>
            <a:srgbClr val="0A0B0D"/>
          </a:solidFill>
          <a:ln w="9525">
            <a:solidFill>
              <a:srgbClr val="8B9098"/>
            </a:solidFill>
            <a:prstDash val="solid"/>
          </a:ln>
        </p:spPr>
      </p:sp>
      <p:sp>
        <p:nvSpPr>
          <p:cNvPr id="51" name="Text 49"/>
          <p:cNvSpPr txBox="1"/>
          <p:nvPr/>
        </p:nvSpPr>
        <p:spPr>
          <a:xfrm>
            <a:off x="12595860" y="2025396"/>
            <a:ext cx="480060" cy="137160"/>
          </a:xfrm>
          <a:prstGeom prst="rect">
            <a:avLst/>
          </a:prstGeom>
          <a:noFill/>
          <a:ln/>
        </p:spPr>
        <p:txBody>
          <a:bodyPr wrap="square" lIns="0" tIns="0" rIns="0" bIns="0" rtlCol="0" anchor="t"/>
          <a:lstStyle/>
          <a:p>
            <a:pPr algn="ctr" indent="0" marL="0">
              <a:buNone/>
            </a:pPr>
            <a:r>
              <a:rPr lang="en-US" sz="660" b="1" spc="100" kern="0" dirty="0">
                <a:solidFill>
                  <a:srgbClr val="8B9098"/>
                </a:solidFill>
                <a:latin typeface="Arial" pitchFamily="34" charset="0"/>
                <a:ea typeface="Arial" pitchFamily="34" charset="-122"/>
                <a:cs typeface="Arial" pitchFamily="34" charset="-120"/>
              </a:rPr>
              <a:t>MID</a:t>
            </a:r>
            <a:endParaRPr lang="en-US" sz="660" dirty="0"/>
          </a:p>
        </p:txBody>
      </p:sp>
      <p:sp>
        <p:nvSpPr>
          <p:cNvPr id="52" name="Text 50"/>
          <p:cNvSpPr txBox="1"/>
          <p:nvPr/>
        </p:nvSpPr>
        <p:spPr>
          <a:xfrm>
            <a:off x="6967728" y="2267712"/>
            <a:ext cx="6108192" cy="182880"/>
          </a:xfrm>
          <a:prstGeom prst="rect">
            <a:avLst/>
          </a:prstGeom>
          <a:noFill/>
          <a:ln/>
        </p:spPr>
        <p:txBody>
          <a:bodyPr wrap="square" lIns="0" tIns="0" rIns="0" bIns="0" rtlCol="0" anchor="t"/>
          <a:lstStyle/>
          <a:p>
            <a:pPr indent="0" marL="0">
              <a:buNone/>
            </a:pPr>
            <a:r>
              <a:rPr lang="en-US" sz="760" dirty="0">
                <a:solidFill>
                  <a:srgbClr val="9DA1A8"/>
                </a:solidFill>
                <a:latin typeface="Arial" pitchFamily="34" charset="0"/>
                <a:ea typeface="Arial" pitchFamily="34" charset="-122"/>
                <a:cs typeface="Arial" pitchFamily="34" charset="-120"/>
              </a:rPr>
              <a:t>Large 7-seat SUV · 2.0T 252 hp / hybrid · from ≈¥159.8k</a:t>
            </a:r>
            <a:endParaRPr lang="en-US" sz="760" dirty="0"/>
          </a:p>
        </p:txBody>
      </p:sp>
      <p:sp>
        <p:nvSpPr>
          <p:cNvPr id="53" name="Shape 51"/>
          <p:cNvSpPr/>
          <p:nvPr/>
        </p:nvSpPr>
        <p:spPr>
          <a:xfrm>
            <a:off x="6967728" y="2542032"/>
            <a:ext cx="6108192" cy="12802"/>
          </a:xfrm>
          <a:prstGeom prst="rect">
            <a:avLst/>
          </a:prstGeom>
          <a:solidFill>
            <a:srgbClr val="E07B62"/>
          </a:solidFill>
          <a:ln w="12700">
            <a:solidFill>
              <a:srgbClr val="333333"/>
            </a:solidFill>
            <a:prstDash val="solid"/>
          </a:ln>
        </p:spPr>
      </p:sp>
      <p:sp>
        <p:nvSpPr>
          <p:cNvPr id="54" name="Shape 52"/>
          <p:cNvSpPr/>
          <p:nvPr/>
        </p:nvSpPr>
        <p:spPr>
          <a:xfrm>
            <a:off x="6967728" y="2670048"/>
            <a:ext cx="6108192" cy="2980944"/>
          </a:xfrm>
          <a:prstGeom prst="rect">
            <a:avLst/>
          </a:prstGeom>
          <a:solidFill>
            <a:srgbClr val="14161A"/>
          </a:solidFill>
          <a:ln w="9525">
            <a:solidFill>
              <a:srgbClr val="262A30"/>
            </a:solidFill>
            <a:prstDash val="solid"/>
          </a:ln>
        </p:spPr>
      </p:sp>
      <p:sp>
        <p:nvSpPr>
          <p:cNvPr id="55" name="Shape 53"/>
          <p:cNvSpPr/>
          <p:nvPr/>
        </p:nvSpPr>
        <p:spPr>
          <a:xfrm>
            <a:off x="6967728" y="2670048"/>
            <a:ext cx="237744" cy="3658"/>
          </a:xfrm>
          <a:prstGeom prst="rect">
            <a:avLst/>
          </a:prstGeom>
          <a:solidFill>
            <a:srgbClr val="3A3F47"/>
          </a:solidFill>
          <a:ln w="12700">
            <a:solidFill>
              <a:srgbClr val="333333"/>
            </a:solidFill>
            <a:prstDash val="solid"/>
          </a:ln>
        </p:spPr>
      </p:sp>
      <p:sp>
        <p:nvSpPr>
          <p:cNvPr id="56" name="Shape 54"/>
          <p:cNvSpPr/>
          <p:nvPr/>
        </p:nvSpPr>
        <p:spPr>
          <a:xfrm>
            <a:off x="6967728" y="2670048"/>
            <a:ext cx="3658" cy="237744"/>
          </a:xfrm>
          <a:prstGeom prst="rect">
            <a:avLst/>
          </a:prstGeom>
          <a:solidFill>
            <a:srgbClr val="3A3F47"/>
          </a:solidFill>
          <a:ln w="12700">
            <a:solidFill>
              <a:srgbClr val="333333"/>
            </a:solidFill>
            <a:prstDash val="solid"/>
          </a:ln>
        </p:spPr>
      </p:sp>
      <p:sp>
        <p:nvSpPr>
          <p:cNvPr id="57" name="Shape 55"/>
          <p:cNvSpPr/>
          <p:nvPr/>
        </p:nvSpPr>
        <p:spPr>
          <a:xfrm>
            <a:off x="12838176" y="2670048"/>
            <a:ext cx="237744" cy="3658"/>
          </a:xfrm>
          <a:prstGeom prst="rect">
            <a:avLst/>
          </a:prstGeom>
          <a:solidFill>
            <a:srgbClr val="3A3F47"/>
          </a:solidFill>
          <a:ln w="12700">
            <a:solidFill>
              <a:srgbClr val="333333"/>
            </a:solidFill>
            <a:prstDash val="solid"/>
          </a:ln>
        </p:spPr>
      </p:sp>
      <p:sp>
        <p:nvSpPr>
          <p:cNvPr id="58" name="Shape 56"/>
          <p:cNvSpPr/>
          <p:nvPr/>
        </p:nvSpPr>
        <p:spPr>
          <a:xfrm>
            <a:off x="13072262" y="2670048"/>
            <a:ext cx="3658" cy="237744"/>
          </a:xfrm>
          <a:prstGeom prst="rect">
            <a:avLst/>
          </a:prstGeom>
          <a:solidFill>
            <a:srgbClr val="3A3F47"/>
          </a:solidFill>
          <a:ln w="12700">
            <a:solidFill>
              <a:srgbClr val="333333"/>
            </a:solidFill>
            <a:prstDash val="solid"/>
          </a:ln>
        </p:spPr>
      </p:sp>
      <p:sp>
        <p:nvSpPr>
          <p:cNvPr id="59" name="Shape 57"/>
          <p:cNvSpPr/>
          <p:nvPr/>
        </p:nvSpPr>
        <p:spPr>
          <a:xfrm>
            <a:off x="6967728" y="5647334"/>
            <a:ext cx="237744" cy="3658"/>
          </a:xfrm>
          <a:prstGeom prst="rect">
            <a:avLst/>
          </a:prstGeom>
          <a:solidFill>
            <a:srgbClr val="3A3F47"/>
          </a:solidFill>
          <a:ln w="12700">
            <a:solidFill>
              <a:srgbClr val="333333"/>
            </a:solidFill>
            <a:prstDash val="solid"/>
          </a:ln>
        </p:spPr>
      </p:sp>
      <p:sp>
        <p:nvSpPr>
          <p:cNvPr id="60" name="Shape 58"/>
          <p:cNvSpPr/>
          <p:nvPr/>
        </p:nvSpPr>
        <p:spPr>
          <a:xfrm>
            <a:off x="6967728" y="5413248"/>
            <a:ext cx="3658" cy="237744"/>
          </a:xfrm>
          <a:prstGeom prst="rect">
            <a:avLst/>
          </a:prstGeom>
          <a:solidFill>
            <a:srgbClr val="3A3F47"/>
          </a:solidFill>
          <a:ln w="12700">
            <a:solidFill>
              <a:srgbClr val="333333"/>
            </a:solidFill>
            <a:prstDash val="solid"/>
          </a:ln>
        </p:spPr>
      </p:sp>
      <p:sp>
        <p:nvSpPr>
          <p:cNvPr id="61" name="Shape 59"/>
          <p:cNvSpPr/>
          <p:nvPr/>
        </p:nvSpPr>
        <p:spPr>
          <a:xfrm>
            <a:off x="12838176" y="5647334"/>
            <a:ext cx="237744" cy="3658"/>
          </a:xfrm>
          <a:prstGeom prst="rect">
            <a:avLst/>
          </a:prstGeom>
          <a:solidFill>
            <a:srgbClr val="3A3F47"/>
          </a:solidFill>
          <a:ln w="12700">
            <a:solidFill>
              <a:srgbClr val="333333"/>
            </a:solidFill>
            <a:prstDash val="solid"/>
          </a:ln>
        </p:spPr>
      </p:sp>
      <p:sp>
        <p:nvSpPr>
          <p:cNvPr id="62" name="Shape 60"/>
          <p:cNvSpPr/>
          <p:nvPr/>
        </p:nvSpPr>
        <p:spPr>
          <a:xfrm>
            <a:off x="13072262" y="5413248"/>
            <a:ext cx="3658" cy="237744"/>
          </a:xfrm>
          <a:prstGeom prst="rect">
            <a:avLst/>
          </a:prstGeom>
          <a:solidFill>
            <a:srgbClr val="3A3F47"/>
          </a:solidFill>
          <a:ln w="12700">
            <a:solidFill>
              <a:srgbClr val="333333"/>
            </a:solidFill>
            <a:prstDash val="solid"/>
          </a:ln>
        </p:spPr>
      </p:sp>
      <p:sp>
        <p:nvSpPr>
          <p:cNvPr id="63" name="Text 61"/>
          <p:cNvSpPr txBox="1"/>
          <p:nvPr/>
        </p:nvSpPr>
        <p:spPr>
          <a:xfrm>
            <a:off x="6967728" y="3922776"/>
            <a:ext cx="6108192" cy="118872"/>
          </a:xfrm>
          <a:prstGeom prst="rect">
            <a:avLst/>
          </a:prstGeom>
          <a:noFill/>
          <a:ln/>
        </p:spPr>
        <p:txBody>
          <a:bodyPr wrap="square" lIns="0" tIns="0" rIns="0" bIns="0" rtlCol="0" anchor="t"/>
          <a:lstStyle/>
          <a:p>
            <a:pPr indent="0" marL="0">
              <a:buNone/>
            </a:pPr>
            <a:r>
              <a:rPr lang="en-US" sz="740" b="1" spc="140" kern="0" dirty="0">
                <a:solidFill>
                  <a:srgbClr val="525862"/>
                </a:solidFill>
                <a:latin typeface="Arial" pitchFamily="34" charset="0"/>
                <a:ea typeface="Arial" pitchFamily="34" charset="-122"/>
                <a:cs typeface="Arial" pitchFamily="34" charset="-120"/>
              </a:rPr>
              <a:t>DASHBOARD / IP</a:t>
            </a:r>
            <a:endParaRPr lang="en-US" sz="740" dirty="0"/>
          </a:p>
        </p:txBody>
      </p:sp>
      <p:sp>
        <p:nvSpPr>
          <p:cNvPr id="64" name="Text 62"/>
          <p:cNvSpPr txBox="1"/>
          <p:nvPr/>
        </p:nvSpPr>
        <p:spPr>
          <a:xfrm>
            <a:off x="7278624" y="4105656"/>
            <a:ext cx="5486400" cy="329184"/>
          </a:xfrm>
          <a:prstGeom prst="rect">
            <a:avLst/>
          </a:prstGeom>
          <a:noFill/>
          <a:ln/>
        </p:spPr>
        <p:txBody>
          <a:bodyPr wrap="square" lIns="0" tIns="0" rIns="0" bIns="0" rtlCol="0" anchor="t"/>
          <a:lstStyle/>
          <a:p>
            <a:pPr algn="ctr" indent="0" marL="0">
              <a:lnSpc>
                <a:spcPct val="112000"/>
              </a:lnSpc>
              <a:buNone/>
            </a:pPr>
            <a:r>
              <a:rPr lang="en-US" sz="760" i="1" dirty="0">
                <a:solidFill>
                  <a:srgbClr val="4A505A"/>
                </a:solidFill>
                <a:latin typeface="Arial" pitchFamily="34" charset="0"/>
                <a:ea typeface="Arial" pitchFamily="34" charset="-122"/>
                <a:cs typeface="Arial" pitchFamily="34" charset="-120"/>
              </a:rPr>
              <a:t>IP and centre console</a:t>
            </a:r>
            <a:endParaRPr lang="en-US" sz="760" dirty="0"/>
          </a:p>
        </p:txBody>
      </p:sp>
      <p:sp>
        <p:nvSpPr>
          <p:cNvPr id="65" name="Shape 63"/>
          <p:cNvSpPr/>
          <p:nvPr/>
        </p:nvSpPr>
        <p:spPr>
          <a:xfrm>
            <a:off x="6967728" y="5797296"/>
            <a:ext cx="6108192" cy="2980944"/>
          </a:xfrm>
          <a:prstGeom prst="rect">
            <a:avLst/>
          </a:prstGeom>
          <a:solidFill>
            <a:srgbClr val="14161A"/>
          </a:solidFill>
          <a:ln w="9525">
            <a:solidFill>
              <a:srgbClr val="262A30"/>
            </a:solidFill>
            <a:prstDash val="solid"/>
          </a:ln>
        </p:spPr>
      </p:sp>
      <p:sp>
        <p:nvSpPr>
          <p:cNvPr id="66" name="Shape 64"/>
          <p:cNvSpPr/>
          <p:nvPr/>
        </p:nvSpPr>
        <p:spPr>
          <a:xfrm>
            <a:off x="6967728" y="5797296"/>
            <a:ext cx="237744" cy="3658"/>
          </a:xfrm>
          <a:prstGeom prst="rect">
            <a:avLst/>
          </a:prstGeom>
          <a:solidFill>
            <a:srgbClr val="3A3F47"/>
          </a:solidFill>
          <a:ln w="12700">
            <a:solidFill>
              <a:srgbClr val="333333"/>
            </a:solidFill>
            <a:prstDash val="solid"/>
          </a:ln>
        </p:spPr>
      </p:sp>
      <p:sp>
        <p:nvSpPr>
          <p:cNvPr id="67" name="Shape 65"/>
          <p:cNvSpPr/>
          <p:nvPr/>
        </p:nvSpPr>
        <p:spPr>
          <a:xfrm>
            <a:off x="6967728" y="5797296"/>
            <a:ext cx="3658" cy="237744"/>
          </a:xfrm>
          <a:prstGeom prst="rect">
            <a:avLst/>
          </a:prstGeom>
          <a:solidFill>
            <a:srgbClr val="3A3F47"/>
          </a:solidFill>
          <a:ln w="12700">
            <a:solidFill>
              <a:srgbClr val="333333"/>
            </a:solidFill>
            <a:prstDash val="solid"/>
          </a:ln>
        </p:spPr>
      </p:sp>
      <p:sp>
        <p:nvSpPr>
          <p:cNvPr id="68" name="Shape 66"/>
          <p:cNvSpPr/>
          <p:nvPr/>
        </p:nvSpPr>
        <p:spPr>
          <a:xfrm>
            <a:off x="12838176" y="5797296"/>
            <a:ext cx="237744" cy="3658"/>
          </a:xfrm>
          <a:prstGeom prst="rect">
            <a:avLst/>
          </a:prstGeom>
          <a:solidFill>
            <a:srgbClr val="3A3F47"/>
          </a:solidFill>
          <a:ln w="12700">
            <a:solidFill>
              <a:srgbClr val="333333"/>
            </a:solidFill>
            <a:prstDash val="solid"/>
          </a:ln>
        </p:spPr>
      </p:sp>
      <p:sp>
        <p:nvSpPr>
          <p:cNvPr id="69" name="Shape 67"/>
          <p:cNvSpPr/>
          <p:nvPr/>
        </p:nvSpPr>
        <p:spPr>
          <a:xfrm>
            <a:off x="13072262" y="5797296"/>
            <a:ext cx="3658" cy="237744"/>
          </a:xfrm>
          <a:prstGeom prst="rect">
            <a:avLst/>
          </a:prstGeom>
          <a:solidFill>
            <a:srgbClr val="3A3F47"/>
          </a:solidFill>
          <a:ln w="12700">
            <a:solidFill>
              <a:srgbClr val="333333"/>
            </a:solidFill>
            <a:prstDash val="solid"/>
          </a:ln>
        </p:spPr>
      </p:sp>
      <p:sp>
        <p:nvSpPr>
          <p:cNvPr id="70" name="Shape 68"/>
          <p:cNvSpPr/>
          <p:nvPr/>
        </p:nvSpPr>
        <p:spPr>
          <a:xfrm>
            <a:off x="6967728" y="8774582"/>
            <a:ext cx="237744" cy="3658"/>
          </a:xfrm>
          <a:prstGeom prst="rect">
            <a:avLst/>
          </a:prstGeom>
          <a:solidFill>
            <a:srgbClr val="3A3F47"/>
          </a:solidFill>
          <a:ln w="12700">
            <a:solidFill>
              <a:srgbClr val="333333"/>
            </a:solidFill>
            <a:prstDash val="solid"/>
          </a:ln>
        </p:spPr>
      </p:sp>
      <p:sp>
        <p:nvSpPr>
          <p:cNvPr id="71" name="Shape 69"/>
          <p:cNvSpPr/>
          <p:nvPr/>
        </p:nvSpPr>
        <p:spPr>
          <a:xfrm>
            <a:off x="6967728" y="8540496"/>
            <a:ext cx="3658" cy="237744"/>
          </a:xfrm>
          <a:prstGeom prst="rect">
            <a:avLst/>
          </a:prstGeom>
          <a:solidFill>
            <a:srgbClr val="3A3F47"/>
          </a:solidFill>
          <a:ln w="12700">
            <a:solidFill>
              <a:srgbClr val="333333"/>
            </a:solidFill>
            <a:prstDash val="solid"/>
          </a:ln>
        </p:spPr>
      </p:sp>
      <p:sp>
        <p:nvSpPr>
          <p:cNvPr id="72" name="Shape 70"/>
          <p:cNvSpPr/>
          <p:nvPr/>
        </p:nvSpPr>
        <p:spPr>
          <a:xfrm>
            <a:off x="12838176" y="8774582"/>
            <a:ext cx="237744" cy="3658"/>
          </a:xfrm>
          <a:prstGeom prst="rect">
            <a:avLst/>
          </a:prstGeom>
          <a:solidFill>
            <a:srgbClr val="3A3F47"/>
          </a:solidFill>
          <a:ln w="12700">
            <a:solidFill>
              <a:srgbClr val="333333"/>
            </a:solidFill>
            <a:prstDash val="solid"/>
          </a:ln>
        </p:spPr>
      </p:sp>
      <p:sp>
        <p:nvSpPr>
          <p:cNvPr id="73" name="Shape 71"/>
          <p:cNvSpPr/>
          <p:nvPr/>
        </p:nvSpPr>
        <p:spPr>
          <a:xfrm>
            <a:off x="13072262" y="8540496"/>
            <a:ext cx="3658" cy="237744"/>
          </a:xfrm>
          <a:prstGeom prst="rect">
            <a:avLst/>
          </a:prstGeom>
          <a:solidFill>
            <a:srgbClr val="3A3F47"/>
          </a:solidFill>
          <a:ln w="12700">
            <a:solidFill>
              <a:srgbClr val="333333"/>
            </a:solidFill>
            <a:prstDash val="solid"/>
          </a:ln>
        </p:spPr>
      </p:sp>
      <p:sp>
        <p:nvSpPr>
          <p:cNvPr id="74" name="Text 72"/>
          <p:cNvSpPr txBox="1"/>
          <p:nvPr/>
        </p:nvSpPr>
        <p:spPr>
          <a:xfrm>
            <a:off x="6967728" y="7050024"/>
            <a:ext cx="6108192" cy="118872"/>
          </a:xfrm>
          <a:prstGeom prst="rect">
            <a:avLst/>
          </a:prstGeom>
          <a:noFill/>
          <a:ln/>
        </p:spPr>
        <p:txBody>
          <a:bodyPr wrap="square" lIns="0" tIns="0" rIns="0" bIns="0" rtlCol="0" anchor="t"/>
          <a:lstStyle/>
          <a:p>
            <a:pPr indent="0" marL="0">
              <a:buNone/>
            </a:pPr>
            <a:r>
              <a:rPr lang="en-US" sz="740" b="1" spc="140" kern="0" dirty="0">
                <a:solidFill>
                  <a:srgbClr val="525862"/>
                </a:solidFill>
                <a:latin typeface="Arial" pitchFamily="34" charset="0"/>
                <a:ea typeface="Arial" pitchFamily="34" charset="-122"/>
                <a:cs typeface="Arial" pitchFamily="34" charset="-120"/>
              </a:rPr>
              <a:t>CABIN DETAIL</a:t>
            </a:r>
            <a:endParaRPr lang="en-US" sz="740" dirty="0"/>
          </a:p>
        </p:txBody>
      </p:sp>
      <p:sp>
        <p:nvSpPr>
          <p:cNvPr id="75" name="Text 73"/>
          <p:cNvSpPr txBox="1"/>
          <p:nvPr/>
        </p:nvSpPr>
        <p:spPr>
          <a:xfrm>
            <a:off x="7278624" y="7232904"/>
            <a:ext cx="5486400" cy="329184"/>
          </a:xfrm>
          <a:prstGeom prst="rect">
            <a:avLst/>
          </a:prstGeom>
          <a:noFill/>
          <a:ln/>
        </p:spPr>
        <p:txBody>
          <a:bodyPr wrap="square" lIns="0" tIns="0" rIns="0" bIns="0" rtlCol="0" anchor="t"/>
          <a:lstStyle/>
          <a:p>
            <a:pPr algn="ctr" indent="0" marL="0">
              <a:lnSpc>
                <a:spcPct val="112000"/>
              </a:lnSpc>
              <a:buNone/>
            </a:pPr>
            <a:r>
              <a:rPr lang="en-US" sz="760" i="1" dirty="0">
                <a:solidFill>
                  <a:srgbClr val="4A505A"/>
                </a:solidFill>
                <a:latin typeface="Arial" pitchFamily="34" charset="0"/>
                <a:ea typeface="Arial" pitchFamily="34" charset="-122"/>
                <a:cs typeface="Arial" pitchFamily="34" charset="-120"/>
              </a:rPr>
              <a:t>second and third rows from the tailgate, folded and upright</a:t>
            </a:r>
            <a:endParaRPr lang="en-US" sz="760" dirty="0"/>
          </a:p>
        </p:txBody>
      </p:sp>
      <p:sp>
        <p:nvSpPr>
          <p:cNvPr id="76" name="Text 74"/>
          <p:cNvSpPr txBox="1"/>
          <p:nvPr/>
        </p:nvSpPr>
        <p:spPr>
          <a:xfrm>
            <a:off x="6967728" y="8961120"/>
            <a:ext cx="6108192" cy="118872"/>
          </a:xfrm>
          <a:prstGeom prst="rect">
            <a:avLst/>
          </a:prstGeom>
          <a:noFill/>
          <a:ln/>
        </p:spPr>
        <p:txBody>
          <a:bodyPr wrap="square" lIns="0" tIns="0" rIns="0" bIns="0" rtlCol="0" anchor="t"/>
          <a:lstStyle/>
          <a:p>
            <a:pPr indent="0" marL="0">
              <a:buNone/>
            </a:pPr>
            <a:r>
              <a:rPr lang="en-US" sz="680" b="1" spc="140" kern="0" dirty="0">
                <a:solidFill>
                  <a:srgbClr val="5E636A"/>
                </a:solidFill>
                <a:latin typeface="Arial" pitchFamily="34" charset="0"/>
                <a:ea typeface="Arial" pitchFamily="34" charset="-122"/>
                <a:cs typeface="Arial" pitchFamily="34" charset="-120"/>
              </a:rPr>
              <a:t>SCREENS</a:t>
            </a:r>
            <a:endParaRPr lang="en-US" sz="680" dirty="0"/>
          </a:p>
        </p:txBody>
      </p:sp>
      <p:sp>
        <p:nvSpPr>
          <p:cNvPr id="77" name="Text 75"/>
          <p:cNvSpPr txBox="1"/>
          <p:nvPr/>
        </p:nvSpPr>
        <p:spPr>
          <a:xfrm>
            <a:off x="6967728" y="9089136"/>
            <a:ext cx="6108192" cy="256032"/>
          </a:xfrm>
          <a:prstGeom prst="rect">
            <a:avLst/>
          </a:prstGeom>
          <a:noFill/>
          <a:ln/>
        </p:spPr>
        <p:txBody>
          <a:bodyPr wrap="square" lIns="0" tIns="0" rIns="0" bIns="0" rtlCol="0" anchor="t"/>
          <a:lstStyle/>
          <a:p>
            <a:pPr indent="0" marL="0">
              <a:lnSpc>
                <a:spcPct val="108000"/>
              </a:lnSpc>
              <a:buNone/>
            </a:pPr>
            <a:r>
              <a:rPr lang="en-US" sz="800" dirty="0">
                <a:solidFill>
                  <a:srgbClr val="C6C9CE"/>
                </a:solidFill>
                <a:latin typeface="Arial" pitchFamily="34" charset="0"/>
                <a:ea typeface="Arial" pitchFamily="34" charset="-122"/>
                <a:cs typeface="Arial" pitchFamily="34" charset="-120"/>
              </a:rPr>
              <a:t>Diagonals not published in English-language sources — measure on the car. Conventional twin-display layout.</a:t>
            </a:r>
            <a:endParaRPr lang="en-US" sz="800" dirty="0"/>
          </a:p>
        </p:txBody>
      </p:sp>
      <p:sp>
        <p:nvSpPr>
          <p:cNvPr id="78" name="Text 76"/>
          <p:cNvSpPr txBox="1"/>
          <p:nvPr/>
        </p:nvSpPr>
        <p:spPr>
          <a:xfrm>
            <a:off x="6967728" y="9345168"/>
            <a:ext cx="6108192" cy="118872"/>
          </a:xfrm>
          <a:prstGeom prst="rect">
            <a:avLst/>
          </a:prstGeom>
          <a:noFill/>
          <a:ln/>
        </p:spPr>
        <p:txBody>
          <a:bodyPr wrap="square" lIns="0" tIns="0" rIns="0" bIns="0" rtlCol="0" anchor="t"/>
          <a:lstStyle/>
          <a:p>
            <a:pPr indent="0" marL="0">
              <a:buNone/>
            </a:pPr>
            <a:r>
              <a:rPr lang="en-US" sz="680" b="1" spc="140" kern="0" dirty="0">
                <a:solidFill>
                  <a:srgbClr val="5E636A"/>
                </a:solidFill>
                <a:latin typeface="Arial" pitchFamily="34" charset="0"/>
                <a:ea typeface="Arial" pitchFamily="34" charset="-122"/>
                <a:cs typeface="Arial" pitchFamily="34" charset="-120"/>
              </a:rPr>
              <a:t>MATERIAL · COLOUR</a:t>
            </a:r>
            <a:endParaRPr lang="en-US" sz="680" dirty="0"/>
          </a:p>
        </p:txBody>
      </p:sp>
      <p:sp>
        <p:nvSpPr>
          <p:cNvPr id="79" name="Text 77"/>
          <p:cNvSpPr txBox="1"/>
          <p:nvPr/>
        </p:nvSpPr>
        <p:spPr>
          <a:xfrm>
            <a:off x="6967728" y="9473184"/>
            <a:ext cx="6108192" cy="256032"/>
          </a:xfrm>
          <a:prstGeom prst="rect">
            <a:avLst/>
          </a:prstGeom>
          <a:noFill/>
          <a:ln/>
        </p:spPr>
        <p:txBody>
          <a:bodyPr wrap="square" lIns="0" tIns="0" rIns="0" bIns="0" rtlCol="0" anchor="t"/>
          <a:lstStyle/>
          <a:p>
            <a:pPr indent="0" marL="0">
              <a:lnSpc>
                <a:spcPct val="108000"/>
              </a:lnSpc>
              <a:buNone/>
            </a:pPr>
            <a:r>
              <a:rPr lang="en-US" sz="800" dirty="0">
                <a:solidFill>
                  <a:srgbClr val="C6C9CE"/>
                </a:solidFill>
                <a:latin typeface="Arial" pitchFamily="34" charset="0"/>
                <a:ea typeface="Arial" pitchFamily="34" charset="-122"/>
                <a:cs typeface="Arial" pitchFamily="34" charset="-120"/>
              </a:rPr>
              <a:t>The classic family flagship the whole brand is now being rebuilt around.</a:t>
            </a:r>
            <a:endParaRPr lang="en-US" sz="800" dirty="0"/>
          </a:p>
        </p:txBody>
      </p:sp>
      <p:sp>
        <p:nvSpPr>
          <p:cNvPr id="80" name="Text 78"/>
          <p:cNvSpPr txBox="1"/>
          <p:nvPr/>
        </p:nvSpPr>
        <p:spPr>
          <a:xfrm>
            <a:off x="6967728" y="9729216"/>
            <a:ext cx="6108192" cy="118872"/>
          </a:xfrm>
          <a:prstGeom prst="rect">
            <a:avLst/>
          </a:prstGeom>
          <a:noFill/>
          <a:ln/>
        </p:spPr>
        <p:txBody>
          <a:bodyPr wrap="square" lIns="0" tIns="0" rIns="0" bIns="0" rtlCol="0" anchor="t"/>
          <a:lstStyle/>
          <a:p>
            <a:pPr indent="0" marL="0">
              <a:buNone/>
            </a:pPr>
            <a:r>
              <a:rPr lang="en-US" sz="680" b="1" spc="140" kern="0" dirty="0">
                <a:solidFill>
                  <a:srgbClr val="5E636A"/>
                </a:solidFill>
                <a:latin typeface="Arial" pitchFamily="34" charset="0"/>
                <a:ea typeface="Arial" pitchFamily="34" charset="-122"/>
                <a:cs typeface="Arial" pitchFamily="34" charset="-120"/>
              </a:rPr>
              <a:t>SEAT · COMFORT</a:t>
            </a:r>
            <a:endParaRPr lang="en-US" sz="680" dirty="0"/>
          </a:p>
        </p:txBody>
      </p:sp>
      <p:sp>
        <p:nvSpPr>
          <p:cNvPr id="81" name="Text 79"/>
          <p:cNvSpPr txBox="1"/>
          <p:nvPr/>
        </p:nvSpPr>
        <p:spPr>
          <a:xfrm>
            <a:off x="6967728" y="9857232"/>
            <a:ext cx="6108192" cy="256032"/>
          </a:xfrm>
          <a:prstGeom prst="rect">
            <a:avLst/>
          </a:prstGeom>
          <a:noFill/>
          <a:ln/>
        </p:spPr>
        <p:txBody>
          <a:bodyPr wrap="square" lIns="0" tIns="0" rIns="0" bIns="0" rtlCol="0" anchor="t"/>
          <a:lstStyle/>
          <a:p>
            <a:pPr indent="0" marL="0">
              <a:lnSpc>
                <a:spcPct val="108000"/>
              </a:lnSpc>
              <a:buNone/>
            </a:pPr>
            <a:r>
              <a:rPr lang="en-US" sz="800" dirty="0">
                <a:solidFill>
                  <a:srgbClr val="C6C9CE"/>
                </a:solidFill>
                <a:latin typeface="Arial" pitchFamily="34" charset="0"/>
                <a:ea typeface="Arial" pitchFamily="34" charset="-122"/>
                <a:cs typeface="Arial" pitchFamily="34" charset="-120"/>
              </a:rPr>
              <a:t>2+3+2. The second and third rows make the sale.</a:t>
            </a:r>
            <a:endParaRPr lang="en-US" sz="800" dirty="0"/>
          </a:p>
        </p:txBody>
      </p:sp>
      <p:sp>
        <p:nvSpPr>
          <p:cNvPr id="82" name="Text 80"/>
          <p:cNvSpPr txBox="1"/>
          <p:nvPr/>
        </p:nvSpPr>
        <p:spPr>
          <a:xfrm>
            <a:off x="6967728" y="10113264"/>
            <a:ext cx="6108192" cy="118872"/>
          </a:xfrm>
          <a:prstGeom prst="rect">
            <a:avLst/>
          </a:prstGeom>
          <a:noFill/>
          <a:ln/>
        </p:spPr>
        <p:txBody>
          <a:bodyPr wrap="square" lIns="0" tIns="0" rIns="0" bIns="0" rtlCol="0" anchor="t"/>
          <a:lstStyle/>
          <a:p>
            <a:pPr indent="0" marL="0">
              <a:buNone/>
            </a:pPr>
            <a:r>
              <a:rPr lang="en-US" sz="680" b="1" spc="140" kern="0" dirty="0">
                <a:solidFill>
                  <a:srgbClr val="5E636A"/>
                </a:solidFill>
                <a:latin typeface="Arial" pitchFamily="34" charset="0"/>
                <a:ea typeface="Arial" pitchFamily="34" charset="-122"/>
                <a:cs typeface="Arial" pitchFamily="34" charset="-120"/>
              </a:rPr>
              <a:t>FOR WHOM</a:t>
            </a:r>
            <a:endParaRPr lang="en-US" sz="680" dirty="0"/>
          </a:p>
        </p:txBody>
      </p:sp>
      <p:sp>
        <p:nvSpPr>
          <p:cNvPr id="83" name="Text 81"/>
          <p:cNvSpPr txBox="1"/>
          <p:nvPr/>
        </p:nvSpPr>
        <p:spPr>
          <a:xfrm>
            <a:off x="6967728" y="10241280"/>
            <a:ext cx="6108192" cy="256032"/>
          </a:xfrm>
          <a:prstGeom prst="rect">
            <a:avLst/>
          </a:prstGeom>
          <a:noFill/>
          <a:ln/>
        </p:spPr>
        <p:txBody>
          <a:bodyPr wrap="square" lIns="0" tIns="0" rIns="0" bIns="0" rtlCol="0" anchor="t"/>
          <a:lstStyle/>
          <a:p>
            <a:pPr indent="0" marL="0">
              <a:lnSpc>
                <a:spcPct val="108000"/>
              </a:lnSpc>
              <a:buNone/>
            </a:pPr>
            <a:r>
              <a:rPr lang="en-US" sz="800" dirty="0">
                <a:solidFill>
                  <a:srgbClr val="C6C9CE"/>
                </a:solidFill>
                <a:latin typeface="Arial" pitchFamily="34" charset="0"/>
                <a:ea typeface="Arial" pitchFamily="34" charset="-122"/>
                <a:cs typeface="Arial" pitchFamily="34" charset="-120"/>
              </a:rPr>
              <a:t>Three-generation family. Bought on seat count and boot space.</a:t>
            </a:r>
            <a:endParaRPr lang="en-US" sz="800" dirty="0"/>
          </a:p>
        </p:txBody>
      </p:sp>
      <p:sp>
        <p:nvSpPr>
          <p:cNvPr id="84" name="Text 82"/>
          <p:cNvSpPr txBox="1"/>
          <p:nvPr/>
        </p:nvSpPr>
        <p:spPr>
          <a:xfrm>
            <a:off x="13386816" y="1956816"/>
            <a:ext cx="4736592" cy="274320"/>
          </a:xfrm>
          <a:prstGeom prst="rect">
            <a:avLst/>
          </a:prstGeom>
          <a:noFill/>
          <a:ln/>
        </p:spPr>
        <p:txBody>
          <a:bodyPr wrap="square" lIns="0" tIns="0" rIns="0" bIns="0" rtlCol="0" anchor="t"/>
          <a:lstStyle/>
          <a:p>
            <a:pPr indent="0" marL="0">
              <a:buNone/>
            </a:pPr>
            <a:r>
              <a:rPr lang="en-US" sz="1300" b="1" spc="70" kern="0" dirty="0">
                <a:solidFill>
                  <a:srgbClr val="F4F2EE"/>
                </a:solidFill>
                <a:latin typeface="Arial" pitchFamily="34" charset="0"/>
                <a:ea typeface="Arial" pitchFamily="34" charset="-122"/>
                <a:cs typeface="Arial" pitchFamily="34" charset="-120"/>
              </a:rPr>
              <a:t>XIANGWANG S7</a:t>
            </a:r>
            <a:endParaRPr lang="en-US" sz="1300" dirty="0"/>
          </a:p>
        </p:txBody>
      </p:sp>
      <p:sp>
        <p:nvSpPr>
          <p:cNvPr id="85" name="Shape 83"/>
          <p:cNvSpPr/>
          <p:nvPr/>
        </p:nvSpPr>
        <p:spPr>
          <a:xfrm>
            <a:off x="18603468" y="1984248"/>
            <a:ext cx="891540" cy="192024"/>
          </a:xfrm>
          <a:prstGeom prst="roundRect">
            <a:avLst>
              <a:gd name="adj" fmla="val 47619"/>
            </a:avLst>
          </a:prstGeom>
          <a:solidFill>
            <a:srgbClr val="0A0B0D"/>
          </a:solidFill>
          <a:ln w="9525">
            <a:solidFill>
              <a:srgbClr val="A9AEB6"/>
            </a:solidFill>
            <a:prstDash val="solid"/>
          </a:ln>
        </p:spPr>
      </p:sp>
      <p:sp>
        <p:nvSpPr>
          <p:cNvPr id="86" name="Text 84"/>
          <p:cNvSpPr txBox="1"/>
          <p:nvPr/>
        </p:nvSpPr>
        <p:spPr>
          <a:xfrm>
            <a:off x="18603468" y="2025396"/>
            <a:ext cx="891540" cy="137160"/>
          </a:xfrm>
          <a:prstGeom prst="rect">
            <a:avLst/>
          </a:prstGeom>
          <a:noFill/>
          <a:ln/>
        </p:spPr>
        <p:txBody>
          <a:bodyPr wrap="square" lIns="0" tIns="0" rIns="0" bIns="0" rtlCol="0" anchor="t"/>
          <a:lstStyle/>
          <a:p>
            <a:pPr algn="ctr" indent="0" marL="0">
              <a:buNone/>
            </a:pPr>
            <a:r>
              <a:rPr lang="en-US" sz="660" b="1" spc="100" kern="0" dirty="0">
                <a:solidFill>
                  <a:srgbClr val="A9AEB6"/>
                </a:solidFill>
                <a:latin typeface="Arial" pitchFamily="34" charset="0"/>
                <a:ea typeface="Arial" pitchFamily="34" charset="-122"/>
                <a:cs typeface="Arial" pitchFamily="34" charset="-120"/>
              </a:rPr>
              <a:t>UPPER-MID</a:t>
            </a:r>
            <a:endParaRPr lang="en-US" sz="660" dirty="0"/>
          </a:p>
        </p:txBody>
      </p:sp>
      <p:sp>
        <p:nvSpPr>
          <p:cNvPr id="87" name="Text 85"/>
          <p:cNvSpPr txBox="1"/>
          <p:nvPr/>
        </p:nvSpPr>
        <p:spPr>
          <a:xfrm>
            <a:off x="13386816" y="2267712"/>
            <a:ext cx="6108192" cy="182880"/>
          </a:xfrm>
          <a:prstGeom prst="rect">
            <a:avLst/>
          </a:prstGeom>
          <a:noFill/>
          <a:ln/>
        </p:spPr>
        <p:txBody>
          <a:bodyPr wrap="square" lIns="0" tIns="0" rIns="0" bIns="0" rtlCol="0" anchor="t"/>
          <a:lstStyle/>
          <a:p>
            <a:pPr indent="0" marL="0">
              <a:buNone/>
            </a:pPr>
            <a:r>
              <a:rPr lang="en-US" sz="760" dirty="0">
                <a:solidFill>
                  <a:srgbClr val="9DA1A8"/>
                </a:solidFill>
                <a:latin typeface="Arial" pitchFamily="34" charset="0"/>
                <a:ea typeface="Arial" pitchFamily="34" charset="-122"/>
                <a:cs typeface="Arial" pitchFamily="34" charset="-120"/>
              </a:rPr>
              <a:t>Mid-size PHEV SUV · Mar 2025 · guide ¥209.8–249.8k · 4.90 m, five seats</a:t>
            </a:r>
            <a:endParaRPr lang="en-US" sz="760" dirty="0"/>
          </a:p>
        </p:txBody>
      </p:sp>
      <p:sp>
        <p:nvSpPr>
          <p:cNvPr id="88" name="Shape 86"/>
          <p:cNvSpPr/>
          <p:nvPr/>
        </p:nvSpPr>
        <p:spPr>
          <a:xfrm>
            <a:off x="13386816" y="2542032"/>
            <a:ext cx="6108192" cy="12802"/>
          </a:xfrm>
          <a:prstGeom prst="rect">
            <a:avLst/>
          </a:prstGeom>
          <a:solidFill>
            <a:srgbClr val="E07B62"/>
          </a:solidFill>
          <a:ln w="12700">
            <a:solidFill>
              <a:srgbClr val="333333"/>
            </a:solidFill>
            <a:prstDash val="solid"/>
          </a:ln>
        </p:spPr>
      </p:sp>
      <p:sp>
        <p:nvSpPr>
          <p:cNvPr id="89" name="Shape 87"/>
          <p:cNvSpPr/>
          <p:nvPr/>
        </p:nvSpPr>
        <p:spPr>
          <a:xfrm>
            <a:off x="13386816" y="2670048"/>
            <a:ext cx="6108192" cy="2980944"/>
          </a:xfrm>
          <a:prstGeom prst="rect">
            <a:avLst/>
          </a:prstGeom>
          <a:solidFill>
            <a:srgbClr val="14161A"/>
          </a:solidFill>
          <a:ln w="9525">
            <a:solidFill>
              <a:srgbClr val="262A30"/>
            </a:solidFill>
            <a:prstDash val="solid"/>
          </a:ln>
        </p:spPr>
      </p:sp>
      <p:sp>
        <p:nvSpPr>
          <p:cNvPr id="90" name="Shape 88"/>
          <p:cNvSpPr/>
          <p:nvPr/>
        </p:nvSpPr>
        <p:spPr>
          <a:xfrm>
            <a:off x="13386816" y="2670048"/>
            <a:ext cx="237744" cy="3658"/>
          </a:xfrm>
          <a:prstGeom prst="rect">
            <a:avLst/>
          </a:prstGeom>
          <a:solidFill>
            <a:srgbClr val="3A3F47"/>
          </a:solidFill>
          <a:ln w="12700">
            <a:solidFill>
              <a:srgbClr val="333333"/>
            </a:solidFill>
            <a:prstDash val="solid"/>
          </a:ln>
        </p:spPr>
      </p:sp>
      <p:sp>
        <p:nvSpPr>
          <p:cNvPr id="91" name="Shape 89"/>
          <p:cNvSpPr/>
          <p:nvPr/>
        </p:nvSpPr>
        <p:spPr>
          <a:xfrm>
            <a:off x="13386816" y="2670048"/>
            <a:ext cx="3658" cy="237744"/>
          </a:xfrm>
          <a:prstGeom prst="rect">
            <a:avLst/>
          </a:prstGeom>
          <a:solidFill>
            <a:srgbClr val="3A3F47"/>
          </a:solidFill>
          <a:ln w="12700">
            <a:solidFill>
              <a:srgbClr val="333333"/>
            </a:solidFill>
            <a:prstDash val="solid"/>
          </a:ln>
        </p:spPr>
      </p:sp>
      <p:sp>
        <p:nvSpPr>
          <p:cNvPr id="92" name="Shape 90"/>
          <p:cNvSpPr/>
          <p:nvPr/>
        </p:nvSpPr>
        <p:spPr>
          <a:xfrm>
            <a:off x="19257264" y="2670048"/>
            <a:ext cx="237744" cy="3658"/>
          </a:xfrm>
          <a:prstGeom prst="rect">
            <a:avLst/>
          </a:prstGeom>
          <a:solidFill>
            <a:srgbClr val="3A3F47"/>
          </a:solidFill>
          <a:ln w="12700">
            <a:solidFill>
              <a:srgbClr val="333333"/>
            </a:solidFill>
            <a:prstDash val="solid"/>
          </a:ln>
        </p:spPr>
      </p:sp>
      <p:sp>
        <p:nvSpPr>
          <p:cNvPr id="93" name="Shape 91"/>
          <p:cNvSpPr/>
          <p:nvPr/>
        </p:nvSpPr>
        <p:spPr>
          <a:xfrm>
            <a:off x="19491350" y="2670048"/>
            <a:ext cx="3658" cy="237744"/>
          </a:xfrm>
          <a:prstGeom prst="rect">
            <a:avLst/>
          </a:prstGeom>
          <a:solidFill>
            <a:srgbClr val="3A3F47"/>
          </a:solidFill>
          <a:ln w="12700">
            <a:solidFill>
              <a:srgbClr val="333333"/>
            </a:solidFill>
            <a:prstDash val="solid"/>
          </a:ln>
        </p:spPr>
      </p:sp>
      <p:sp>
        <p:nvSpPr>
          <p:cNvPr id="94" name="Shape 92"/>
          <p:cNvSpPr/>
          <p:nvPr/>
        </p:nvSpPr>
        <p:spPr>
          <a:xfrm>
            <a:off x="13386816" y="5647334"/>
            <a:ext cx="237744" cy="3658"/>
          </a:xfrm>
          <a:prstGeom prst="rect">
            <a:avLst/>
          </a:prstGeom>
          <a:solidFill>
            <a:srgbClr val="3A3F47"/>
          </a:solidFill>
          <a:ln w="12700">
            <a:solidFill>
              <a:srgbClr val="333333"/>
            </a:solidFill>
            <a:prstDash val="solid"/>
          </a:ln>
        </p:spPr>
      </p:sp>
      <p:sp>
        <p:nvSpPr>
          <p:cNvPr id="95" name="Shape 93"/>
          <p:cNvSpPr/>
          <p:nvPr/>
        </p:nvSpPr>
        <p:spPr>
          <a:xfrm>
            <a:off x="13386816" y="5413248"/>
            <a:ext cx="3658" cy="237744"/>
          </a:xfrm>
          <a:prstGeom prst="rect">
            <a:avLst/>
          </a:prstGeom>
          <a:solidFill>
            <a:srgbClr val="3A3F47"/>
          </a:solidFill>
          <a:ln w="12700">
            <a:solidFill>
              <a:srgbClr val="333333"/>
            </a:solidFill>
            <a:prstDash val="solid"/>
          </a:ln>
        </p:spPr>
      </p:sp>
      <p:sp>
        <p:nvSpPr>
          <p:cNvPr id="96" name="Shape 94"/>
          <p:cNvSpPr/>
          <p:nvPr/>
        </p:nvSpPr>
        <p:spPr>
          <a:xfrm>
            <a:off x="19257264" y="5647334"/>
            <a:ext cx="237744" cy="3658"/>
          </a:xfrm>
          <a:prstGeom prst="rect">
            <a:avLst/>
          </a:prstGeom>
          <a:solidFill>
            <a:srgbClr val="3A3F47"/>
          </a:solidFill>
          <a:ln w="12700">
            <a:solidFill>
              <a:srgbClr val="333333"/>
            </a:solidFill>
            <a:prstDash val="solid"/>
          </a:ln>
        </p:spPr>
      </p:sp>
      <p:sp>
        <p:nvSpPr>
          <p:cNvPr id="97" name="Shape 95"/>
          <p:cNvSpPr/>
          <p:nvPr/>
        </p:nvSpPr>
        <p:spPr>
          <a:xfrm>
            <a:off x="19491350" y="5413248"/>
            <a:ext cx="3658" cy="237744"/>
          </a:xfrm>
          <a:prstGeom prst="rect">
            <a:avLst/>
          </a:prstGeom>
          <a:solidFill>
            <a:srgbClr val="3A3F47"/>
          </a:solidFill>
          <a:ln w="12700">
            <a:solidFill>
              <a:srgbClr val="333333"/>
            </a:solidFill>
            <a:prstDash val="solid"/>
          </a:ln>
        </p:spPr>
      </p:sp>
      <p:sp>
        <p:nvSpPr>
          <p:cNvPr id="98" name="Text 96"/>
          <p:cNvSpPr txBox="1"/>
          <p:nvPr/>
        </p:nvSpPr>
        <p:spPr>
          <a:xfrm>
            <a:off x="13386816" y="3922776"/>
            <a:ext cx="6108192" cy="118872"/>
          </a:xfrm>
          <a:prstGeom prst="rect">
            <a:avLst/>
          </a:prstGeom>
          <a:noFill/>
          <a:ln/>
        </p:spPr>
        <p:txBody>
          <a:bodyPr wrap="square" lIns="0" tIns="0" rIns="0" bIns="0" rtlCol="0" anchor="t"/>
          <a:lstStyle/>
          <a:p>
            <a:pPr indent="0" marL="0">
              <a:buNone/>
            </a:pPr>
            <a:r>
              <a:rPr lang="en-US" sz="740" b="1" spc="140" kern="0" dirty="0">
                <a:solidFill>
                  <a:srgbClr val="525862"/>
                </a:solidFill>
                <a:latin typeface="Arial" pitchFamily="34" charset="0"/>
                <a:ea typeface="Arial" pitchFamily="34" charset="-122"/>
                <a:cs typeface="Arial" pitchFamily="34" charset="-120"/>
              </a:rPr>
              <a:t>DASHBOARD / IP</a:t>
            </a:r>
            <a:endParaRPr lang="en-US" sz="740" dirty="0"/>
          </a:p>
        </p:txBody>
      </p:sp>
      <p:sp>
        <p:nvSpPr>
          <p:cNvPr id="99" name="Text 97"/>
          <p:cNvSpPr txBox="1"/>
          <p:nvPr/>
        </p:nvSpPr>
        <p:spPr>
          <a:xfrm>
            <a:off x="13697712" y="4105656"/>
            <a:ext cx="5486400" cy="329184"/>
          </a:xfrm>
          <a:prstGeom prst="rect">
            <a:avLst/>
          </a:prstGeom>
          <a:noFill/>
          <a:ln/>
        </p:spPr>
        <p:txBody>
          <a:bodyPr wrap="square" lIns="0" tIns="0" rIns="0" bIns="0" rtlCol="0" anchor="t"/>
          <a:lstStyle/>
          <a:p>
            <a:pPr algn="ctr" indent="0" marL="0">
              <a:lnSpc>
                <a:spcPct val="112000"/>
              </a:lnSpc>
              <a:buNone/>
            </a:pPr>
            <a:r>
              <a:rPr lang="en-US" sz="760" i="1" dirty="0">
                <a:solidFill>
                  <a:srgbClr val="4A505A"/>
                </a:solidFill>
                <a:latin typeface="Arial" pitchFamily="34" charset="0"/>
                <a:ea typeface="Arial" pitchFamily="34" charset="-122"/>
                <a:cs typeface="Arial" pitchFamily="34" charset="-120"/>
              </a:rPr>
              <a:t>IP — Snapdragon 8295P cockpit on ADiGO 6.0</a:t>
            </a:r>
            <a:endParaRPr lang="en-US" sz="760" dirty="0"/>
          </a:p>
        </p:txBody>
      </p:sp>
      <p:sp>
        <p:nvSpPr>
          <p:cNvPr id="100" name="Shape 98"/>
          <p:cNvSpPr/>
          <p:nvPr/>
        </p:nvSpPr>
        <p:spPr>
          <a:xfrm>
            <a:off x="13386816" y="5797296"/>
            <a:ext cx="6108192" cy="2980944"/>
          </a:xfrm>
          <a:prstGeom prst="rect">
            <a:avLst/>
          </a:prstGeom>
          <a:solidFill>
            <a:srgbClr val="14161A"/>
          </a:solidFill>
          <a:ln w="9525">
            <a:solidFill>
              <a:srgbClr val="262A30"/>
            </a:solidFill>
            <a:prstDash val="solid"/>
          </a:ln>
        </p:spPr>
      </p:sp>
      <p:sp>
        <p:nvSpPr>
          <p:cNvPr id="101" name="Shape 99"/>
          <p:cNvSpPr/>
          <p:nvPr/>
        </p:nvSpPr>
        <p:spPr>
          <a:xfrm>
            <a:off x="13386816" y="5797296"/>
            <a:ext cx="237744" cy="3658"/>
          </a:xfrm>
          <a:prstGeom prst="rect">
            <a:avLst/>
          </a:prstGeom>
          <a:solidFill>
            <a:srgbClr val="3A3F47"/>
          </a:solidFill>
          <a:ln w="12700">
            <a:solidFill>
              <a:srgbClr val="333333"/>
            </a:solidFill>
            <a:prstDash val="solid"/>
          </a:ln>
        </p:spPr>
      </p:sp>
      <p:sp>
        <p:nvSpPr>
          <p:cNvPr id="102" name="Shape 100"/>
          <p:cNvSpPr/>
          <p:nvPr/>
        </p:nvSpPr>
        <p:spPr>
          <a:xfrm>
            <a:off x="13386816" y="5797296"/>
            <a:ext cx="3658" cy="237744"/>
          </a:xfrm>
          <a:prstGeom prst="rect">
            <a:avLst/>
          </a:prstGeom>
          <a:solidFill>
            <a:srgbClr val="3A3F47"/>
          </a:solidFill>
          <a:ln w="12700">
            <a:solidFill>
              <a:srgbClr val="333333"/>
            </a:solidFill>
            <a:prstDash val="solid"/>
          </a:ln>
        </p:spPr>
      </p:sp>
      <p:sp>
        <p:nvSpPr>
          <p:cNvPr id="103" name="Shape 101"/>
          <p:cNvSpPr/>
          <p:nvPr/>
        </p:nvSpPr>
        <p:spPr>
          <a:xfrm>
            <a:off x="19257264" y="5797296"/>
            <a:ext cx="237744" cy="3658"/>
          </a:xfrm>
          <a:prstGeom prst="rect">
            <a:avLst/>
          </a:prstGeom>
          <a:solidFill>
            <a:srgbClr val="3A3F47"/>
          </a:solidFill>
          <a:ln w="12700">
            <a:solidFill>
              <a:srgbClr val="333333"/>
            </a:solidFill>
            <a:prstDash val="solid"/>
          </a:ln>
        </p:spPr>
      </p:sp>
      <p:sp>
        <p:nvSpPr>
          <p:cNvPr id="104" name="Shape 102"/>
          <p:cNvSpPr/>
          <p:nvPr/>
        </p:nvSpPr>
        <p:spPr>
          <a:xfrm>
            <a:off x="19491350" y="5797296"/>
            <a:ext cx="3658" cy="237744"/>
          </a:xfrm>
          <a:prstGeom prst="rect">
            <a:avLst/>
          </a:prstGeom>
          <a:solidFill>
            <a:srgbClr val="3A3F47"/>
          </a:solidFill>
          <a:ln w="12700">
            <a:solidFill>
              <a:srgbClr val="333333"/>
            </a:solidFill>
            <a:prstDash val="solid"/>
          </a:ln>
        </p:spPr>
      </p:sp>
      <p:sp>
        <p:nvSpPr>
          <p:cNvPr id="105" name="Shape 103"/>
          <p:cNvSpPr/>
          <p:nvPr/>
        </p:nvSpPr>
        <p:spPr>
          <a:xfrm>
            <a:off x="13386816" y="8774582"/>
            <a:ext cx="237744" cy="3658"/>
          </a:xfrm>
          <a:prstGeom prst="rect">
            <a:avLst/>
          </a:prstGeom>
          <a:solidFill>
            <a:srgbClr val="3A3F47"/>
          </a:solidFill>
          <a:ln w="12700">
            <a:solidFill>
              <a:srgbClr val="333333"/>
            </a:solidFill>
            <a:prstDash val="solid"/>
          </a:ln>
        </p:spPr>
      </p:sp>
      <p:sp>
        <p:nvSpPr>
          <p:cNvPr id="106" name="Shape 104"/>
          <p:cNvSpPr/>
          <p:nvPr/>
        </p:nvSpPr>
        <p:spPr>
          <a:xfrm>
            <a:off x="13386816" y="8540496"/>
            <a:ext cx="3658" cy="237744"/>
          </a:xfrm>
          <a:prstGeom prst="rect">
            <a:avLst/>
          </a:prstGeom>
          <a:solidFill>
            <a:srgbClr val="3A3F47"/>
          </a:solidFill>
          <a:ln w="12700">
            <a:solidFill>
              <a:srgbClr val="333333"/>
            </a:solidFill>
            <a:prstDash val="solid"/>
          </a:ln>
        </p:spPr>
      </p:sp>
      <p:sp>
        <p:nvSpPr>
          <p:cNvPr id="107" name="Shape 105"/>
          <p:cNvSpPr/>
          <p:nvPr/>
        </p:nvSpPr>
        <p:spPr>
          <a:xfrm>
            <a:off x="19257264" y="8774582"/>
            <a:ext cx="237744" cy="3658"/>
          </a:xfrm>
          <a:prstGeom prst="rect">
            <a:avLst/>
          </a:prstGeom>
          <a:solidFill>
            <a:srgbClr val="3A3F47"/>
          </a:solidFill>
          <a:ln w="12700">
            <a:solidFill>
              <a:srgbClr val="333333"/>
            </a:solidFill>
            <a:prstDash val="solid"/>
          </a:ln>
        </p:spPr>
      </p:sp>
      <p:sp>
        <p:nvSpPr>
          <p:cNvPr id="108" name="Shape 106"/>
          <p:cNvSpPr/>
          <p:nvPr/>
        </p:nvSpPr>
        <p:spPr>
          <a:xfrm>
            <a:off x="19491350" y="8540496"/>
            <a:ext cx="3658" cy="237744"/>
          </a:xfrm>
          <a:prstGeom prst="rect">
            <a:avLst/>
          </a:prstGeom>
          <a:solidFill>
            <a:srgbClr val="3A3F47"/>
          </a:solidFill>
          <a:ln w="12700">
            <a:solidFill>
              <a:srgbClr val="333333"/>
            </a:solidFill>
            <a:prstDash val="solid"/>
          </a:ln>
        </p:spPr>
      </p:sp>
      <p:sp>
        <p:nvSpPr>
          <p:cNvPr id="109" name="Text 107"/>
          <p:cNvSpPr txBox="1"/>
          <p:nvPr/>
        </p:nvSpPr>
        <p:spPr>
          <a:xfrm>
            <a:off x="13386816" y="7050024"/>
            <a:ext cx="6108192" cy="118872"/>
          </a:xfrm>
          <a:prstGeom prst="rect">
            <a:avLst/>
          </a:prstGeom>
          <a:noFill/>
          <a:ln/>
        </p:spPr>
        <p:txBody>
          <a:bodyPr wrap="square" lIns="0" tIns="0" rIns="0" bIns="0" rtlCol="0" anchor="t"/>
          <a:lstStyle/>
          <a:p>
            <a:pPr indent="0" marL="0">
              <a:buNone/>
            </a:pPr>
            <a:r>
              <a:rPr lang="en-US" sz="740" b="1" spc="140" kern="0" dirty="0">
                <a:solidFill>
                  <a:srgbClr val="525862"/>
                </a:solidFill>
                <a:latin typeface="Arial" pitchFamily="34" charset="0"/>
                <a:ea typeface="Arial" pitchFamily="34" charset="-122"/>
                <a:cs typeface="Arial" pitchFamily="34" charset="-120"/>
              </a:rPr>
              <a:t>CABIN DETAIL</a:t>
            </a:r>
            <a:endParaRPr lang="en-US" sz="740" dirty="0"/>
          </a:p>
        </p:txBody>
      </p:sp>
      <p:sp>
        <p:nvSpPr>
          <p:cNvPr id="110" name="Text 108"/>
          <p:cNvSpPr txBox="1"/>
          <p:nvPr/>
        </p:nvSpPr>
        <p:spPr>
          <a:xfrm>
            <a:off x="13697712" y="7232904"/>
            <a:ext cx="5486400" cy="329184"/>
          </a:xfrm>
          <a:prstGeom prst="rect">
            <a:avLst/>
          </a:prstGeom>
          <a:noFill/>
          <a:ln/>
        </p:spPr>
        <p:txBody>
          <a:bodyPr wrap="square" lIns="0" tIns="0" rIns="0" bIns="0" rtlCol="0" anchor="t"/>
          <a:lstStyle/>
          <a:p>
            <a:pPr algn="ctr" indent="0" marL="0">
              <a:lnSpc>
                <a:spcPct val="112000"/>
              </a:lnSpc>
              <a:buNone/>
            </a:pPr>
            <a:r>
              <a:rPr lang="en-US" sz="760" i="1" dirty="0">
                <a:solidFill>
                  <a:srgbClr val="4A505A"/>
                </a:solidFill>
                <a:latin typeface="Arial" pitchFamily="34" charset="0"/>
                <a:ea typeface="Arial" pitchFamily="34" charset="-122"/>
                <a:cs typeface="Arial" pitchFamily="34" charset="-120"/>
              </a:rPr>
              <a:t>rear seat reclined, leg rest out, ceiling screen down</a:t>
            </a:r>
            <a:endParaRPr lang="en-US" sz="760" dirty="0"/>
          </a:p>
        </p:txBody>
      </p:sp>
      <p:sp>
        <p:nvSpPr>
          <p:cNvPr id="111" name="Text 109"/>
          <p:cNvSpPr txBox="1"/>
          <p:nvPr/>
        </p:nvSpPr>
        <p:spPr>
          <a:xfrm>
            <a:off x="13386816" y="8961120"/>
            <a:ext cx="6108192" cy="118872"/>
          </a:xfrm>
          <a:prstGeom prst="rect">
            <a:avLst/>
          </a:prstGeom>
          <a:noFill/>
          <a:ln/>
        </p:spPr>
        <p:txBody>
          <a:bodyPr wrap="square" lIns="0" tIns="0" rIns="0" bIns="0" rtlCol="0" anchor="t"/>
          <a:lstStyle/>
          <a:p>
            <a:pPr indent="0" marL="0">
              <a:buNone/>
            </a:pPr>
            <a:r>
              <a:rPr lang="en-US" sz="680" b="1" spc="140" kern="0" dirty="0">
                <a:solidFill>
                  <a:srgbClr val="5E636A"/>
                </a:solidFill>
                <a:latin typeface="Arial" pitchFamily="34" charset="0"/>
                <a:ea typeface="Arial" pitchFamily="34" charset="-122"/>
                <a:cs typeface="Arial" pitchFamily="34" charset="-120"/>
              </a:rPr>
              <a:t>SCREENS</a:t>
            </a:r>
            <a:endParaRPr lang="en-US" sz="680" dirty="0"/>
          </a:p>
        </p:txBody>
      </p:sp>
      <p:sp>
        <p:nvSpPr>
          <p:cNvPr id="112" name="Text 110"/>
          <p:cNvSpPr txBox="1"/>
          <p:nvPr/>
        </p:nvSpPr>
        <p:spPr>
          <a:xfrm>
            <a:off x="13386816" y="9089136"/>
            <a:ext cx="6108192" cy="256032"/>
          </a:xfrm>
          <a:prstGeom prst="rect">
            <a:avLst/>
          </a:prstGeom>
          <a:noFill/>
          <a:ln/>
        </p:spPr>
        <p:txBody>
          <a:bodyPr wrap="square" lIns="0" tIns="0" rIns="0" bIns="0" rtlCol="0" anchor="t"/>
          <a:lstStyle/>
          <a:p>
            <a:pPr indent="0" marL="0">
              <a:lnSpc>
                <a:spcPct val="108000"/>
              </a:lnSpc>
              <a:buNone/>
            </a:pPr>
            <a:r>
              <a:rPr lang="en-US" sz="800" dirty="0">
                <a:solidFill>
                  <a:srgbClr val="C6C9CE"/>
                </a:solidFill>
                <a:latin typeface="Arial" pitchFamily="34" charset="0"/>
                <a:ea typeface="Arial" pitchFamily="34" charset="-122"/>
                <a:cs typeface="Arial" pitchFamily="34" charset="-120"/>
              </a:rPr>
              <a:t>ADiGO 6.0 on Snapdragon 8295P, plus a 17.3" ceiling-mounted screen that folds down for the rear.</a:t>
            </a:r>
            <a:endParaRPr lang="en-US" sz="800" dirty="0"/>
          </a:p>
        </p:txBody>
      </p:sp>
      <p:sp>
        <p:nvSpPr>
          <p:cNvPr id="113" name="Text 111"/>
          <p:cNvSpPr txBox="1"/>
          <p:nvPr/>
        </p:nvSpPr>
        <p:spPr>
          <a:xfrm>
            <a:off x="13386816" y="9345168"/>
            <a:ext cx="6108192" cy="118872"/>
          </a:xfrm>
          <a:prstGeom prst="rect">
            <a:avLst/>
          </a:prstGeom>
          <a:noFill/>
          <a:ln/>
        </p:spPr>
        <p:txBody>
          <a:bodyPr wrap="square" lIns="0" tIns="0" rIns="0" bIns="0" rtlCol="0" anchor="t"/>
          <a:lstStyle/>
          <a:p>
            <a:pPr indent="0" marL="0">
              <a:buNone/>
            </a:pPr>
            <a:r>
              <a:rPr lang="en-US" sz="680" b="1" spc="140" kern="0" dirty="0">
                <a:solidFill>
                  <a:srgbClr val="5E636A"/>
                </a:solidFill>
                <a:latin typeface="Arial" pitchFamily="34" charset="0"/>
                <a:ea typeface="Arial" pitchFamily="34" charset="-122"/>
                <a:cs typeface="Arial" pitchFamily="34" charset="-120"/>
              </a:rPr>
              <a:t>MATERIAL · COLOUR</a:t>
            </a:r>
            <a:endParaRPr lang="en-US" sz="680" dirty="0"/>
          </a:p>
        </p:txBody>
      </p:sp>
      <p:sp>
        <p:nvSpPr>
          <p:cNvPr id="114" name="Text 112"/>
          <p:cNvSpPr txBox="1"/>
          <p:nvPr/>
        </p:nvSpPr>
        <p:spPr>
          <a:xfrm>
            <a:off x="13386816" y="9473184"/>
            <a:ext cx="6108192" cy="256032"/>
          </a:xfrm>
          <a:prstGeom prst="rect">
            <a:avLst/>
          </a:prstGeom>
          <a:noFill/>
          <a:ln/>
        </p:spPr>
        <p:txBody>
          <a:bodyPr wrap="square" lIns="0" tIns="0" rIns="0" bIns="0" rtlCol="0" anchor="t"/>
          <a:lstStyle/>
          <a:p>
            <a:pPr indent="0" marL="0">
              <a:lnSpc>
                <a:spcPct val="108000"/>
              </a:lnSpc>
              <a:buNone/>
            </a:pPr>
            <a:r>
              <a:rPr lang="en-US" sz="800" dirty="0">
                <a:solidFill>
                  <a:srgbClr val="C6C9CE"/>
                </a:solidFill>
                <a:latin typeface="Arial" pitchFamily="34" charset="0"/>
                <a:ea typeface="Arial" pitchFamily="34" charset="-122"/>
                <a:cs typeface="Arial" pitchFamily="34" charset="-120"/>
              </a:rPr>
              <a:t>Warm, light-toned luxury trim. 4.90 m long but only five seats — the space goes into row two.</a:t>
            </a:r>
            <a:endParaRPr lang="en-US" sz="800" dirty="0"/>
          </a:p>
        </p:txBody>
      </p:sp>
      <p:sp>
        <p:nvSpPr>
          <p:cNvPr id="115" name="Text 113"/>
          <p:cNvSpPr txBox="1"/>
          <p:nvPr/>
        </p:nvSpPr>
        <p:spPr>
          <a:xfrm>
            <a:off x="13386816" y="9729216"/>
            <a:ext cx="6108192" cy="118872"/>
          </a:xfrm>
          <a:prstGeom prst="rect">
            <a:avLst/>
          </a:prstGeom>
          <a:noFill/>
          <a:ln/>
        </p:spPr>
        <p:txBody>
          <a:bodyPr wrap="square" lIns="0" tIns="0" rIns="0" bIns="0" rtlCol="0" anchor="t"/>
          <a:lstStyle/>
          <a:p>
            <a:pPr indent="0" marL="0">
              <a:buNone/>
            </a:pPr>
            <a:r>
              <a:rPr lang="en-US" sz="680" b="1" spc="140" kern="0" dirty="0">
                <a:solidFill>
                  <a:srgbClr val="5E636A"/>
                </a:solidFill>
                <a:latin typeface="Arial" pitchFamily="34" charset="0"/>
                <a:ea typeface="Arial" pitchFamily="34" charset="-122"/>
                <a:cs typeface="Arial" pitchFamily="34" charset="-120"/>
              </a:rPr>
              <a:t>SEAT · COMFORT</a:t>
            </a:r>
            <a:endParaRPr lang="en-US" sz="680" dirty="0"/>
          </a:p>
        </p:txBody>
      </p:sp>
      <p:sp>
        <p:nvSpPr>
          <p:cNvPr id="116" name="Text 114"/>
          <p:cNvSpPr txBox="1"/>
          <p:nvPr/>
        </p:nvSpPr>
        <p:spPr>
          <a:xfrm>
            <a:off x="13386816" y="9857232"/>
            <a:ext cx="6108192" cy="256032"/>
          </a:xfrm>
          <a:prstGeom prst="rect">
            <a:avLst/>
          </a:prstGeom>
          <a:noFill/>
          <a:ln/>
        </p:spPr>
        <p:txBody>
          <a:bodyPr wrap="square" lIns="0" tIns="0" rIns="0" bIns="0" rtlCol="0" anchor="t"/>
          <a:lstStyle/>
          <a:p>
            <a:pPr indent="0" marL="0">
              <a:lnSpc>
                <a:spcPct val="108000"/>
              </a:lnSpc>
              <a:buNone/>
            </a:pPr>
            <a:r>
              <a:rPr lang="en-US" sz="800" dirty="0">
                <a:solidFill>
                  <a:srgbClr val="C6C9CE"/>
                </a:solidFill>
                <a:latin typeface="Arial" pitchFamily="34" charset="0"/>
                <a:ea typeface="Arial" pitchFamily="34" charset="-122"/>
                <a:cs typeface="Arial" pitchFamily="34" charset="-120"/>
              </a:rPr>
              <a:t>Ventilation, heating and massage: six modes at three intensities. Rear reclines to 137° on a zero-gravity leg rest.</a:t>
            </a:r>
            <a:endParaRPr lang="en-US" sz="800" dirty="0"/>
          </a:p>
        </p:txBody>
      </p:sp>
      <p:sp>
        <p:nvSpPr>
          <p:cNvPr id="117" name="Text 115"/>
          <p:cNvSpPr txBox="1"/>
          <p:nvPr/>
        </p:nvSpPr>
        <p:spPr>
          <a:xfrm>
            <a:off x="13386816" y="10113264"/>
            <a:ext cx="6108192" cy="118872"/>
          </a:xfrm>
          <a:prstGeom prst="rect">
            <a:avLst/>
          </a:prstGeom>
          <a:noFill/>
          <a:ln/>
        </p:spPr>
        <p:txBody>
          <a:bodyPr wrap="square" lIns="0" tIns="0" rIns="0" bIns="0" rtlCol="0" anchor="t"/>
          <a:lstStyle/>
          <a:p>
            <a:pPr indent="0" marL="0">
              <a:buNone/>
            </a:pPr>
            <a:r>
              <a:rPr lang="en-US" sz="680" b="1" spc="140" kern="0" dirty="0">
                <a:solidFill>
                  <a:srgbClr val="5E636A"/>
                </a:solidFill>
                <a:latin typeface="Arial" pitchFamily="34" charset="0"/>
                <a:ea typeface="Arial" pitchFamily="34" charset="-122"/>
                <a:cs typeface="Arial" pitchFamily="34" charset="-120"/>
              </a:rPr>
              <a:t>FOR WHOM</a:t>
            </a:r>
            <a:endParaRPr lang="en-US" sz="680" dirty="0"/>
          </a:p>
        </p:txBody>
      </p:sp>
      <p:sp>
        <p:nvSpPr>
          <p:cNvPr id="118" name="Text 116"/>
          <p:cNvSpPr txBox="1"/>
          <p:nvPr/>
        </p:nvSpPr>
        <p:spPr>
          <a:xfrm>
            <a:off x="13386816" y="10241280"/>
            <a:ext cx="6108192" cy="256032"/>
          </a:xfrm>
          <a:prstGeom prst="rect">
            <a:avLst/>
          </a:prstGeom>
          <a:noFill/>
          <a:ln/>
        </p:spPr>
        <p:txBody>
          <a:bodyPr wrap="square" lIns="0" tIns="0" rIns="0" bIns="0" rtlCol="0" anchor="t"/>
          <a:lstStyle/>
          <a:p>
            <a:pPr indent="0" marL="0">
              <a:lnSpc>
                <a:spcPct val="108000"/>
              </a:lnSpc>
              <a:buNone/>
            </a:pPr>
            <a:r>
              <a:rPr lang="en-US" sz="800" dirty="0">
                <a:solidFill>
                  <a:srgbClr val="C6C9CE"/>
                </a:solidFill>
                <a:latin typeface="Arial" pitchFamily="34" charset="0"/>
                <a:ea typeface="Arial" pitchFamily="34" charset="-122"/>
                <a:cs typeface="Arial" pitchFamily="34" charset="-120"/>
              </a:rPr>
              <a:t>A family SUV sold on the bench, not the driver's seat.</a:t>
            </a:r>
            <a:endParaRPr lang="en-US" sz="800" dirty="0"/>
          </a:p>
        </p:txBody>
      </p:sp>
      <p:sp>
        <p:nvSpPr>
          <p:cNvPr id="119" name="Text 117"/>
          <p:cNvSpPr txBox="1"/>
          <p:nvPr/>
        </p:nvSpPr>
        <p:spPr>
          <a:xfrm>
            <a:off x="19805904" y="1956816"/>
            <a:ext cx="4736592" cy="274320"/>
          </a:xfrm>
          <a:prstGeom prst="rect">
            <a:avLst/>
          </a:prstGeom>
          <a:noFill/>
          <a:ln/>
        </p:spPr>
        <p:txBody>
          <a:bodyPr wrap="square" lIns="0" tIns="0" rIns="0" bIns="0" rtlCol="0" anchor="t"/>
          <a:lstStyle/>
          <a:p>
            <a:pPr indent="0" marL="0">
              <a:buNone/>
            </a:pPr>
            <a:r>
              <a:rPr lang="en-US" sz="1300" b="1" spc="70" kern="0" dirty="0">
                <a:solidFill>
                  <a:srgbClr val="F4F2EE"/>
                </a:solidFill>
                <a:latin typeface="Arial" pitchFamily="34" charset="0"/>
                <a:ea typeface="Arial" pitchFamily="34" charset="-122"/>
                <a:cs typeface="Arial" pitchFamily="34" charset="-120"/>
              </a:rPr>
              <a:t>XIANGWANG S9</a:t>
            </a:r>
            <a:endParaRPr lang="en-US" sz="1300" dirty="0"/>
          </a:p>
        </p:txBody>
      </p:sp>
      <p:sp>
        <p:nvSpPr>
          <p:cNvPr id="120" name="Shape 118"/>
          <p:cNvSpPr/>
          <p:nvPr/>
        </p:nvSpPr>
        <p:spPr>
          <a:xfrm>
            <a:off x="25159716" y="1984248"/>
            <a:ext cx="754380" cy="192024"/>
          </a:xfrm>
          <a:prstGeom prst="roundRect">
            <a:avLst>
              <a:gd name="adj" fmla="val 47619"/>
            </a:avLst>
          </a:prstGeom>
          <a:solidFill>
            <a:srgbClr val="0A0B0D"/>
          </a:solidFill>
          <a:ln w="9525">
            <a:solidFill>
              <a:srgbClr val="C4AC7A"/>
            </a:solidFill>
            <a:prstDash val="solid"/>
          </a:ln>
        </p:spPr>
      </p:sp>
      <p:sp>
        <p:nvSpPr>
          <p:cNvPr id="121" name="Text 119"/>
          <p:cNvSpPr txBox="1"/>
          <p:nvPr/>
        </p:nvSpPr>
        <p:spPr>
          <a:xfrm>
            <a:off x="25159716" y="2025396"/>
            <a:ext cx="754380" cy="137160"/>
          </a:xfrm>
          <a:prstGeom prst="rect">
            <a:avLst/>
          </a:prstGeom>
          <a:noFill/>
          <a:ln/>
        </p:spPr>
        <p:txBody>
          <a:bodyPr wrap="square" lIns="0" tIns="0" rIns="0" bIns="0" rtlCol="0" anchor="t"/>
          <a:lstStyle/>
          <a:p>
            <a:pPr algn="ctr" indent="0" marL="0">
              <a:buNone/>
            </a:pPr>
            <a:r>
              <a:rPr lang="en-US" sz="660" b="1" spc="100" kern="0" dirty="0">
                <a:solidFill>
                  <a:srgbClr val="C4AC7A"/>
                </a:solidFill>
                <a:latin typeface="Arial" pitchFamily="34" charset="0"/>
                <a:ea typeface="Arial" pitchFamily="34" charset="-122"/>
                <a:cs typeface="Arial" pitchFamily="34" charset="-120"/>
              </a:rPr>
              <a:t>PREMIUM</a:t>
            </a:r>
            <a:endParaRPr lang="en-US" sz="660" dirty="0"/>
          </a:p>
        </p:txBody>
      </p:sp>
      <p:sp>
        <p:nvSpPr>
          <p:cNvPr id="122" name="Text 120"/>
          <p:cNvSpPr txBox="1"/>
          <p:nvPr/>
        </p:nvSpPr>
        <p:spPr>
          <a:xfrm>
            <a:off x="19805904" y="2267712"/>
            <a:ext cx="6108192" cy="182880"/>
          </a:xfrm>
          <a:prstGeom prst="rect">
            <a:avLst/>
          </a:prstGeom>
          <a:noFill/>
          <a:ln/>
        </p:spPr>
        <p:txBody>
          <a:bodyPr wrap="square" lIns="0" tIns="0" rIns="0" bIns="0" rtlCol="0" anchor="t"/>
          <a:lstStyle/>
          <a:p>
            <a:pPr indent="0" marL="0">
              <a:buNone/>
            </a:pPr>
            <a:r>
              <a:rPr lang="en-US" sz="760" dirty="0">
                <a:solidFill>
                  <a:srgbClr val="9DA1A8"/>
                </a:solidFill>
                <a:latin typeface="Arial" pitchFamily="34" charset="0"/>
                <a:ea typeface="Arial" pitchFamily="34" charset="-122"/>
                <a:cs typeface="Arial" pitchFamily="34" charset="-120"/>
              </a:rPr>
              <a:t>Full-size SUV · five- or six-seat · Huawei HarmonySpace cabin</a:t>
            </a:r>
            <a:endParaRPr lang="en-US" sz="760" dirty="0"/>
          </a:p>
        </p:txBody>
      </p:sp>
      <p:sp>
        <p:nvSpPr>
          <p:cNvPr id="123" name="Shape 121"/>
          <p:cNvSpPr/>
          <p:nvPr/>
        </p:nvSpPr>
        <p:spPr>
          <a:xfrm>
            <a:off x="19805904" y="2542032"/>
            <a:ext cx="6108192" cy="12802"/>
          </a:xfrm>
          <a:prstGeom prst="rect">
            <a:avLst/>
          </a:prstGeom>
          <a:solidFill>
            <a:srgbClr val="E07B62"/>
          </a:solidFill>
          <a:ln w="12700">
            <a:solidFill>
              <a:srgbClr val="333333"/>
            </a:solidFill>
            <a:prstDash val="solid"/>
          </a:ln>
        </p:spPr>
      </p:sp>
      <p:sp>
        <p:nvSpPr>
          <p:cNvPr id="124" name="Shape 122"/>
          <p:cNvSpPr/>
          <p:nvPr/>
        </p:nvSpPr>
        <p:spPr>
          <a:xfrm>
            <a:off x="19805904" y="2670048"/>
            <a:ext cx="6108192" cy="2980944"/>
          </a:xfrm>
          <a:prstGeom prst="rect">
            <a:avLst/>
          </a:prstGeom>
          <a:solidFill>
            <a:srgbClr val="14161A"/>
          </a:solidFill>
          <a:ln w="9525">
            <a:solidFill>
              <a:srgbClr val="262A30"/>
            </a:solidFill>
            <a:prstDash val="solid"/>
          </a:ln>
        </p:spPr>
      </p:sp>
      <p:sp>
        <p:nvSpPr>
          <p:cNvPr id="125" name="Shape 123"/>
          <p:cNvSpPr/>
          <p:nvPr/>
        </p:nvSpPr>
        <p:spPr>
          <a:xfrm>
            <a:off x="19805904" y="2670048"/>
            <a:ext cx="237744" cy="3658"/>
          </a:xfrm>
          <a:prstGeom prst="rect">
            <a:avLst/>
          </a:prstGeom>
          <a:solidFill>
            <a:srgbClr val="3A3F47"/>
          </a:solidFill>
          <a:ln w="12700">
            <a:solidFill>
              <a:srgbClr val="333333"/>
            </a:solidFill>
            <a:prstDash val="solid"/>
          </a:ln>
        </p:spPr>
      </p:sp>
      <p:sp>
        <p:nvSpPr>
          <p:cNvPr id="126" name="Shape 124"/>
          <p:cNvSpPr/>
          <p:nvPr/>
        </p:nvSpPr>
        <p:spPr>
          <a:xfrm>
            <a:off x="19805904" y="2670048"/>
            <a:ext cx="3658" cy="237744"/>
          </a:xfrm>
          <a:prstGeom prst="rect">
            <a:avLst/>
          </a:prstGeom>
          <a:solidFill>
            <a:srgbClr val="3A3F47"/>
          </a:solidFill>
          <a:ln w="12700">
            <a:solidFill>
              <a:srgbClr val="333333"/>
            </a:solidFill>
            <a:prstDash val="solid"/>
          </a:ln>
        </p:spPr>
      </p:sp>
      <p:sp>
        <p:nvSpPr>
          <p:cNvPr id="127" name="Shape 125"/>
          <p:cNvSpPr/>
          <p:nvPr/>
        </p:nvSpPr>
        <p:spPr>
          <a:xfrm>
            <a:off x="25676352" y="2670048"/>
            <a:ext cx="237744" cy="3658"/>
          </a:xfrm>
          <a:prstGeom prst="rect">
            <a:avLst/>
          </a:prstGeom>
          <a:solidFill>
            <a:srgbClr val="3A3F47"/>
          </a:solidFill>
          <a:ln w="12700">
            <a:solidFill>
              <a:srgbClr val="333333"/>
            </a:solidFill>
            <a:prstDash val="solid"/>
          </a:ln>
        </p:spPr>
      </p:sp>
      <p:sp>
        <p:nvSpPr>
          <p:cNvPr id="128" name="Shape 126"/>
          <p:cNvSpPr/>
          <p:nvPr/>
        </p:nvSpPr>
        <p:spPr>
          <a:xfrm>
            <a:off x="25910438" y="2670048"/>
            <a:ext cx="3658" cy="237744"/>
          </a:xfrm>
          <a:prstGeom prst="rect">
            <a:avLst/>
          </a:prstGeom>
          <a:solidFill>
            <a:srgbClr val="3A3F47"/>
          </a:solidFill>
          <a:ln w="12700">
            <a:solidFill>
              <a:srgbClr val="333333"/>
            </a:solidFill>
            <a:prstDash val="solid"/>
          </a:ln>
        </p:spPr>
      </p:sp>
      <p:sp>
        <p:nvSpPr>
          <p:cNvPr id="129" name="Shape 127"/>
          <p:cNvSpPr/>
          <p:nvPr/>
        </p:nvSpPr>
        <p:spPr>
          <a:xfrm>
            <a:off x="19805904" y="5647334"/>
            <a:ext cx="237744" cy="3658"/>
          </a:xfrm>
          <a:prstGeom prst="rect">
            <a:avLst/>
          </a:prstGeom>
          <a:solidFill>
            <a:srgbClr val="3A3F47"/>
          </a:solidFill>
          <a:ln w="12700">
            <a:solidFill>
              <a:srgbClr val="333333"/>
            </a:solidFill>
            <a:prstDash val="solid"/>
          </a:ln>
        </p:spPr>
      </p:sp>
      <p:sp>
        <p:nvSpPr>
          <p:cNvPr id="130" name="Shape 128"/>
          <p:cNvSpPr/>
          <p:nvPr/>
        </p:nvSpPr>
        <p:spPr>
          <a:xfrm>
            <a:off x="19805904" y="5413248"/>
            <a:ext cx="3658" cy="237744"/>
          </a:xfrm>
          <a:prstGeom prst="rect">
            <a:avLst/>
          </a:prstGeom>
          <a:solidFill>
            <a:srgbClr val="3A3F47"/>
          </a:solidFill>
          <a:ln w="12700">
            <a:solidFill>
              <a:srgbClr val="333333"/>
            </a:solidFill>
            <a:prstDash val="solid"/>
          </a:ln>
        </p:spPr>
      </p:sp>
      <p:sp>
        <p:nvSpPr>
          <p:cNvPr id="131" name="Shape 129"/>
          <p:cNvSpPr/>
          <p:nvPr/>
        </p:nvSpPr>
        <p:spPr>
          <a:xfrm>
            <a:off x="25676352" y="5647334"/>
            <a:ext cx="237744" cy="3658"/>
          </a:xfrm>
          <a:prstGeom prst="rect">
            <a:avLst/>
          </a:prstGeom>
          <a:solidFill>
            <a:srgbClr val="3A3F47"/>
          </a:solidFill>
          <a:ln w="12700">
            <a:solidFill>
              <a:srgbClr val="333333"/>
            </a:solidFill>
            <a:prstDash val="solid"/>
          </a:ln>
        </p:spPr>
      </p:sp>
      <p:sp>
        <p:nvSpPr>
          <p:cNvPr id="132" name="Shape 130"/>
          <p:cNvSpPr/>
          <p:nvPr/>
        </p:nvSpPr>
        <p:spPr>
          <a:xfrm>
            <a:off x="25910438" y="5413248"/>
            <a:ext cx="3658" cy="237744"/>
          </a:xfrm>
          <a:prstGeom prst="rect">
            <a:avLst/>
          </a:prstGeom>
          <a:solidFill>
            <a:srgbClr val="3A3F47"/>
          </a:solidFill>
          <a:ln w="12700">
            <a:solidFill>
              <a:srgbClr val="333333"/>
            </a:solidFill>
            <a:prstDash val="solid"/>
          </a:ln>
        </p:spPr>
      </p:sp>
      <p:sp>
        <p:nvSpPr>
          <p:cNvPr id="133" name="Text 131"/>
          <p:cNvSpPr txBox="1"/>
          <p:nvPr/>
        </p:nvSpPr>
        <p:spPr>
          <a:xfrm>
            <a:off x="19805904" y="3922776"/>
            <a:ext cx="6108192" cy="118872"/>
          </a:xfrm>
          <a:prstGeom prst="rect">
            <a:avLst/>
          </a:prstGeom>
          <a:noFill/>
          <a:ln/>
        </p:spPr>
        <p:txBody>
          <a:bodyPr wrap="square" lIns="0" tIns="0" rIns="0" bIns="0" rtlCol="0" anchor="t"/>
          <a:lstStyle/>
          <a:p>
            <a:pPr indent="0" marL="0">
              <a:buNone/>
            </a:pPr>
            <a:r>
              <a:rPr lang="en-US" sz="740" b="1" spc="140" kern="0" dirty="0">
                <a:solidFill>
                  <a:srgbClr val="525862"/>
                </a:solidFill>
                <a:latin typeface="Arial" pitchFamily="34" charset="0"/>
                <a:ea typeface="Arial" pitchFamily="34" charset="-122"/>
                <a:cs typeface="Arial" pitchFamily="34" charset="-120"/>
              </a:rPr>
              <a:t>DASHBOARD / IP</a:t>
            </a:r>
            <a:endParaRPr lang="en-US" sz="740" dirty="0"/>
          </a:p>
        </p:txBody>
      </p:sp>
      <p:sp>
        <p:nvSpPr>
          <p:cNvPr id="134" name="Text 132"/>
          <p:cNvSpPr txBox="1"/>
          <p:nvPr/>
        </p:nvSpPr>
        <p:spPr>
          <a:xfrm>
            <a:off x="20116800" y="4105656"/>
            <a:ext cx="5486400" cy="329184"/>
          </a:xfrm>
          <a:prstGeom prst="rect">
            <a:avLst/>
          </a:prstGeom>
          <a:noFill/>
          <a:ln/>
        </p:spPr>
        <p:txBody>
          <a:bodyPr wrap="square" lIns="0" tIns="0" rIns="0" bIns="0" rtlCol="0" anchor="t"/>
          <a:lstStyle/>
          <a:p>
            <a:pPr algn="ctr" indent="0" marL="0">
              <a:lnSpc>
                <a:spcPct val="112000"/>
              </a:lnSpc>
              <a:buNone/>
            </a:pPr>
            <a:r>
              <a:rPr lang="en-US" sz="760" i="1" dirty="0">
                <a:solidFill>
                  <a:srgbClr val="4A505A"/>
                </a:solidFill>
                <a:latin typeface="Arial" pitchFamily="34" charset="0"/>
                <a:ea typeface="Arial" pitchFamily="34" charset="-122"/>
                <a:cs typeface="Arial" pitchFamily="34" charset="-120"/>
              </a:rPr>
              <a:t>IP — 12.3" cluster and the HarmonySpace centre screen</a:t>
            </a:r>
            <a:endParaRPr lang="en-US" sz="760" dirty="0"/>
          </a:p>
        </p:txBody>
      </p:sp>
      <p:sp>
        <p:nvSpPr>
          <p:cNvPr id="135" name="Shape 133"/>
          <p:cNvSpPr/>
          <p:nvPr/>
        </p:nvSpPr>
        <p:spPr>
          <a:xfrm>
            <a:off x="19805904" y="5797296"/>
            <a:ext cx="6108192" cy="2980944"/>
          </a:xfrm>
          <a:prstGeom prst="rect">
            <a:avLst/>
          </a:prstGeom>
          <a:solidFill>
            <a:srgbClr val="14161A"/>
          </a:solidFill>
          <a:ln w="9525">
            <a:solidFill>
              <a:srgbClr val="262A30"/>
            </a:solidFill>
            <a:prstDash val="solid"/>
          </a:ln>
        </p:spPr>
      </p:sp>
      <p:sp>
        <p:nvSpPr>
          <p:cNvPr id="136" name="Shape 134"/>
          <p:cNvSpPr/>
          <p:nvPr/>
        </p:nvSpPr>
        <p:spPr>
          <a:xfrm>
            <a:off x="19805904" y="5797296"/>
            <a:ext cx="237744" cy="3658"/>
          </a:xfrm>
          <a:prstGeom prst="rect">
            <a:avLst/>
          </a:prstGeom>
          <a:solidFill>
            <a:srgbClr val="3A3F47"/>
          </a:solidFill>
          <a:ln w="12700">
            <a:solidFill>
              <a:srgbClr val="333333"/>
            </a:solidFill>
            <a:prstDash val="solid"/>
          </a:ln>
        </p:spPr>
      </p:sp>
      <p:sp>
        <p:nvSpPr>
          <p:cNvPr id="137" name="Shape 135"/>
          <p:cNvSpPr/>
          <p:nvPr/>
        </p:nvSpPr>
        <p:spPr>
          <a:xfrm>
            <a:off x="19805904" y="5797296"/>
            <a:ext cx="3658" cy="237744"/>
          </a:xfrm>
          <a:prstGeom prst="rect">
            <a:avLst/>
          </a:prstGeom>
          <a:solidFill>
            <a:srgbClr val="3A3F47"/>
          </a:solidFill>
          <a:ln w="12700">
            <a:solidFill>
              <a:srgbClr val="333333"/>
            </a:solidFill>
            <a:prstDash val="solid"/>
          </a:ln>
        </p:spPr>
      </p:sp>
      <p:sp>
        <p:nvSpPr>
          <p:cNvPr id="138" name="Shape 136"/>
          <p:cNvSpPr/>
          <p:nvPr/>
        </p:nvSpPr>
        <p:spPr>
          <a:xfrm>
            <a:off x="25676352" y="5797296"/>
            <a:ext cx="237744" cy="3658"/>
          </a:xfrm>
          <a:prstGeom prst="rect">
            <a:avLst/>
          </a:prstGeom>
          <a:solidFill>
            <a:srgbClr val="3A3F47"/>
          </a:solidFill>
          <a:ln w="12700">
            <a:solidFill>
              <a:srgbClr val="333333"/>
            </a:solidFill>
            <a:prstDash val="solid"/>
          </a:ln>
        </p:spPr>
      </p:sp>
      <p:sp>
        <p:nvSpPr>
          <p:cNvPr id="139" name="Shape 137"/>
          <p:cNvSpPr/>
          <p:nvPr/>
        </p:nvSpPr>
        <p:spPr>
          <a:xfrm>
            <a:off x="25910438" y="5797296"/>
            <a:ext cx="3658" cy="237744"/>
          </a:xfrm>
          <a:prstGeom prst="rect">
            <a:avLst/>
          </a:prstGeom>
          <a:solidFill>
            <a:srgbClr val="3A3F47"/>
          </a:solidFill>
          <a:ln w="12700">
            <a:solidFill>
              <a:srgbClr val="333333"/>
            </a:solidFill>
            <a:prstDash val="solid"/>
          </a:ln>
        </p:spPr>
      </p:sp>
      <p:sp>
        <p:nvSpPr>
          <p:cNvPr id="140" name="Shape 138"/>
          <p:cNvSpPr/>
          <p:nvPr/>
        </p:nvSpPr>
        <p:spPr>
          <a:xfrm>
            <a:off x="19805904" y="8774582"/>
            <a:ext cx="237744" cy="3658"/>
          </a:xfrm>
          <a:prstGeom prst="rect">
            <a:avLst/>
          </a:prstGeom>
          <a:solidFill>
            <a:srgbClr val="3A3F47"/>
          </a:solidFill>
          <a:ln w="12700">
            <a:solidFill>
              <a:srgbClr val="333333"/>
            </a:solidFill>
            <a:prstDash val="solid"/>
          </a:ln>
        </p:spPr>
      </p:sp>
      <p:sp>
        <p:nvSpPr>
          <p:cNvPr id="141" name="Shape 139"/>
          <p:cNvSpPr/>
          <p:nvPr/>
        </p:nvSpPr>
        <p:spPr>
          <a:xfrm>
            <a:off x="19805904" y="8540496"/>
            <a:ext cx="3658" cy="237744"/>
          </a:xfrm>
          <a:prstGeom prst="rect">
            <a:avLst/>
          </a:prstGeom>
          <a:solidFill>
            <a:srgbClr val="3A3F47"/>
          </a:solidFill>
          <a:ln w="12700">
            <a:solidFill>
              <a:srgbClr val="333333"/>
            </a:solidFill>
            <a:prstDash val="solid"/>
          </a:ln>
        </p:spPr>
      </p:sp>
      <p:sp>
        <p:nvSpPr>
          <p:cNvPr id="142" name="Shape 140"/>
          <p:cNvSpPr/>
          <p:nvPr/>
        </p:nvSpPr>
        <p:spPr>
          <a:xfrm>
            <a:off x="25676352" y="8774582"/>
            <a:ext cx="237744" cy="3658"/>
          </a:xfrm>
          <a:prstGeom prst="rect">
            <a:avLst/>
          </a:prstGeom>
          <a:solidFill>
            <a:srgbClr val="3A3F47"/>
          </a:solidFill>
          <a:ln w="12700">
            <a:solidFill>
              <a:srgbClr val="333333"/>
            </a:solidFill>
            <a:prstDash val="solid"/>
          </a:ln>
        </p:spPr>
      </p:sp>
      <p:sp>
        <p:nvSpPr>
          <p:cNvPr id="143" name="Shape 141"/>
          <p:cNvSpPr/>
          <p:nvPr/>
        </p:nvSpPr>
        <p:spPr>
          <a:xfrm>
            <a:off x="25910438" y="8540496"/>
            <a:ext cx="3658" cy="237744"/>
          </a:xfrm>
          <a:prstGeom prst="rect">
            <a:avLst/>
          </a:prstGeom>
          <a:solidFill>
            <a:srgbClr val="3A3F47"/>
          </a:solidFill>
          <a:ln w="12700">
            <a:solidFill>
              <a:srgbClr val="333333"/>
            </a:solidFill>
            <a:prstDash val="solid"/>
          </a:ln>
        </p:spPr>
      </p:sp>
      <p:sp>
        <p:nvSpPr>
          <p:cNvPr id="144" name="Text 142"/>
          <p:cNvSpPr txBox="1"/>
          <p:nvPr/>
        </p:nvSpPr>
        <p:spPr>
          <a:xfrm>
            <a:off x="19805904" y="7050024"/>
            <a:ext cx="6108192" cy="118872"/>
          </a:xfrm>
          <a:prstGeom prst="rect">
            <a:avLst/>
          </a:prstGeom>
          <a:noFill/>
          <a:ln/>
        </p:spPr>
        <p:txBody>
          <a:bodyPr wrap="square" lIns="0" tIns="0" rIns="0" bIns="0" rtlCol="0" anchor="t"/>
          <a:lstStyle/>
          <a:p>
            <a:pPr indent="0" marL="0">
              <a:buNone/>
            </a:pPr>
            <a:r>
              <a:rPr lang="en-US" sz="740" b="1" spc="140" kern="0" dirty="0">
                <a:solidFill>
                  <a:srgbClr val="525862"/>
                </a:solidFill>
                <a:latin typeface="Arial" pitchFamily="34" charset="0"/>
                <a:ea typeface="Arial" pitchFamily="34" charset="-122"/>
                <a:cs typeface="Arial" pitchFamily="34" charset="-120"/>
              </a:rPr>
              <a:t>CABIN DETAIL</a:t>
            </a:r>
            <a:endParaRPr lang="en-US" sz="740" dirty="0"/>
          </a:p>
        </p:txBody>
      </p:sp>
      <p:sp>
        <p:nvSpPr>
          <p:cNvPr id="145" name="Text 143"/>
          <p:cNvSpPr txBox="1"/>
          <p:nvPr/>
        </p:nvSpPr>
        <p:spPr>
          <a:xfrm>
            <a:off x="20116800" y="7232904"/>
            <a:ext cx="5486400" cy="329184"/>
          </a:xfrm>
          <a:prstGeom prst="rect">
            <a:avLst/>
          </a:prstGeom>
          <a:noFill/>
          <a:ln/>
        </p:spPr>
        <p:txBody>
          <a:bodyPr wrap="square" lIns="0" tIns="0" rIns="0" bIns="0" rtlCol="0" anchor="t"/>
          <a:lstStyle/>
          <a:p>
            <a:pPr algn="ctr" indent="0" marL="0">
              <a:lnSpc>
                <a:spcPct val="112000"/>
              </a:lnSpc>
              <a:buNone/>
            </a:pPr>
            <a:r>
              <a:rPr lang="en-US" sz="760" i="1" dirty="0">
                <a:solidFill>
                  <a:srgbClr val="4A505A"/>
                </a:solidFill>
                <a:latin typeface="Arial" pitchFamily="34" charset="0"/>
                <a:ea typeface="Arial" pitchFamily="34" charset="-122"/>
                <a:cs typeface="Arial" pitchFamily="34" charset="-120"/>
              </a:rPr>
              <a:t>six-seat layout, second-row captain chairs with their own console</a:t>
            </a:r>
            <a:endParaRPr lang="en-US" sz="760" dirty="0"/>
          </a:p>
        </p:txBody>
      </p:sp>
      <p:sp>
        <p:nvSpPr>
          <p:cNvPr id="146" name="Text 144"/>
          <p:cNvSpPr txBox="1"/>
          <p:nvPr/>
        </p:nvSpPr>
        <p:spPr>
          <a:xfrm>
            <a:off x="19805904" y="8961120"/>
            <a:ext cx="6108192" cy="118872"/>
          </a:xfrm>
          <a:prstGeom prst="rect">
            <a:avLst/>
          </a:prstGeom>
          <a:noFill/>
          <a:ln/>
        </p:spPr>
        <p:txBody>
          <a:bodyPr wrap="square" lIns="0" tIns="0" rIns="0" bIns="0" rtlCol="0" anchor="t"/>
          <a:lstStyle/>
          <a:p>
            <a:pPr indent="0" marL="0">
              <a:buNone/>
            </a:pPr>
            <a:r>
              <a:rPr lang="en-US" sz="680" b="1" spc="140" kern="0" dirty="0">
                <a:solidFill>
                  <a:srgbClr val="5E636A"/>
                </a:solidFill>
                <a:latin typeface="Arial" pitchFamily="34" charset="0"/>
                <a:ea typeface="Arial" pitchFamily="34" charset="-122"/>
                <a:cs typeface="Arial" pitchFamily="34" charset="-120"/>
              </a:rPr>
              <a:t>SCREENS</a:t>
            </a:r>
            <a:endParaRPr lang="en-US" sz="680" dirty="0"/>
          </a:p>
        </p:txBody>
      </p:sp>
      <p:sp>
        <p:nvSpPr>
          <p:cNvPr id="147" name="Text 145"/>
          <p:cNvSpPr txBox="1"/>
          <p:nvPr/>
        </p:nvSpPr>
        <p:spPr>
          <a:xfrm>
            <a:off x="19805904" y="9089136"/>
            <a:ext cx="6108192" cy="256032"/>
          </a:xfrm>
          <a:prstGeom prst="rect">
            <a:avLst/>
          </a:prstGeom>
          <a:noFill/>
          <a:ln/>
        </p:spPr>
        <p:txBody>
          <a:bodyPr wrap="square" lIns="0" tIns="0" rIns="0" bIns="0" rtlCol="0" anchor="t"/>
          <a:lstStyle/>
          <a:p>
            <a:pPr indent="0" marL="0">
              <a:lnSpc>
                <a:spcPct val="108000"/>
              </a:lnSpc>
              <a:buNone/>
            </a:pPr>
            <a:r>
              <a:rPr lang="en-US" sz="800" dirty="0">
                <a:solidFill>
                  <a:srgbClr val="C6C9CE"/>
                </a:solidFill>
                <a:latin typeface="Arial" pitchFamily="34" charset="0"/>
                <a:ea typeface="Arial" pitchFamily="34" charset="-122"/>
                <a:cs typeface="Arial" pitchFamily="34" charset="-120"/>
              </a:rPr>
              <a:t>Three screens in total, 12.3" cluster behind the wheel. Huawei HarmonySpace is the backbone; other diagonals not published.</a:t>
            </a:r>
            <a:endParaRPr lang="en-US" sz="800" dirty="0"/>
          </a:p>
        </p:txBody>
      </p:sp>
      <p:sp>
        <p:nvSpPr>
          <p:cNvPr id="148" name="Text 146"/>
          <p:cNvSpPr txBox="1"/>
          <p:nvPr/>
        </p:nvSpPr>
        <p:spPr>
          <a:xfrm>
            <a:off x="19805904" y="9345168"/>
            <a:ext cx="6108192" cy="118872"/>
          </a:xfrm>
          <a:prstGeom prst="rect">
            <a:avLst/>
          </a:prstGeom>
          <a:noFill/>
          <a:ln/>
        </p:spPr>
        <p:txBody>
          <a:bodyPr wrap="square" lIns="0" tIns="0" rIns="0" bIns="0" rtlCol="0" anchor="t"/>
          <a:lstStyle/>
          <a:p>
            <a:pPr indent="0" marL="0">
              <a:buNone/>
            </a:pPr>
            <a:r>
              <a:rPr lang="en-US" sz="680" b="1" spc="140" kern="0" dirty="0">
                <a:solidFill>
                  <a:srgbClr val="5E636A"/>
                </a:solidFill>
                <a:latin typeface="Arial" pitchFamily="34" charset="0"/>
                <a:ea typeface="Arial" pitchFamily="34" charset="-122"/>
                <a:cs typeface="Arial" pitchFamily="34" charset="-120"/>
              </a:rPr>
              <a:t>MATERIAL · COLOUR</a:t>
            </a:r>
            <a:endParaRPr lang="en-US" sz="680" dirty="0"/>
          </a:p>
        </p:txBody>
      </p:sp>
      <p:sp>
        <p:nvSpPr>
          <p:cNvPr id="149" name="Text 147"/>
          <p:cNvSpPr txBox="1"/>
          <p:nvPr/>
        </p:nvSpPr>
        <p:spPr>
          <a:xfrm>
            <a:off x="19805904" y="9473184"/>
            <a:ext cx="6108192" cy="256032"/>
          </a:xfrm>
          <a:prstGeom prst="rect">
            <a:avLst/>
          </a:prstGeom>
          <a:noFill/>
          <a:ln/>
        </p:spPr>
        <p:txBody>
          <a:bodyPr wrap="square" lIns="0" tIns="0" rIns="0" bIns="0" rtlCol="0" anchor="t"/>
          <a:lstStyle/>
          <a:p>
            <a:pPr indent="0" marL="0">
              <a:lnSpc>
                <a:spcPct val="108000"/>
              </a:lnSpc>
              <a:buNone/>
            </a:pPr>
            <a:r>
              <a:rPr lang="en-US" sz="800" dirty="0">
                <a:solidFill>
                  <a:srgbClr val="C6C9CE"/>
                </a:solidFill>
                <a:latin typeface="Arial" pitchFamily="34" charset="0"/>
                <a:ea typeface="Arial" pitchFamily="34" charset="-122"/>
                <a:cs typeface="Arial" pitchFamily="34" charset="-120"/>
              </a:rPr>
              <a:t>Positioned above the S7. Five or six seats changes the whole second-row architecture.</a:t>
            </a:r>
            <a:endParaRPr lang="en-US" sz="800" dirty="0"/>
          </a:p>
        </p:txBody>
      </p:sp>
      <p:sp>
        <p:nvSpPr>
          <p:cNvPr id="150" name="Text 148"/>
          <p:cNvSpPr txBox="1"/>
          <p:nvPr/>
        </p:nvSpPr>
        <p:spPr>
          <a:xfrm>
            <a:off x="19805904" y="9729216"/>
            <a:ext cx="6108192" cy="118872"/>
          </a:xfrm>
          <a:prstGeom prst="rect">
            <a:avLst/>
          </a:prstGeom>
          <a:noFill/>
          <a:ln/>
        </p:spPr>
        <p:txBody>
          <a:bodyPr wrap="square" lIns="0" tIns="0" rIns="0" bIns="0" rtlCol="0" anchor="t"/>
          <a:lstStyle/>
          <a:p>
            <a:pPr indent="0" marL="0">
              <a:buNone/>
            </a:pPr>
            <a:r>
              <a:rPr lang="en-US" sz="680" b="1" spc="140" kern="0" dirty="0">
                <a:solidFill>
                  <a:srgbClr val="5E636A"/>
                </a:solidFill>
                <a:latin typeface="Arial" pitchFamily="34" charset="0"/>
                <a:ea typeface="Arial" pitchFamily="34" charset="-122"/>
                <a:cs typeface="Arial" pitchFamily="34" charset="-120"/>
              </a:rPr>
              <a:t>SEAT · COMFORT</a:t>
            </a:r>
            <a:endParaRPr lang="en-US" sz="680" dirty="0"/>
          </a:p>
        </p:txBody>
      </p:sp>
      <p:sp>
        <p:nvSpPr>
          <p:cNvPr id="151" name="Text 149"/>
          <p:cNvSpPr txBox="1"/>
          <p:nvPr/>
        </p:nvSpPr>
        <p:spPr>
          <a:xfrm>
            <a:off x="19805904" y="9857232"/>
            <a:ext cx="6108192" cy="256032"/>
          </a:xfrm>
          <a:prstGeom prst="rect">
            <a:avLst/>
          </a:prstGeom>
          <a:noFill/>
          <a:ln/>
        </p:spPr>
        <p:txBody>
          <a:bodyPr wrap="square" lIns="0" tIns="0" rIns="0" bIns="0" rtlCol="0" anchor="t"/>
          <a:lstStyle/>
          <a:p>
            <a:pPr indent="0" marL="0">
              <a:lnSpc>
                <a:spcPct val="108000"/>
              </a:lnSpc>
              <a:buNone/>
            </a:pPr>
            <a:r>
              <a:rPr lang="en-US" sz="800" dirty="0">
                <a:solidFill>
                  <a:srgbClr val="C6C9CE"/>
                </a:solidFill>
                <a:latin typeface="Arial" pitchFamily="34" charset="0"/>
                <a:ea typeface="Arial" pitchFamily="34" charset="-122"/>
                <a:cs typeface="Arial" pitchFamily="34" charset="-120"/>
              </a:rPr>
              <a:t>Six-seat form gets captain chairs that recline and carry their own climate and media controls.</a:t>
            </a:r>
            <a:endParaRPr lang="en-US" sz="800" dirty="0"/>
          </a:p>
        </p:txBody>
      </p:sp>
      <p:sp>
        <p:nvSpPr>
          <p:cNvPr id="152" name="Text 150"/>
          <p:cNvSpPr txBox="1"/>
          <p:nvPr/>
        </p:nvSpPr>
        <p:spPr>
          <a:xfrm>
            <a:off x="19805904" y="10113264"/>
            <a:ext cx="6108192" cy="118872"/>
          </a:xfrm>
          <a:prstGeom prst="rect">
            <a:avLst/>
          </a:prstGeom>
          <a:noFill/>
          <a:ln/>
        </p:spPr>
        <p:txBody>
          <a:bodyPr wrap="square" lIns="0" tIns="0" rIns="0" bIns="0" rtlCol="0" anchor="t"/>
          <a:lstStyle/>
          <a:p>
            <a:pPr indent="0" marL="0">
              <a:buNone/>
            </a:pPr>
            <a:r>
              <a:rPr lang="en-US" sz="680" b="1" spc="140" kern="0" dirty="0">
                <a:solidFill>
                  <a:srgbClr val="5E636A"/>
                </a:solidFill>
                <a:latin typeface="Arial" pitchFamily="34" charset="0"/>
                <a:ea typeface="Arial" pitchFamily="34" charset="-122"/>
                <a:cs typeface="Arial" pitchFamily="34" charset="-120"/>
              </a:rPr>
              <a:t>FOR WHOM</a:t>
            </a:r>
            <a:endParaRPr lang="en-US" sz="680" dirty="0"/>
          </a:p>
        </p:txBody>
      </p:sp>
      <p:sp>
        <p:nvSpPr>
          <p:cNvPr id="153" name="Text 151"/>
          <p:cNvSpPr txBox="1"/>
          <p:nvPr/>
        </p:nvSpPr>
        <p:spPr>
          <a:xfrm>
            <a:off x="19805904" y="10241280"/>
            <a:ext cx="6108192" cy="256032"/>
          </a:xfrm>
          <a:prstGeom prst="rect">
            <a:avLst/>
          </a:prstGeom>
          <a:noFill/>
          <a:ln/>
        </p:spPr>
        <p:txBody>
          <a:bodyPr wrap="square" lIns="0" tIns="0" rIns="0" bIns="0" rtlCol="0" anchor="t"/>
          <a:lstStyle/>
          <a:p>
            <a:pPr indent="0" marL="0">
              <a:lnSpc>
                <a:spcPct val="108000"/>
              </a:lnSpc>
              <a:buNone/>
            </a:pPr>
            <a:r>
              <a:rPr lang="en-US" sz="800" dirty="0">
                <a:solidFill>
                  <a:srgbClr val="C6C9CE"/>
                </a:solidFill>
                <a:latin typeface="Arial" pitchFamily="34" charset="0"/>
                <a:ea typeface="Arial" pitchFamily="34" charset="-122"/>
                <a:cs typeface="Arial" pitchFamily="34" charset="-120"/>
              </a:rPr>
              <a:t>The GS8 owner trading up, buying the Huawei cabin badge.</a:t>
            </a:r>
            <a:endParaRPr lang="en-US" sz="800" dirty="0"/>
          </a:p>
        </p:txBody>
      </p:sp>
      <p:sp>
        <p:nvSpPr>
          <p:cNvPr id="154" name="Text 152"/>
          <p:cNvSpPr txBox="1"/>
          <p:nvPr/>
        </p:nvSpPr>
        <p:spPr>
          <a:xfrm>
            <a:off x="26224992" y="1956816"/>
            <a:ext cx="4736592" cy="274320"/>
          </a:xfrm>
          <a:prstGeom prst="rect">
            <a:avLst/>
          </a:prstGeom>
          <a:noFill/>
          <a:ln/>
        </p:spPr>
        <p:txBody>
          <a:bodyPr wrap="square" lIns="0" tIns="0" rIns="0" bIns="0" rtlCol="0" anchor="t"/>
          <a:lstStyle/>
          <a:p>
            <a:pPr indent="0" marL="0">
              <a:buNone/>
            </a:pPr>
            <a:r>
              <a:rPr lang="en-US" sz="1300" b="1" spc="70" kern="0" dirty="0">
                <a:solidFill>
                  <a:srgbClr val="F4F2EE"/>
                </a:solidFill>
                <a:latin typeface="Arial" pitchFamily="34" charset="0"/>
                <a:ea typeface="Arial" pitchFamily="34" charset="-122"/>
                <a:cs typeface="Arial" pitchFamily="34" charset="-120"/>
              </a:rPr>
              <a:t>E9</a:t>
            </a:r>
            <a:endParaRPr lang="en-US" sz="1300" dirty="0"/>
          </a:p>
        </p:txBody>
      </p:sp>
      <p:sp>
        <p:nvSpPr>
          <p:cNvPr id="155" name="Shape 153"/>
          <p:cNvSpPr/>
          <p:nvPr/>
        </p:nvSpPr>
        <p:spPr>
          <a:xfrm>
            <a:off x="31647384" y="1984248"/>
            <a:ext cx="685800" cy="192024"/>
          </a:xfrm>
          <a:prstGeom prst="roundRect">
            <a:avLst>
              <a:gd name="adj" fmla="val 47619"/>
            </a:avLst>
          </a:prstGeom>
          <a:solidFill>
            <a:srgbClr val="0A0B0D"/>
          </a:solidFill>
          <a:ln w="9525">
            <a:solidFill>
              <a:srgbClr val="D4BE8E"/>
            </a:solidFill>
            <a:prstDash val="solid"/>
          </a:ln>
        </p:spPr>
      </p:sp>
      <p:sp>
        <p:nvSpPr>
          <p:cNvPr id="156" name="Text 154"/>
          <p:cNvSpPr txBox="1"/>
          <p:nvPr/>
        </p:nvSpPr>
        <p:spPr>
          <a:xfrm>
            <a:off x="31647384" y="2025396"/>
            <a:ext cx="685800" cy="137160"/>
          </a:xfrm>
          <a:prstGeom prst="rect">
            <a:avLst/>
          </a:prstGeom>
          <a:noFill/>
          <a:ln/>
        </p:spPr>
        <p:txBody>
          <a:bodyPr wrap="square" lIns="0" tIns="0" rIns="0" bIns="0" rtlCol="0" anchor="t"/>
          <a:lstStyle/>
          <a:p>
            <a:pPr algn="ctr" indent="0" marL="0">
              <a:buNone/>
            </a:pPr>
            <a:r>
              <a:rPr lang="en-US" sz="660" b="1" spc="100" kern="0" dirty="0">
                <a:solidFill>
                  <a:srgbClr val="D4BE8E"/>
                </a:solidFill>
                <a:latin typeface="Arial" pitchFamily="34" charset="0"/>
                <a:ea typeface="Arial" pitchFamily="34" charset="-122"/>
                <a:cs typeface="Arial" pitchFamily="34" charset="-120"/>
              </a:rPr>
              <a:t>LUXURY</a:t>
            </a:r>
            <a:endParaRPr lang="en-US" sz="660" dirty="0"/>
          </a:p>
        </p:txBody>
      </p:sp>
      <p:sp>
        <p:nvSpPr>
          <p:cNvPr id="157" name="Text 155"/>
          <p:cNvSpPr txBox="1"/>
          <p:nvPr/>
        </p:nvSpPr>
        <p:spPr>
          <a:xfrm>
            <a:off x="26224992" y="2267712"/>
            <a:ext cx="6108192" cy="182880"/>
          </a:xfrm>
          <a:prstGeom prst="rect">
            <a:avLst/>
          </a:prstGeom>
          <a:noFill/>
          <a:ln/>
        </p:spPr>
        <p:txBody>
          <a:bodyPr wrap="square" lIns="0" tIns="0" rIns="0" bIns="0" rtlCol="0" anchor="t"/>
          <a:lstStyle/>
          <a:p>
            <a:pPr indent="0" marL="0">
              <a:buNone/>
            </a:pPr>
            <a:r>
              <a:rPr lang="en-US" sz="760" dirty="0">
                <a:solidFill>
                  <a:srgbClr val="9DA1A8"/>
                </a:solidFill>
                <a:latin typeface="Arial" pitchFamily="34" charset="0"/>
                <a:ea typeface="Arial" pitchFamily="34" charset="-122"/>
                <a:cs typeface="Arial" pitchFamily="34" charset="-120"/>
              </a:rPr>
              <a:t>Luxury PHEV MPV · 2023 · from ≈US$47k · the Alphard answer</a:t>
            </a:r>
            <a:endParaRPr lang="en-US" sz="760" dirty="0"/>
          </a:p>
        </p:txBody>
      </p:sp>
      <p:sp>
        <p:nvSpPr>
          <p:cNvPr id="158" name="Shape 156"/>
          <p:cNvSpPr/>
          <p:nvPr/>
        </p:nvSpPr>
        <p:spPr>
          <a:xfrm>
            <a:off x="26224992" y="2542032"/>
            <a:ext cx="6108192" cy="12802"/>
          </a:xfrm>
          <a:prstGeom prst="rect">
            <a:avLst/>
          </a:prstGeom>
          <a:solidFill>
            <a:srgbClr val="C4AC7A"/>
          </a:solidFill>
          <a:ln w="12700">
            <a:solidFill>
              <a:srgbClr val="333333"/>
            </a:solidFill>
            <a:prstDash val="solid"/>
          </a:ln>
        </p:spPr>
      </p:sp>
      <p:sp>
        <p:nvSpPr>
          <p:cNvPr id="159" name="Shape 157"/>
          <p:cNvSpPr/>
          <p:nvPr/>
        </p:nvSpPr>
        <p:spPr>
          <a:xfrm>
            <a:off x="26224992" y="2670048"/>
            <a:ext cx="6108192" cy="2980944"/>
          </a:xfrm>
          <a:prstGeom prst="rect">
            <a:avLst/>
          </a:prstGeom>
          <a:solidFill>
            <a:srgbClr val="14161A"/>
          </a:solidFill>
          <a:ln w="9525">
            <a:solidFill>
              <a:srgbClr val="262A30"/>
            </a:solidFill>
            <a:prstDash val="solid"/>
          </a:ln>
        </p:spPr>
      </p:sp>
      <p:sp>
        <p:nvSpPr>
          <p:cNvPr id="160" name="Shape 158"/>
          <p:cNvSpPr/>
          <p:nvPr/>
        </p:nvSpPr>
        <p:spPr>
          <a:xfrm>
            <a:off x="26224992" y="2670048"/>
            <a:ext cx="237744" cy="3658"/>
          </a:xfrm>
          <a:prstGeom prst="rect">
            <a:avLst/>
          </a:prstGeom>
          <a:solidFill>
            <a:srgbClr val="3A3F47"/>
          </a:solidFill>
          <a:ln w="12700">
            <a:solidFill>
              <a:srgbClr val="333333"/>
            </a:solidFill>
            <a:prstDash val="solid"/>
          </a:ln>
        </p:spPr>
      </p:sp>
      <p:sp>
        <p:nvSpPr>
          <p:cNvPr id="161" name="Shape 159"/>
          <p:cNvSpPr/>
          <p:nvPr/>
        </p:nvSpPr>
        <p:spPr>
          <a:xfrm>
            <a:off x="26224992" y="2670048"/>
            <a:ext cx="3658" cy="237744"/>
          </a:xfrm>
          <a:prstGeom prst="rect">
            <a:avLst/>
          </a:prstGeom>
          <a:solidFill>
            <a:srgbClr val="3A3F47"/>
          </a:solidFill>
          <a:ln w="12700">
            <a:solidFill>
              <a:srgbClr val="333333"/>
            </a:solidFill>
            <a:prstDash val="solid"/>
          </a:ln>
        </p:spPr>
      </p:sp>
      <p:sp>
        <p:nvSpPr>
          <p:cNvPr id="162" name="Shape 160"/>
          <p:cNvSpPr/>
          <p:nvPr/>
        </p:nvSpPr>
        <p:spPr>
          <a:xfrm>
            <a:off x="32095440" y="2670048"/>
            <a:ext cx="237744" cy="3658"/>
          </a:xfrm>
          <a:prstGeom prst="rect">
            <a:avLst/>
          </a:prstGeom>
          <a:solidFill>
            <a:srgbClr val="3A3F47"/>
          </a:solidFill>
          <a:ln w="12700">
            <a:solidFill>
              <a:srgbClr val="333333"/>
            </a:solidFill>
            <a:prstDash val="solid"/>
          </a:ln>
        </p:spPr>
      </p:sp>
      <p:sp>
        <p:nvSpPr>
          <p:cNvPr id="163" name="Shape 161"/>
          <p:cNvSpPr/>
          <p:nvPr/>
        </p:nvSpPr>
        <p:spPr>
          <a:xfrm>
            <a:off x="32329526" y="2670048"/>
            <a:ext cx="3658" cy="237744"/>
          </a:xfrm>
          <a:prstGeom prst="rect">
            <a:avLst/>
          </a:prstGeom>
          <a:solidFill>
            <a:srgbClr val="3A3F47"/>
          </a:solidFill>
          <a:ln w="12700">
            <a:solidFill>
              <a:srgbClr val="333333"/>
            </a:solidFill>
            <a:prstDash val="solid"/>
          </a:ln>
        </p:spPr>
      </p:sp>
      <p:sp>
        <p:nvSpPr>
          <p:cNvPr id="164" name="Shape 162"/>
          <p:cNvSpPr/>
          <p:nvPr/>
        </p:nvSpPr>
        <p:spPr>
          <a:xfrm>
            <a:off x="26224992" y="5647334"/>
            <a:ext cx="237744" cy="3658"/>
          </a:xfrm>
          <a:prstGeom prst="rect">
            <a:avLst/>
          </a:prstGeom>
          <a:solidFill>
            <a:srgbClr val="3A3F47"/>
          </a:solidFill>
          <a:ln w="12700">
            <a:solidFill>
              <a:srgbClr val="333333"/>
            </a:solidFill>
            <a:prstDash val="solid"/>
          </a:ln>
        </p:spPr>
      </p:sp>
      <p:sp>
        <p:nvSpPr>
          <p:cNvPr id="165" name="Shape 163"/>
          <p:cNvSpPr/>
          <p:nvPr/>
        </p:nvSpPr>
        <p:spPr>
          <a:xfrm>
            <a:off x="26224992" y="5413248"/>
            <a:ext cx="3658" cy="237744"/>
          </a:xfrm>
          <a:prstGeom prst="rect">
            <a:avLst/>
          </a:prstGeom>
          <a:solidFill>
            <a:srgbClr val="3A3F47"/>
          </a:solidFill>
          <a:ln w="12700">
            <a:solidFill>
              <a:srgbClr val="333333"/>
            </a:solidFill>
            <a:prstDash val="solid"/>
          </a:ln>
        </p:spPr>
      </p:sp>
      <p:sp>
        <p:nvSpPr>
          <p:cNvPr id="166" name="Shape 164"/>
          <p:cNvSpPr/>
          <p:nvPr/>
        </p:nvSpPr>
        <p:spPr>
          <a:xfrm>
            <a:off x="32095440" y="5647334"/>
            <a:ext cx="237744" cy="3658"/>
          </a:xfrm>
          <a:prstGeom prst="rect">
            <a:avLst/>
          </a:prstGeom>
          <a:solidFill>
            <a:srgbClr val="3A3F47"/>
          </a:solidFill>
          <a:ln w="12700">
            <a:solidFill>
              <a:srgbClr val="333333"/>
            </a:solidFill>
            <a:prstDash val="solid"/>
          </a:ln>
        </p:spPr>
      </p:sp>
      <p:sp>
        <p:nvSpPr>
          <p:cNvPr id="167" name="Shape 165"/>
          <p:cNvSpPr/>
          <p:nvPr/>
        </p:nvSpPr>
        <p:spPr>
          <a:xfrm>
            <a:off x="32329526" y="5413248"/>
            <a:ext cx="3658" cy="237744"/>
          </a:xfrm>
          <a:prstGeom prst="rect">
            <a:avLst/>
          </a:prstGeom>
          <a:solidFill>
            <a:srgbClr val="3A3F47"/>
          </a:solidFill>
          <a:ln w="12700">
            <a:solidFill>
              <a:srgbClr val="333333"/>
            </a:solidFill>
            <a:prstDash val="solid"/>
          </a:ln>
        </p:spPr>
      </p:sp>
      <p:sp>
        <p:nvSpPr>
          <p:cNvPr id="168" name="Text 166"/>
          <p:cNvSpPr txBox="1"/>
          <p:nvPr/>
        </p:nvSpPr>
        <p:spPr>
          <a:xfrm>
            <a:off x="26224992" y="3922776"/>
            <a:ext cx="6108192" cy="118872"/>
          </a:xfrm>
          <a:prstGeom prst="rect">
            <a:avLst/>
          </a:prstGeom>
          <a:noFill/>
          <a:ln/>
        </p:spPr>
        <p:txBody>
          <a:bodyPr wrap="square" lIns="0" tIns="0" rIns="0" bIns="0" rtlCol="0" anchor="t"/>
          <a:lstStyle/>
          <a:p>
            <a:pPr indent="0" marL="0">
              <a:buNone/>
            </a:pPr>
            <a:r>
              <a:rPr lang="en-US" sz="740" b="1" spc="140" kern="0" dirty="0">
                <a:solidFill>
                  <a:srgbClr val="525862"/>
                </a:solidFill>
                <a:latin typeface="Arial" pitchFamily="34" charset="0"/>
                <a:ea typeface="Arial" pitchFamily="34" charset="-122"/>
                <a:cs typeface="Arial" pitchFamily="34" charset="-120"/>
              </a:rPr>
              <a:t>DASHBOARD / IP</a:t>
            </a:r>
            <a:endParaRPr lang="en-US" sz="740" dirty="0"/>
          </a:p>
        </p:txBody>
      </p:sp>
      <p:sp>
        <p:nvSpPr>
          <p:cNvPr id="169" name="Text 167"/>
          <p:cNvSpPr txBox="1"/>
          <p:nvPr/>
        </p:nvSpPr>
        <p:spPr>
          <a:xfrm>
            <a:off x="26535888" y="4105656"/>
            <a:ext cx="5486400" cy="329184"/>
          </a:xfrm>
          <a:prstGeom prst="rect">
            <a:avLst/>
          </a:prstGeom>
          <a:noFill/>
          <a:ln/>
        </p:spPr>
        <p:txBody>
          <a:bodyPr wrap="square" lIns="0" tIns="0" rIns="0" bIns="0" rtlCol="0" anchor="t"/>
          <a:lstStyle/>
          <a:p>
            <a:pPr algn="ctr" indent="0" marL="0">
              <a:lnSpc>
                <a:spcPct val="112000"/>
              </a:lnSpc>
              <a:buNone/>
            </a:pPr>
            <a:r>
              <a:rPr lang="en-US" sz="760" i="1" dirty="0">
                <a:solidFill>
                  <a:srgbClr val="4A505A"/>
                </a:solidFill>
                <a:latin typeface="Arial" pitchFamily="34" charset="0"/>
                <a:ea typeface="Arial" pitchFamily="34" charset="-122"/>
                <a:cs typeface="Arial" pitchFamily="34" charset="-120"/>
              </a:rPr>
              <a:t>IP — 14.6" centre, 12.3" cluster and 12.3" passenger screen</a:t>
            </a:r>
            <a:endParaRPr lang="en-US" sz="760" dirty="0"/>
          </a:p>
        </p:txBody>
      </p:sp>
      <p:sp>
        <p:nvSpPr>
          <p:cNvPr id="170" name="Shape 168"/>
          <p:cNvSpPr/>
          <p:nvPr/>
        </p:nvSpPr>
        <p:spPr>
          <a:xfrm>
            <a:off x="26224992" y="5797296"/>
            <a:ext cx="6108192" cy="2980944"/>
          </a:xfrm>
          <a:prstGeom prst="rect">
            <a:avLst/>
          </a:prstGeom>
          <a:solidFill>
            <a:srgbClr val="14161A"/>
          </a:solidFill>
          <a:ln w="9525">
            <a:solidFill>
              <a:srgbClr val="262A30"/>
            </a:solidFill>
            <a:prstDash val="solid"/>
          </a:ln>
        </p:spPr>
      </p:sp>
      <p:sp>
        <p:nvSpPr>
          <p:cNvPr id="171" name="Shape 169"/>
          <p:cNvSpPr/>
          <p:nvPr/>
        </p:nvSpPr>
        <p:spPr>
          <a:xfrm>
            <a:off x="26224992" y="5797296"/>
            <a:ext cx="237744" cy="3658"/>
          </a:xfrm>
          <a:prstGeom prst="rect">
            <a:avLst/>
          </a:prstGeom>
          <a:solidFill>
            <a:srgbClr val="3A3F47"/>
          </a:solidFill>
          <a:ln w="12700">
            <a:solidFill>
              <a:srgbClr val="333333"/>
            </a:solidFill>
            <a:prstDash val="solid"/>
          </a:ln>
        </p:spPr>
      </p:sp>
      <p:sp>
        <p:nvSpPr>
          <p:cNvPr id="172" name="Shape 170"/>
          <p:cNvSpPr/>
          <p:nvPr/>
        </p:nvSpPr>
        <p:spPr>
          <a:xfrm>
            <a:off x="26224992" y="5797296"/>
            <a:ext cx="3658" cy="237744"/>
          </a:xfrm>
          <a:prstGeom prst="rect">
            <a:avLst/>
          </a:prstGeom>
          <a:solidFill>
            <a:srgbClr val="3A3F47"/>
          </a:solidFill>
          <a:ln w="12700">
            <a:solidFill>
              <a:srgbClr val="333333"/>
            </a:solidFill>
            <a:prstDash val="solid"/>
          </a:ln>
        </p:spPr>
      </p:sp>
      <p:sp>
        <p:nvSpPr>
          <p:cNvPr id="173" name="Shape 171"/>
          <p:cNvSpPr/>
          <p:nvPr/>
        </p:nvSpPr>
        <p:spPr>
          <a:xfrm>
            <a:off x="32095440" y="5797296"/>
            <a:ext cx="237744" cy="3658"/>
          </a:xfrm>
          <a:prstGeom prst="rect">
            <a:avLst/>
          </a:prstGeom>
          <a:solidFill>
            <a:srgbClr val="3A3F47"/>
          </a:solidFill>
          <a:ln w="12700">
            <a:solidFill>
              <a:srgbClr val="333333"/>
            </a:solidFill>
            <a:prstDash val="solid"/>
          </a:ln>
        </p:spPr>
      </p:sp>
      <p:sp>
        <p:nvSpPr>
          <p:cNvPr id="174" name="Shape 172"/>
          <p:cNvSpPr/>
          <p:nvPr/>
        </p:nvSpPr>
        <p:spPr>
          <a:xfrm>
            <a:off x="32329526" y="5797296"/>
            <a:ext cx="3658" cy="237744"/>
          </a:xfrm>
          <a:prstGeom prst="rect">
            <a:avLst/>
          </a:prstGeom>
          <a:solidFill>
            <a:srgbClr val="3A3F47"/>
          </a:solidFill>
          <a:ln w="12700">
            <a:solidFill>
              <a:srgbClr val="333333"/>
            </a:solidFill>
            <a:prstDash val="solid"/>
          </a:ln>
        </p:spPr>
      </p:sp>
      <p:sp>
        <p:nvSpPr>
          <p:cNvPr id="175" name="Shape 173"/>
          <p:cNvSpPr/>
          <p:nvPr/>
        </p:nvSpPr>
        <p:spPr>
          <a:xfrm>
            <a:off x="26224992" y="8774582"/>
            <a:ext cx="237744" cy="3658"/>
          </a:xfrm>
          <a:prstGeom prst="rect">
            <a:avLst/>
          </a:prstGeom>
          <a:solidFill>
            <a:srgbClr val="3A3F47"/>
          </a:solidFill>
          <a:ln w="12700">
            <a:solidFill>
              <a:srgbClr val="333333"/>
            </a:solidFill>
            <a:prstDash val="solid"/>
          </a:ln>
        </p:spPr>
      </p:sp>
      <p:sp>
        <p:nvSpPr>
          <p:cNvPr id="176" name="Shape 174"/>
          <p:cNvSpPr/>
          <p:nvPr/>
        </p:nvSpPr>
        <p:spPr>
          <a:xfrm>
            <a:off x="26224992" y="8540496"/>
            <a:ext cx="3658" cy="237744"/>
          </a:xfrm>
          <a:prstGeom prst="rect">
            <a:avLst/>
          </a:prstGeom>
          <a:solidFill>
            <a:srgbClr val="3A3F47"/>
          </a:solidFill>
          <a:ln w="12700">
            <a:solidFill>
              <a:srgbClr val="333333"/>
            </a:solidFill>
            <a:prstDash val="solid"/>
          </a:ln>
        </p:spPr>
      </p:sp>
      <p:sp>
        <p:nvSpPr>
          <p:cNvPr id="177" name="Shape 175"/>
          <p:cNvSpPr/>
          <p:nvPr/>
        </p:nvSpPr>
        <p:spPr>
          <a:xfrm>
            <a:off x="32095440" y="8774582"/>
            <a:ext cx="237744" cy="3658"/>
          </a:xfrm>
          <a:prstGeom prst="rect">
            <a:avLst/>
          </a:prstGeom>
          <a:solidFill>
            <a:srgbClr val="3A3F47"/>
          </a:solidFill>
          <a:ln w="12700">
            <a:solidFill>
              <a:srgbClr val="333333"/>
            </a:solidFill>
            <a:prstDash val="solid"/>
          </a:ln>
        </p:spPr>
      </p:sp>
      <p:sp>
        <p:nvSpPr>
          <p:cNvPr id="178" name="Shape 176"/>
          <p:cNvSpPr/>
          <p:nvPr/>
        </p:nvSpPr>
        <p:spPr>
          <a:xfrm>
            <a:off x="32329526" y="8540496"/>
            <a:ext cx="3658" cy="237744"/>
          </a:xfrm>
          <a:prstGeom prst="rect">
            <a:avLst/>
          </a:prstGeom>
          <a:solidFill>
            <a:srgbClr val="3A3F47"/>
          </a:solidFill>
          <a:ln w="12700">
            <a:solidFill>
              <a:srgbClr val="333333"/>
            </a:solidFill>
            <a:prstDash val="solid"/>
          </a:ln>
        </p:spPr>
      </p:sp>
      <p:sp>
        <p:nvSpPr>
          <p:cNvPr id="179" name="Text 177"/>
          <p:cNvSpPr txBox="1"/>
          <p:nvPr/>
        </p:nvSpPr>
        <p:spPr>
          <a:xfrm>
            <a:off x="26224992" y="7050024"/>
            <a:ext cx="6108192" cy="118872"/>
          </a:xfrm>
          <a:prstGeom prst="rect">
            <a:avLst/>
          </a:prstGeom>
          <a:noFill/>
          <a:ln/>
        </p:spPr>
        <p:txBody>
          <a:bodyPr wrap="square" lIns="0" tIns="0" rIns="0" bIns="0" rtlCol="0" anchor="t"/>
          <a:lstStyle/>
          <a:p>
            <a:pPr indent="0" marL="0">
              <a:buNone/>
            </a:pPr>
            <a:r>
              <a:rPr lang="en-US" sz="740" b="1" spc="140" kern="0" dirty="0">
                <a:solidFill>
                  <a:srgbClr val="525862"/>
                </a:solidFill>
                <a:latin typeface="Arial" pitchFamily="34" charset="0"/>
                <a:ea typeface="Arial" pitchFamily="34" charset="-122"/>
                <a:cs typeface="Arial" pitchFamily="34" charset="-120"/>
              </a:rPr>
              <a:t>CABIN DETAIL</a:t>
            </a:r>
            <a:endParaRPr lang="en-US" sz="740" dirty="0"/>
          </a:p>
        </p:txBody>
      </p:sp>
      <p:sp>
        <p:nvSpPr>
          <p:cNvPr id="180" name="Text 178"/>
          <p:cNvSpPr txBox="1"/>
          <p:nvPr/>
        </p:nvSpPr>
        <p:spPr>
          <a:xfrm>
            <a:off x="26535888" y="7232904"/>
            <a:ext cx="5486400" cy="329184"/>
          </a:xfrm>
          <a:prstGeom prst="rect">
            <a:avLst/>
          </a:prstGeom>
          <a:noFill/>
          <a:ln/>
        </p:spPr>
        <p:txBody>
          <a:bodyPr wrap="square" lIns="0" tIns="0" rIns="0" bIns="0" rtlCol="0" anchor="t"/>
          <a:lstStyle/>
          <a:p>
            <a:pPr algn="ctr" indent="0" marL="0">
              <a:lnSpc>
                <a:spcPct val="112000"/>
              </a:lnSpc>
              <a:buNone/>
            </a:pPr>
            <a:r>
              <a:rPr lang="en-US" sz="760" i="1" dirty="0">
                <a:solidFill>
                  <a:srgbClr val="4A505A"/>
                </a:solidFill>
                <a:latin typeface="Arial" pitchFamily="34" charset="0"/>
                <a:ea typeface="Arial" pitchFamily="34" charset="-122"/>
                <a:cs typeface="Arial" pitchFamily="34" charset="-120"/>
              </a:rPr>
              <a:t>second-row armrest touch pad; ceiling screen deployed</a:t>
            </a:r>
            <a:endParaRPr lang="en-US" sz="760" dirty="0"/>
          </a:p>
        </p:txBody>
      </p:sp>
      <p:sp>
        <p:nvSpPr>
          <p:cNvPr id="181" name="Text 179"/>
          <p:cNvSpPr txBox="1"/>
          <p:nvPr/>
        </p:nvSpPr>
        <p:spPr>
          <a:xfrm>
            <a:off x="26224992" y="8961120"/>
            <a:ext cx="6108192" cy="118872"/>
          </a:xfrm>
          <a:prstGeom prst="rect">
            <a:avLst/>
          </a:prstGeom>
          <a:noFill/>
          <a:ln/>
        </p:spPr>
        <p:txBody>
          <a:bodyPr wrap="square" lIns="0" tIns="0" rIns="0" bIns="0" rtlCol="0" anchor="t"/>
          <a:lstStyle/>
          <a:p>
            <a:pPr indent="0" marL="0">
              <a:buNone/>
            </a:pPr>
            <a:r>
              <a:rPr lang="en-US" sz="680" b="1" spc="140" kern="0" dirty="0">
                <a:solidFill>
                  <a:srgbClr val="5E636A"/>
                </a:solidFill>
                <a:latin typeface="Arial" pitchFamily="34" charset="0"/>
                <a:ea typeface="Arial" pitchFamily="34" charset="-122"/>
                <a:cs typeface="Arial" pitchFamily="34" charset="-120"/>
              </a:rPr>
              <a:t>SCREENS</a:t>
            </a:r>
            <a:endParaRPr lang="en-US" sz="680" dirty="0"/>
          </a:p>
        </p:txBody>
      </p:sp>
      <p:sp>
        <p:nvSpPr>
          <p:cNvPr id="182" name="Text 180"/>
          <p:cNvSpPr txBox="1"/>
          <p:nvPr/>
        </p:nvSpPr>
        <p:spPr>
          <a:xfrm>
            <a:off x="26224992" y="9089136"/>
            <a:ext cx="6108192" cy="256032"/>
          </a:xfrm>
          <a:prstGeom prst="rect">
            <a:avLst/>
          </a:prstGeom>
          <a:noFill/>
          <a:ln/>
        </p:spPr>
        <p:txBody>
          <a:bodyPr wrap="square" lIns="0" tIns="0" rIns="0" bIns="0" rtlCol="0" anchor="t"/>
          <a:lstStyle/>
          <a:p>
            <a:pPr indent="0" marL="0">
              <a:lnSpc>
                <a:spcPct val="108000"/>
              </a:lnSpc>
              <a:buNone/>
            </a:pPr>
            <a:r>
              <a:rPr lang="en-US" sz="800" dirty="0">
                <a:solidFill>
                  <a:srgbClr val="C6C9CE"/>
                </a:solidFill>
                <a:latin typeface="Arial" pitchFamily="34" charset="0"/>
                <a:ea typeface="Arial" pitchFamily="34" charset="-122"/>
                <a:cs typeface="Arial" pitchFamily="34" charset="-120"/>
              </a:rPr>
              <a:t>Four displays: 14.6" centre, 12.3" cluster, 12.3" front passenger, 15.6" in the ceiling.</a:t>
            </a:r>
            <a:endParaRPr lang="en-US" sz="800" dirty="0"/>
          </a:p>
        </p:txBody>
      </p:sp>
      <p:sp>
        <p:nvSpPr>
          <p:cNvPr id="183" name="Text 181"/>
          <p:cNvSpPr txBox="1"/>
          <p:nvPr/>
        </p:nvSpPr>
        <p:spPr>
          <a:xfrm>
            <a:off x="26224992" y="9345168"/>
            <a:ext cx="6108192" cy="118872"/>
          </a:xfrm>
          <a:prstGeom prst="rect">
            <a:avLst/>
          </a:prstGeom>
          <a:noFill/>
          <a:ln/>
        </p:spPr>
        <p:txBody>
          <a:bodyPr wrap="square" lIns="0" tIns="0" rIns="0" bIns="0" rtlCol="0" anchor="t"/>
          <a:lstStyle/>
          <a:p>
            <a:pPr indent="0" marL="0">
              <a:buNone/>
            </a:pPr>
            <a:r>
              <a:rPr lang="en-US" sz="680" b="1" spc="140" kern="0" dirty="0">
                <a:solidFill>
                  <a:srgbClr val="5E636A"/>
                </a:solidFill>
                <a:latin typeface="Arial" pitchFamily="34" charset="0"/>
                <a:ea typeface="Arial" pitchFamily="34" charset="-122"/>
                <a:cs typeface="Arial" pitchFamily="34" charset="-120"/>
              </a:rPr>
              <a:t>MATERIAL · COLOUR</a:t>
            </a:r>
            <a:endParaRPr lang="en-US" sz="680" dirty="0"/>
          </a:p>
        </p:txBody>
      </p:sp>
      <p:sp>
        <p:nvSpPr>
          <p:cNvPr id="184" name="Text 182"/>
          <p:cNvSpPr txBox="1"/>
          <p:nvPr/>
        </p:nvSpPr>
        <p:spPr>
          <a:xfrm>
            <a:off x="26224992" y="9473184"/>
            <a:ext cx="6108192" cy="256032"/>
          </a:xfrm>
          <a:prstGeom prst="rect">
            <a:avLst/>
          </a:prstGeom>
          <a:noFill/>
          <a:ln/>
        </p:spPr>
        <p:txBody>
          <a:bodyPr wrap="square" lIns="0" tIns="0" rIns="0" bIns="0" rtlCol="0" anchor="t"/>
          <a:lstStyle/>
          <a:p>
            <a:pPr indent="0" marL="0">
              <a:lnSpc>
                <a:spcPct val="108000"/>
              </a:lnSpc>
              <a:buNone/>
            </a:pPr>
            <a:r>
              <a:rPr lang="en-US" sz="800" dirty="0">
                <a:solidFill>
                  <a:srgbClr val="C6C9CE"/>
                </a:solidFill>
                <a:latin typeface="Arial" pitchFamily="34" charset="0"/>
                <a:ea typeface="Arial" pitchFamily="34" charset="-122"/>
                <a:cs typeface="Arial" pitchFamily="34" charset="-120"/>
              </a:rPr>
              <a:t>Light champagne cabin. Control physically moves out of the driver's seat into row two.</a:t>
            </a:r>
            <a:endParaRPr lang="en-US" sz="800" dirty="0"/>
          </a:p>
        </p:txBody>
      </p:sp>
      <p:sp>
        <p:nvSpPr>
          <p:cNvPr id="185" name="Text 183"/>
          <p:cNvSpPr txBox="1"/>
          <p:nvPr/>
        </p:nvSpPr>
        <p:spPr>
          <a:xfrm>
            <a:off x="26224992" y="9729216"/>
            <a:ext cx="6108192" cy="118872"/>
          </a:xfrm>
          <a:prstGeom prst="rect">
            <a:avLst/>
          </a:prstGeom>
          <a:noFill/>
          <a:ln/>
        </p:spPr>
        <p:txBody>
          <a:bodyPr wrap="square" lIns="0" tIns="0" rIns="0" bIns="0" rtlCol="0" anchor="t"/>
          <a:lstStyle/>
          <a:p>
            <a:pPr indent="0" marL="0">
              <a:buNone/>
            </a:pPr>
            <a:r>
              <a:rPr lang="en-US" sz="680" b="1" spc="140" kern="0" dirty="0">
                <a:solidFill>
                  <a:srgbClr val="5E636A"/>
                </a:solidFill>
                <a:latin typeface="Arial" pitchFamily="34" charset="0"/>
                <a:ea typeface="Arial" pitchFamily="34" charset="-122"/>
                <a:cs typeface="Arial" pitchFamily="34" charset="-120"/>
              </a:rPr>
              <a:t>SEAT · COMFORT</a:t>
            </a:r>
            <a:endParaRPr lang="en-US" sz="680" dirty="0"/>
          </a:p>
        </p:txBody>
      </p:sp>
      <p:sp>
        <p:nvSpPr>
          <p:cNvPr id="186" name="Text 184"/>
          <p:cNvSpPr txBox="1"/>
          <p:nvPr/>
        </p:nvSpPr>
        <p:spPr>
          <a:xfrm>
            <a:off x="26224992" y="9857232"/>
            <a:ext cx="6108192" cy="256032"/>
          </a:xfrm>
          <a:prstGeom prst="rect">
            <a:avLst/>
          </a:prstGeom>
          <a:noFill/>
          <a:ln/>
        </p:spPr>
        <p:txBody>
          <a:bodyPr wrap="square" lIns="0" tIns="0" rIns="0" bIns="0" rtlCol="0" anchor="t"/>
          <a:lstStyle/>
          <a:p>
            <a:pPr indent="0" marL="0">
              <a:lnSpc>
                <a:spcPct val="108000"/>
              </a:lnSpc>
              <a:buNone/>
            </a:pPr>
            <a:r>
              <a:rPr lang="en-US" sz="800" dirty="0">
                <a:solidFill>
                  <a:srgbClr val="C6C9CE"/>
                </a:solidFill>
                <a:latin typeface="Arial" pitchFamily="34" charset="0"/>
                <a:ea typeface="Arial" pitchFamily="34" charset="-122"/>
                <a:cs typeface="Arial" pitchFamily="34" charset="-120"/>
              </a:rPr>
              <a:t>2+2+3 with captain chairs, each carrying its own 5" armrest touch pad to drive that seat.</a:t>
            </a:r>
            <a:endParaRPr lang="en-US" sz="800" dirty="0"/>
          </a:p>
        </p:txBody>
      </p:sp>
      <p:sp>
        <p:nvSpPr>
          <p:cNvPr id="187" name="Text 185"/>
          <p:cNvSpPr txBox="1"/>
          <p:nvPr/>
        </p:nvSpPr>
        <p:spPr>
          <a:xfrm>
            <a:off x="26224992" y="10113264"/>
            <a:ext cx="6108192" cy="118872"/>
          </a:xfrm>
          <a:prstGeom prst="rect">
            <a:avLst/>
          </a:prstGeom>
          <a:noFill/>
          <a:ln/>
        </p:spPr>
        <p:txBody>
          <a:bodyPr wrap="square" lIns="0" tIns="0" rIns="0" bIns="0" rtlCol="0" anchor="t"/>
          <a:lstStyle/>
          <a:p>
            <a:pPr indent="0" marL="0">
              <a:buNone/>
            </a:pPr>
            <a:r>
              <a:rPr lang="en-US" sz="680" b="1" spc="140" kern="0" dirty="0">
                <a:solidFill>
                  <a:srgbClr val="5E636A"/>
                </a:solidFill>
                <a:latin typeface="Arial" pitchFamily="34" charset="0"/>
                <a:ea typeface="Arial" pitchFamily="34" charset="-122"/>
                <a:cs typeface="Arial" pitchFamily="34" charset="-120"/>
              </a:rPr>
              <a:t>FOR WHOM</a:t>
            </a:r>
            <a:endParaRPr lang="en-US" sz="680" dirty="0"/>
          </a:p>
        </p:txBody>
      </p:sp>
      <p:sp>
        <p:nvSpPr>
          <p:cNvPr id="188" name="Text 186"/>
          <p:cNvSpPr txBox="1"/>
          <p:nvPr/>
        </p:nvSpPr>
        <p:spPr>
          <a:xfrm>
            <a:off x="26224992" y="10241280"/>
            <a:ext cx="6108192" cy="256032"/>
          </a:xfrm>
          <a:prstGeom prst="rect">
            <a:avLst/>
          </a:prstGeom>
          <a:noFill/>
          <a:ln/>
        </p:spPr>
        <p:txBody>
          <a:bodyPr wrap="square" lIns="0" tIns="0" rIns="0" bIns="0" rtlCol="0" anchor="t"/>
          <a:lstStyle/>
          <a:p>
            <a:pPr indent="0" marL="0">
              <a:lnSpc>
                <a:spcPct val="108000"/>
              </a:lnSpc>
              <a:buNone/>
            </a:pPr>
            <a:r>
              <a:rPr lang="en-US" sz="800" dirty="0">
                <a:solidFill>
                  <a:srgbClr val="C6C9CE"/>
                </a:solidFill>
                <a:latin typeface="Arial" pitchFamily="34" charset="0"/>
                <a:ea typeface="Arial" pitchFamily="34" charset="-122"/>
                <a:cs typeface="Arial" pitchFamily="34" charset="-120"/>
              </a:rPr>
              <a:t>Chauffeur-driven business use, cross-shopped against the Toyota Alphard.</a:t>
            </a:r>
            <a:endParaRPr lang="en-US" sz="800" dirty="0"/>
          </a:p>
        </p:txBody>
      </p:sp>
      <p:sp>
        <p:nvSpPr>
          <p:cNvPr id="189" name="Text 187"/>
          <p:cNvSpPr txBox="1"/>
          <p:nvPr/>
        </p:nvSpPr>
        <p:spPr>
          <a:xfrm>
            <a:off x="32644080" y="1956816"/>
            <a:ext cx="4736592" cy="274320"/>
          </a:xfrm>
          <a:prstGeom prst="rect">
            <a:avLst/>
          </a:prstGeom>
          <a:noFill/>
          <a:ln/>
        </p:spPr>
        <p:txBody>
          <a:bodyPr wrap="square" lIns="0" tIns="0" rIns="0" bIns="0" rtlCol="0" anchor="t"/>
          <a:lstStyle/>
          <a:p>
            <a:pPr indent="0" marL="0">
              <a:buNone/>
            </a:pPr>
            <a:r>
              <a:rPr lang="en-US" sz="1300" b="1" spc="70" kern="0" dirty="0">
                <a:solidFill>
                  <a:srgbClr val="F4F2EE"/>
                </a:solidFill>
                <a:latin typeface="Arial" pitchFamily="34" charset="0"/>
                <a:ea typeface="Arial" pitchFamily="34" charset="-122"/>
                <a:cs typeface="Arial" pitchFamily="34" charset="-120"/>
              </a:rPr>
              <a:t>M8 XIANGWANG</a:t>
            </a:r>
            <a:endParaRPr lang="en-US" sz="1300" dirty="0"/>
          </a:p>
        </p:txBody>
      </p:sp>
      <p:sp>
        <p:nvSpPr>
          <p:cNvPr id="190" name="Shape 188"/>
          <p:cNvSpPr/>
          <p:nvPr/>
        </p:nvSpPr>
        <p:spPr>
          <a:xfrm>
            <a:off x="38066472" y="1984248"/>
            <a:ext cx="685800" cy="192024"/>
          </a:xfrm>
          <a:prstGeom prst="roundRect">
            <a:avLst>
              <a:gd name="adj" fmla="val 47619"/>
            </a:avLst>
          </a:prstGeom>
          <a:solidFill>
            <a:srgbClr val="0A0B0D"/>
          </a:solidFill>
          <a:ln w="9525">
            <a:solidFill>
              <a:srgbClr val="D4BE8E"/>
            </a:solidFill>
            <a:prstDash val="solid"/>
          </a:ln>
        </p:spPr>
      </p:sp>
      <p:sp>
        <p:nvSpPr>
          <p:cNvPr id="191" name="Text 189"/>
          <p:cNvSpPr txBox="1"/>
          <p:nvPr/>
        </p:nvSpPr>
        <p:spPr>
          <a:xfrm>
            <a:off x="38066472" y="2025396"/>
            <a:ext cx="685800" cy="137160"/>
          </a:xfrm>
          <a:prstGeom prst="rect">
            <a:avLst/>
          </a:prstGeom>
          <a:noFill/>
          <a:ln/>
        </p:spPr>
        <p:txBody>
          <a:bodyPr wrap="square" lIns="0" tIns="0" rIns="0" bIns="0" rtlCol="0" anchor="t"/>
          <a:lstStyle/>
          <a:p>
            <a:pPr algn="ctr" indent="0" marL="0">
              <a:buNone/>
            </a:pPr>
            <a:r>
              <a:rPr lang="en-US" sz="660" b="1" spc="100" kern="0" dirty="0">
                <a:solidFill>
                  <a:srgbClr val="D4BE8E"/>
                </a:solidFill>
                <a:latin typeface="Arial" pitchFamily="34" charset="0"/>
                <a:ea typeface="Arial" pitchFamily="34" charset="-122"/>
                <a:cs typeface="Arial" pitchFamily="34" charset="-120"/>
              </a:rPr>
              <a:t>LUXURY</a:t>
            </a:r>
            <a:endParaRPr lang="en-US" sz="660" dirty="0"/>
          </a:p>
        </p:txBody>
      </p:sp>
      <p:sp>
        <p:nvSpPr>
          <p:cNvPr id="192" name="Text 190"/>
          <p:cNvSpPr txBox="1"/>
          <p:nvPr/>
        </p:nvSpPr>
        <p:spPr>
          <a:xfrm>
            <a:off x="32644080" y="2267712"/>
            <a:ext cx="6108192" cy="182880"/>
          </a:xfrm>
          <a:prstGeom prst="rect">
            <a:avLst/>
          </a:prstGeom>
          <a:noFill/>
          <a:ln/>
        </p:spPr>
        <p:txBody>
          <a:bodyPr wrap="square" lIns="0" tIns="0" rIns="0" bIns="0" rtlCol="0" anchor="t"/>
          <a:lstStyle/>
          <a:p>
            <a:pPr indent="0" marL="0">
              <a:buNone/>
            </a:pPr>
            <a:r>
              <a:rPr lang="en-US" sz="760" dirty="0">
                <a:solidFill>
                  <a:srgbClr val="9DA1A8"/>
                </a:solidFill>
                <a:latin typeface="Arial" pitchFamily="34" charset="0"/>
                <a:ea typeface="Arial" pitchFamily="34" charset="-122"/>
                <a:cs typeface="Arial" pitchFamily="34" charset="-120"/>
              </a:rPr>
              <a:t>Full-size MPV · 2026 model year · the brand's ceiling</a:t>
            </a:r>
            <a:endParaRPr lang="en-US" sz="760" dirty="0"/>
          </a:p>
        </p:txBody>
      </p:sp>
      <p:sp>
        <p:nvSpPr>
          <p:cNvPr id="193" name="Shape 191"/>
          <p:cNvSpPr/>
          <p:nvPr/>
        </p:nvSpPr>
        <p:spPr>
          <a:xfrm>
            <a:off x="32644080" y="2542032"/>
            <a:ext cx="6108192" cy="12802"/>
          </a:xfrm>
          <a:prstGeom prst="rect">
            <a:avLst/>
          </a:prstGeom>
          <a:solidFill>
            <a:srgbClr val="C4AC7A"/>
          </a:solidFill>
          <a:ln w="12700">
            <a:solidFill>
              <a:srgbClr val="333333"/>
            </a:solidFill>
            <a:prstDash val="solid"/>
          </a:ln>
        </p:spPr>
      </p:sp>
      <p:sp>
        <p:nvSpPr>
          <p:cNvPr id="194" name="Shape 192"/>
          <p:cNvSpPr/>
          <p:nvPr/>
        </p:nvSpPr>
        <p:spPr>
          <a:xfrm>
            <a:off x="32644080" y="2670048"/>
            <a:ext cx="6108192" cy="2980944"/>
          </a:xfrm>
          <a:prstGeom prst="rect">
            <a:avLst/>
          </a:prstGeom>
          <a:solidFill>
            <a:srgbClr val="14161A"/>
          </a:solidFill>
          <a:ln w="9525">
            <a:solidFill>
              <a:srgbClr val="262A30"/>
            </a:solidFill>
            <a:prstDash val="solid"/>
          </a:ln>
        </p:spPr>
      </p:sp>
      <p:sp>
        <p:nvSpPr>
          <p:cNvPr id="195" name="Shape 193"/>
          <p:cNvSpPr/>
          <p:nvPr/>
        </p:nvSpPr>
        <p:spPr>
          <a:xfrm>
            <a:off x="32644080" y="2670048"/>
            <a:ext cx="237744" cy="3658"/>
          </a:xfrm>
          <a:prstGeom prst="rect">
            <a:avLst/>
          </a:prstGeom>
          <a:solidFill>
            <a:srgbClr val="3A3F47"/>
          </a:solidFill>
          <a:ln w="12700">
            <a:solidFill>
              <a:srgbClr val="333333"/>
            </a:solidFill>
            <a:prstDash val="solid"/>
          </a:ln>
        </p:spPr>
      </p:sp>
      <p:sp>
        <p:nvSpPr>
          <p:cNvPr id="196" name="Shape 194"/>
          <p:cNvSpPr/>
          <p:nvPr/>
        </p:nvSpPr>
        <p:spPr>
          <a:xfrm>
            <a:off x="32644080" y="2670048"/>
            <a:ext cx="3658" cy="237744"/>
          </a:xfrm>
          <a:prstGeom prst="rect">
            <a:avLst/>
          </a:prstGeom>
          <a:solidFill>
            <a:srgbClr val="3A3F47"/>
          </a:solidFill>
          <a:ln w="12700">
            <a:solidFill>
              <a:srgbClr val="333333"/>
            </a:solidFill>
            <a:prstDash val="solid"/>
          </a:ln>
        </p:spPr>
      </p:sp>
      <p:sp>
        <p:nvSpPr>
          <p:cNvPr id="197" name="Shape 195"/>
          <p:cNvSpPr/>
          <p:nvPr/>
        </p:nvSpPr>
        <p:spPr>
          <a:xfrm>
            <a:off x="38514528" y="2670048"/>
            <a:ext cx="237744" cy="3658"/>
          </a:xfrm>
          <a:prstGeom prst="rect">
            <a:avLst/>
          </a:prstGeom>
          <a:solidFill>
            <a:srgbClr val="3A3F47"/>
          </a:solidFill>
          <a:ln w="12700">
            <a:solidFill>
              <a:srgbClr val="333333"/>
            </a:solidFill>
            <a:prstDash val="solid"/>
          </a:ln>
        </p:spPr>
      </p:sp>
      <p:sp>
        <p:nvSpPr>
          <p:cNvPr id="198" name="Shape 196"/>
          <p:cNvSpPr/>
          <p:nvPr/>
        </p:nvSpPr>
        <p:spPr>
          <a:xfrm>
            <a:off x="38748614" y="2670048"/>
            <a:ext cx="3658" cy="237744"/>
          </a:xfrm>
          <a:prstGeom prst="rect">
            <a:avLst/>
          </a:prstGeom>
          <a:solidFill>
            <a:srgbClr val="3A3F47"/>
          </a:solidFill>
          <a:ln w="12700">
            <a:solidFill>
              <a:srgbClr val="333333"/>
            </a:solidFill>
            <a:prstDash val="solid"/>
          </a:ln>
        </p:spPr>
      </p:sp>
      <p:sp>
        <p:nvSpPr>
          <p:cNvPr id="199" name="Shape 197"/>
          <p:cNvSpPr/>
          <p:nvPr/>
        </p:nvSpPr>
        <p:spPr>
          <a:xfrm>
            <a:off x="32644080" y="5647334"/>
            <a:ext cx="237744" cy="3658"/>
          </a:xfrm>
          <a:prstGeom prst="rect">
            <a:avLst/>
          </a:prstGeom>
          <a:solidFill>
            <a:srgbClr val="3A3F47"/>
          </a:solidFill>
          <a:ln w="12700">
            <a:solidFill>
              <a:srgbClr val="333333"/>
            </a:solidFill>
            <a:prstDash val="solid"/>
          </a:ln>
        </p:spPr>
      </p:sp>
      <p:sp>
        <p:nvSpPr>
          <p:cNvPr id="200" name="Shape 198"/>
          <p:cNvSpPr/>
          <p:nvPr/>
        </p:nvSpPr>
        <p:spPr>
          <a:xfrm>
            <a:off x="32644080" y="5413248"/>
            <a:ext cx="3658" cy="237744"/>
          </a:xfrm>
          <a:prstGeom prst="rect">
            <a:avLst/>
          </a:prstGeom>
          <a:solidFill>
            <a:srgbClr val="3A3F47"/>
          </a:solidFill>
          <a:ln w="12700">
            <a:solidFill>
              <a:srgbClr val="333333"/>
            </a:solidFill>
            <a:prstDash val="solid"/>
          </a:ln>
        </p:spPr>
      </p:sp>
      <p:sp>
        <p:nvSpPr>
          <p:cNvPr id="201" name="Shape 199"/>
          <p:cNvSpPr/>
          <p:nvPr/>
        </p:nvSpPr>
        <p:spPr>
          <a:xfrm>
            <a:off x="38514528" y="5647334"/>
            <a:ext cx="237744" cy="3658"/>
          </a:xfrm>
          <a:prstGeom prst="rect">
            <a:avLst/>
          </a:prstGeom>
          <a:solidFill>
            <a:srgbClr val="3A3F47"/>
          </a:solidFill>
          <a:ln w="12700">
            <a:solidFill>
              <a:srgbClr val="333333"/>
            </a:solidFill>
            <a:prstDash val="solid"/>
          </a:ln>
        </p:spPr>
      </p:sp>
      <p:sp>
        <p:nvSpPr>
          <p:cNvPr id="202" name="Shape 200"/>
          <p:cNvSpPr/>
          <p:nvPr/>
        </p:nvSpPr>
        <p:spPr>
          <a:xfrm>
            <a:off x="38748614" y="5413248"/>
            <a:ext cx="3658" cy="237744"/>
          </a:xfrm>
          <a:prstGeom prst="rect">
            <a:avLst/>
          </a:prstGeom>
          <a:solidFill>
            <a:srgbClr val="3A3F47"/>
          </a:solidFill>
          <a:ln w="12700">
            <a:solidFill>
              <a:srgbClr val="333333"/>
            </a:solidFill>
            <a:prstDash val="solid"/>
          </a:ln>
        </p:spPr>
      </p:sp>
      <p:sp>
        <p:nvSpPr>
          <p:cNvPr id="203" name="Text 201"/>
          <p:cNvSpPr txBox="1"/>
          <p:nvPr/>
        </p:nvSpPr>
        <p:spPr>
          <a:xfrm>
            <a:off x="32644080" y="3922776"/>
            <a:ext cx="6108192" cy="118872"/>
          </a:xfrm>
          <a:prstGeom prst="rect">
            <a:avLst/>
          </a:prstGeom>
          <a:noFill/>
          <a:ln/>
        </p:spPr>
        <p:txBody>
          <a:bodyPr wrap="square" lIns="0" tIns="0" rIns="0" bIns="0" rtlCol="0" anchor="t"/>
          <a:lstStyle/>
          <a:p>
            <a:pPr indent="0" marL="0">
              <a:buNone/>
            </a:pPr>
            <a:r>
              <a:rPr lang="en-US" sz="740" b="1" spc="140" kern="0" dirty="0">
                <a:solidFill>
                  <a:srgbClr val="525862"/>
                </a:solidFill>
                <a:latin typeface="Arial" pitchFamily="34" charset="0"/>
                <a:ea typeface="Arial" pitchFamily="34" charset="-122"/>
                <a:cs typeface="Arial" pitchFamily="34" charset="-120"/>
              </a:rPr>
              <a:t>DASHBOARD / IP</a:t>
            </a:r>
            <a:endParaRPr lang="en-US" sz="740" dirty="0"/>
          </a:p>
        </p:txBody>
      </p:sp>
      <p:sp>
        <p:nvSpPr>
          <p:cNvPr id="204" name="Text 202"/>
          <p:cNvSpPr txBox="1"/>
          <p:nvPr/>
        </p:nvSpPr>
        <p:spPr>
          <a:xfrm>
            <a:off x="32954976" y="4105656"/>
            <a:ext cx="5486400" cy="329184"/>
          </a:xfrm>
          <a:prstGeom prst="rect">
            <a:avLst/>
          </a:prstGeom>
          <a:noFill/>
          <a:ln/>
        </p:spPr>
        <p:txBody>
          <a:bodyPr wrap="square" lIns="0" tIns="0" rIns="0" bIns="0" rtlCol="0" anchor="t"/>
          <a:lstStyle/>
          <a:p>
            <a:pPr algn="ctr" indent="0" marL="0">
              <a:lnSpc>
                <a:spcPct val="112000"/>
              </a:lnSpc>
              <a:buNone/>
            </a:pPr>
            <a:r>
              <a:rPr lang="en-US" sz="760" i="1" dirty="0">
                <a:solidFill>
                  <a:srgbClr val="4A505A"/>
                </a:solidFill>
                <a:latin typeface="Arial" pitchFamily="34" charset="0"/>
                <a:ea typeface="Arial" pitchFamily="34" charset="-122"/>
                <a:cs typeface="Arial" pitchFamily="34" charset="-120"/>
              </a:rPr>
              <a:t>IP — HarmonySpace 5 on the 15.6" centre screen</a:t>
            </a:r>
            <a:endParaRPr lang="en-US" sz="760" dirty="0"/>
          </a:p>
        </p:txBody>
      </p:sp>
      <p:sp>
        <p:nvSpPr>
          <p:cNvPr id="205" name="Shape 203"/>
          <p:cNvSpPr/>
          <p:nvPr/>
        </p:nvSpPr>
        <p:spPr>
          <a:xfrm>
            <a:off x="32644080" y="5797296"/>
            <a:ext cx="6108192" cy="2980944"/>
          </a:xfrm>
          <a:prstGeom prst="rect">
            <a:avLst/>
          </a:prstGeom>
          <a:solidFill>
            <a:srgbClr val="14161A"/>
          </a:solidFill>
          <a:ln w="9525">
            <a:solidFill>
              <a:srgbClr val="262A30"/>
            </a:solidFill>
            <a:prstDash val="solid"/>
          </a:ln>
        </p:spPr>
      </p:sp>
      <p:sp>
        <p:nvSpPr>
          <p:cNvPr id="206" name="Shape 204"/>
          <p:cNvSpPr/>
          <p:nvPr/>
        </p:nvSpPr>
        <p:spPr>
          <a:xfrm>
            <a:off x="32644080" y="5797296"/>
            <a:ext cx="237744" cy="3658"/>
          </a:xfrm>
          <a:prstGeom prst="rect">
            <a:avLst/>
          </a:prstGeom>
          <a:solidFill>
            <a:srgbClr val="3A3F47"/>
          </a:solidFill>
          <a:ln w="12700">
            <a:solidFill>
              <a:srgbClr val="333333"/>
            </a:solidFill>
            <a:prstDash val="solid"/>
          </a:ln>
        </p:spPr>
      </p:sp>
      <p:sp>
        <p:nvSpPr>
          <p:cNvPr id="207" name="Shape 205"/>
          <p:cNvSpPr/>
          <p:nvPr/>
        </p:nvSpPr>
        <p:spPr>
          <a:xfrm>
            <a:off x="32644080" y="5797296"/>
            <a:ext cx="3658" cy="237744"/>
          </a:xfrm>
          <a:prstGeom prst="rect">
            <a:avLst/>
          </a:prstGeom>
          <a:solidFill>
            <a:srgbClr val="3A3F47"/>
          </a:solidFill>
          <a:ln w="12700">
            <a:solidFill>
              <a:srgbClr val="333333"/>
            </a:solidFill>
            <a:prstDash val="solid"/>
          </a:ln>
        </p:spPr>
      </p:sp>
      <p:sp>
        <p:nvSpPr>
          <p:cNvPr id="208" name="Shape 206"/>
          <p:cNvSpPr/>
          <p:nvPr/>
        </p:nvSpPr>
        <p:spPr>
          <a:xfrm>
            <a:off x="38514528" y="5797296"/>
            <a:ext cx="237744" cy="3658"/>
          </a:xfrm>
          <a:prstGeom prst="rect">
            <a:avLst/>
          </a:prstGeom>
          <a:solidFill>
            <a:srgbClr val="3A3F47"/>
          </a:solidFill>
          <a:ln w="12700">
            <a:solidFill>
              <a:srgbClr val="333333"/>
            </a:solidFill>
            <a:prstDash val="solid"/>
          </a:ln>
        </p:spPr>
      </p:sp>
      <p:sp>
        <p:nvSpPr>
          <p:cNvPr id="209" name="Shape 207"/>
          <p:cNvSpPr/>
          <p:nvPr/>
        </p:nvSpPr>
        <p:spPr>
          <a:xfrm>
            <a:off x="38748614" y="5797296"/>
            <a:ext cx="3658" cy="237744"/>
          </a:xfrm>
          <a:prstGeom prst="rect">
            <a:avLst/>
          </a:prstGeom>
          <a:solidFill>
            <a:srgbClr val="3A3F47"/>
          </a:solidFill>
          <a:ln w="12700">
            <a:solidFill>
              <a:srgbClr val="333333"/>
            </a:solidFill>
            <a:prstDash val="solid"/>
          </a:ln>
        </p:spPr>
      </p:sp>
      <p:sp>
        <p:nvSpPr>
          <p:cNvPr id="210" name="Shape 208"/>
          <p:cNvSpPr/>
          <p:nvPr/>
        </p:nvSpPr>
        <p:spPr>
          <a:xfrm>
            <a:off x="32644080" y="8774582"/>
            <a:ext cx="237744" cy="3658"/>
          </a:xfrm>
          <a:prstGeom prst="rect">
            <a:avLst/>
          </a:prstGeom>
          <a:solidFill>
            <a:srgbClr val="3A3F47"/>
          </a:solidFill>
          <a:ln w="12700">
            <a:solidFill>
              <a:srgbClr val="333333"/>
            </a:solidFill>
            <a:prstDash val="solid"/>
          </a:ln>
        </p:spPr>
      </p:sp>
      <p:sp>
        <p:nvSpPr>
          <p:cNvPr id="211" name="Shape 209"/>
          <p:cNvSpPr/>
          <p:nvPr/>
        </p:nvSpPr>
        <p:spPr>
          <a:xfrm>
            <a:off x="32644080" y="8540496"/>
            <a:ext cx="3658" cy="237744"/>
          </a:xfrm>
          <a:prstGeom prst="rect">
            <a:avLst/>
          </a:prstGeom>
          <a:solidFill>
            <a:srgbClr val="3A3F47"/>
          </a:solidFill>
          <a:ln w="12700">
            <a:solidFill>
              <a:srgbClr val="333333"/>
            </a:solidFill>
            <a:prstDash val="solid"/>
          </a:ln>
        </p:spPr>
      </p:sp>
      <p:sp>
        <p:nvSpPr>
          <p:cNvPr id="212" name="Shape 210"/>
          <p:cNvSpPr/>
          <p:nvPr/>
        </p:nvSpPr>
        <p:spPr>
          <a:xfrm>
            <a:off x="38514528" y="8774582"/>
            <a:ext cx="237744" cy="3658"/>
          </a:xfrm>
          <a:prstGeom prst="rect">
            <a:avLst/>
          </a:prstGeom>
          <a:solidFill>
            <a:srgbClr val="3A3F47"/>
          </a:solidFill>
          <a:ln w="12700">
            <a:solidFill>
              <a:srgbClr val="333333"/>
            </a:solidFill>
            <a:prstDash val="solid"/>
          </a:ln>
        </p:spPr>
      </p:sp>
      <p:sp>
        <p:nvSpPr>
          <p:cNvPr id="213" name="Shape 211"/>
          <p:cNvSpPr/>
          <p:nvPr/>
        </p:nvSpPr>
        <p:spPr>
          <a:xfrm>
            <a:off x="38748614" y="8540496"/>
            <a:ext cx="3658" cy="237744"/>
          </a:xfrm>
          <a:prstGeom prst="rect">
            <a:avLst/>
          </a:prstGeom>
          <a:solidFill>
            <a:srgbClr val="3A3F47"/>
          </a:solidFill>
          <a:ln w="12700">
            <a:solidFill>
              <a:srgbClr val="333333"/>
            </a:solidFill>
            <a:prstDash val="solid"/>
          </a:ln>
        </p:spPr>
      </p:sp>
      <p:sp>
        <p:nvSpPr>
          <p:cNvPr id="214" name="Text 212"/>
          <p:cNvSpPr txBox="1"/>
          <p:nvPr/>
        </p:nvSpPr>
        <p:spPr>
          <a:xfrm>
            <a:off x="32644080" y="7050024"/>
            <a:ext cx="6108192" cy="118872"/>
          </a:xfrm>
          <a:prstGeom prst="rect">
            <a:avLst/>
          </a:prstGeom>
          <a:noFill/>
          <a:ln/>
        </p:spPr>
        <p:txBody>
          <a:bodyPr wrap="square" lIns="0" tIns="0" rIns="0" bIns="0" rtlCol="0" anchor="t"/>
          <a:lstStyle/>
          <a:p>
            <a:pPr indent="0" marL="0">
              <a:buNone/>
            </a:pPr>
            <a:r>
              <a:rPr lang="en-US" sz="740" b="1" spc="140" kern="0" dirty="0">
                <a:solidFill>
                  <a:srgbClr val="525862"/>
                </a:solidFill>
                <a:latin typeface="Arial" pitchFamily="34" charset="0"/>
                <a:ea typeface="Arial" pitchFamily="34" charset="-122"/>
                <a:cs typeface="Arial" pitchFamily="34" charset="-120"/>
              </a:rPr>
              <a:t>CABIN DETAIL</a:t>
            </a:r>
            <a:endParaRPr lang="en-US" sz="740" dirty="0"/>
          </a:p>
        </p:txBody>
      </p:sp>
      <p:sp>
        <p:nvSpPr>
          <p:cNvPr id="215" name="Text 213"/>
          <p:cNvSpPr txBox="1"/>
          <p:nvPr/>
        </p:nvSpPr>
        <p:spPr>
          <a:xfrm>
            <a:off x="32954976" y="7232904"/>
            <a:ext cx="5486400" cy="329184"/>
          </a:xfrm>
          <a:prstGeom prst="rect">
            <a:avLst/>
          </a:prstGeom>
          <a:noFill/>
          <a:ln/>
        </p:spPr>
        <p:txBody>
          <a:bodyPr wrap="square" lIns="0" tIns="0" rIns="0" bIns="0" rtlCol="0" anchor="t"/>
          <a:lstStyle/>
          <a:p>
            <a:pPr algn="ctr" indent="0" marL="0">
              <a:lnSpc>
                <a:spcPct val="112000"/>
              </a:lnSpc>
              <a:buNone/>
            </a:pPr>
            <a:r>
              <a:rPr lang="en-US" sz="760" i="1" dirty="0">
                <a:solidFill>
                  <a:srgbClr val="4A505A"/>
                </a:solidFill>
                <a:latin typeface="Arial" pitchFamily="34" charset="0"/>
                <a:ea typeface="Arial" pitchFamily="34" charset="-122"/>
                <a:cs typeface="Arial" pitchFamily="34" charset="-120"/>
              </a:rPr>
              <a:t>welcome projection at the door; third row powered flat</a:t>
            </a:r>
            <a:endParaRPr lang="en-US" sz="760" dirty="0"/>
          </a:p>
        </p:txBody>
      </p:sp>
      <p:sp>
        <p:nvSpPr>
          <p:cNvPr id="216" name="Text 214"/>
          <p:cNvSpPr txBox="1"/>
          <p:nvPr/>
        </p:nvSpPr>
        <p:spPr>
          <a:xfrm>
            <a:off x="32644080" y="8961120"/>
            <a:ext cx="6108192" cy="118872"/>
          </a:xfrm>
          <a:prstGeom prst="rect">
            <a:avLst/>
          </a:prstGeom>
          <a:noFill/>
          <a:ln/>
        </p:spPr>
        <p:txBody>
          <a:bodyPr wrap="square" lIns="0" tIns="0" rIns="0" bIns="0" rtlCol="0" anchor="t"/>
          <a:lstStyle/>
          <a:p>
            <a:pPr indent="0" marL="0">
              <a:buNone/>
            </a:pPr>
            <a:r>
              <a:rPr lang="en-US" sz="680" b="1" spc="140" kern="0" dirty="0">
                <a:solidFill>
                  <a:srgbClr val="5E636A"/>
                </a:solidFill>
                <a:latin typeface="Arial" pitchFamily="34" charset="0"/>
                <a:ea typeface="Arial" pitchFamily="34" charset="-122"/>
                <a:cs typeface="Arial" pitchFamily="34" charset="-120"/>
              </a:rPr>
              <a:t>SCREENS</a:t>
            </a:r>
            <a:endParaRPr lang="en-US" sz="680" dirty="0"/>
          </a:p>
        </p:txBody>
      </p:sp>
      <p:sp>
        <p:nvSpPr>
          <p:cNvPr id="217" name="Text 215"/>
          <p:cNvSpPr txBox="1"/>
          <p:nvPr/>
        </p:nvSpPr>
        <p:spPr>
          <a:xfrm>
            <a:off x="32644080" y="9089136"/>
            <a:ext cx="6108192" cy="256032"/>
          </a:xfrm>
          <a:prstGeom prst="rect">
            <a:avLst/>
          </a:prstGeom>
          <a:noFill/>
          <a:ln/>
        </p:spPr>
        <p:txBody>
          <a:bodyPr wrap="square" lIns="0" tIns="0" rIns="0" bIns="0" rtlCol="0" anchor="t"/>
          <a:lstStyle/>
          <a:p>
            <a:pPr indent="0" marL="0">
              <a:lnSpc>
                <a:spcPct val="108000"/>
              </a:lnSpc>
              <a:buNone/>
            </a:pPr>
            <a:r>
              <a:rPr lang="en-US" sz="800" dirty="0">
                <a:solidFill>
                  <a:srgbClr val="C6C9CE"/>
                </a:solidFill>
                <a:latin typeface="Arial" pitchFamily="34" charset="0"/>
                <a:ea typeface="Arial" pitchFamily="34" charset="-122"/>
                <a:cs typeface="Arial" pitchFamily="34" charset="-120"/>
              </a:rPr>
              <a:t>HarmonySpace 5 on a 15.6" centre screen, running seven-screen collaboration across the cabin.</a:t>
            </a:r>
            <a:endParaRPr lang="en-US" sz="800" dirty="0"/>
          </a:p>
        </p:txBody>
      </p:sp>
      <p:sp>
        <p:nvSpPr>
          <p:cNvPr id="218" name="Text 216"/>
          <p:cNvSpPr txBox="1"/>
          <p:nvPr/>
        </p:nvSpPr>
        <p:spPr>
          <a:xfrm>
            <a:off x="32644080" y="9345168"/>
            <a:ext cx="6108192" cy="118872"/>
          </a:xfrm>
          <a:prstGeom prst="rect">
            <a:avLst/>
          </a:prstGeom>
          <a:noFill/>
          <a:ln/>
        </p:spPr>
        <p:txBody>
          <a:bodyPr wrap="square" lIns="0" tIns="0" rIns="0" bIns="0" rtlCol="0" anchor="t"/>
          <a:lstStyle/>
          <a:p>
            <a:pPr indent="0" marL="0">
              <a:buNone/>
            </a:pPr>
            <a:r>
              <a:rPr lang="en-US" sz="680" b="1" spc="140" kern="0" dirty="0">
                <a:solidFill>
                  <a:srgbClr val="5E636A"/>
                </a:solidFill>
                <a:latin typeface="Arial" pitchFamily="34" charset="0"/>
                <a:ea typeface="Arial" pitchFamily="34" charset="-122"/>
                <a:cs typeface="Arial" pitchFamily="34" charset="-120"/>
              </a:rPr>
              <a:t>MATERIAL · COLOUR</a:t>
            </a:r>
            <a:endParaRPr lang="en-US" sz="680" dirty="0"/>
          </a:p>
        </p:txBody>
      </p:sp>
      <p:sp>
        <p:nvSpPr>
          <p:cNvPr id="219" name="Text 217"/>
          <p:cNvSpPr txBox="1"/>
          <p:nvPr/>
        </p:nvSpPr>
        <p:spPr>
          <a:xfrm>
            <a:off x="32644080" y="9473184"/>
            <a:ext cx="6108192" cy="256032"/>
          </a:xfrm>
          <a:prstGeom prst="rect">
            <a:avLst/>
          </a:prstGeom>
          <a:noFill/>
          <a:ln/>
        </p:spPr>
        <p:txBody>
          <a:bodyPr wrap="square" lIns="0" tIns="0" rIns="0" bIns="0" rtlCol="0" anchor="t"/>
          <a:lstStyle/>
          <a:p>
            <a:pPr indent="0" marL="0">
              <a:lnSpc>
                <a:spcPct val="108000"/>
              </a:lnSpc>
              <a:buNone/>
            </a:pPr>
            <a:r>
              <a:rPr lang="en-US" sz="800" dirty="0">
                <a:solidFill>
                  <a:srgbClr val="C6C9CE"/>
                </a:solidFill>
                <a:latin typeface="Arial" pitchFamily="34" charset="0"/>
                <a:ea typeface="Arial" pitchFamily="34" charset="-122"/>
                <a:cs typeface="Arial" pitchFamily="34" charset="-120"/>
              </a:rPr>
              <a:t>Cabin grades sold by name — Qiankun Max Luxury, Qiankun Ultra First-Class — with welcome projection at the door.</a:t>
            </a:r>
            <a:endParaRPr lang="en-US" sz="800" dirty="0"/>
          </a:p>
        </p:txBody>
      </p:sp>
      <p:sp>
        <p:nvSpPr>
          <p:cNvPr id="220" name="Text 218"/>
          <p:cNvSpPr txBox="1"/>
          <p:nvPr/>
        </p:nvSpPr>
        <p:spPr>
          <a:xfrm>
            <a:off x="32644080" y="9729216"/>
            <a:ext cx="6108192" cy="118872"/>
          </a:xfrm>
          <a:prstGeom prst="rect">
            <a:avLst/>
          </a:prstGeom>
          <a:noFill/>
          <a:ln/>
        </p:spPr>
        <p:txBody>
          <a:bodyPr wrap="square" lIns="0" tIns="0" rIns="0" bIns="0" rtlCol="0" anchor="t"/>
          <a:lstStyle/>
          <a:p>
            <a:pPr indent="0" marL="0">
              <a:buNone/>
            </a:pPr>
            <a:r>
              <a:rPr lang="en-US" sz="680" b="1" spc="140" kern="0" dirty="0">
                <a:solidFill>
                  <a:srgbClr val="5E636A"/>
                </a:solidFill>
                <a:latin typeface="Arial" pitchFamily="34" charset="0"/>
                <a:ea typeface="Arial" pitchFamily="34" charset="-122"/>
                <a:cs typeface="Arial" pitchFamily="34" charset="-120"/>
              </a:rPr>
              <a:t>SEAT · COMFORT</a:t>
            </a:r>
            <a:endParaRPr lang="en-US" sz="680" dirty="0"/>
          </a:p>
        </p:txBody>
      </p:sp>
      <p:sp>
        <p:nvSpPr>
          <p:cNvPr id="221" name="Text 219"/>
          <p:cNvSpPr txBox="1"/>
          <p:nvPr/>
        </p:nvSpPr>
        <p:spPr>
          <a:xfrm>
            <a:off x="32644080" y="9857232"/>
            <a:ext cx="6108192" cy="256032"/>
          </a:xfrm>
          <a:prstGeom prst="rect">
            <a:avLst/>
          </a:prstGeom>
          <a:noFill/>
          <a:ln/>
        </p:spPr>
        <p:txBody>
          <a:bodyPr wrap="square" lIns="0" tIns="0" rIns="0" bIns="0" rtlCol="0" anchor="t"/>
          <a:lstStyle/>
          <a:p>
            <a:pPr indent="0" marL="0">
              <a:lnSpc>
                <a:spcPct val="108000"/>
              </a:lnSpc>
              <a:buNone/>
            </a:pPr>
            <a:r>
              <a:rPr lang="en-US" sz="800" dirty="0">
                <a:solidFill>
                  <a:srgbClr val="C6C9CE"/>
                </a:solidFill>
                <a:latin typeface="Arial" pitchFamily="34" charset="0"/>
                <a:ea typeface="Arial" pitchFamily="34" charset="-122"/>
                <a:cs typeface="Arial" pitchFamily="34" charset="-120"/>
              </a:rPr>
              <a:t>Power-adjustable third row in 2+2+3. Ceremony is engineered, not implied.</a:t>
            </a:r>
            <a:endParaRPr lang="en-US" sz="800" dirty="0"/>
          </a:p>
        </p:txBody>
      </p:sp>
      <p:sp>
        <p:nvSpPr>
          <p:cNvPr id="222" name="Text 220"/>
          <p:cNvSpPr txBox="1"/>
          <p:nvPr/>
        </p:nvSpPr>
        <p:spPr>
          <a:xfrm>
            <a:off x="32644080" y="10113264"/>
            <a:ext cx="6108192" cy="118872"/>
          </a:xfrm>
          <a:prstGeom prst="rect">
            <a:avLst/>
          </a:prstGeom>
          <a:noFill/>
          <a:ln/>
        </p:spPr>
        <p:txBody>
          <a:bodyPr wrap="square" lIns="0" tIns="0" rIns="0" bIns="0" rtlCol="0" anchor="t"/>
          <a:lstStyle/>
          <a:p>
            <a:pPr indent="0" marL="0">
              <a:buNone/>
            </a:pPr>
            <a:r>
              <a:rPr lang="en-US" sz="680" b="1" spc="140" kern="0" dirty="0">
                <a:solidFill>
                  <a:srgbClr val="5E636A"/>
                </a:solidFill>
                <a:latin typeface="Arial" pitchFamily="34" charset="0"/>
                <a:ea typeface="Arial" pitchFamily="34" charset="-122"/>
                <a:cs typeface="Arial" pitchFamily="34" charset="-120"/>
              </a:rPr>
              <a:t>FOR WHOM</a:t>
            </a:r>
            <a:endParaRPr lang="en-US" sz="680" dirty="0"/>
          </a:p>
        </p:txBody>
      </p:sp>
      <p:sp>
        <p:nvSpPr>
          <p:cNvPr id="223" name="Text 221"/>
          <p:cNvSpPr txBox="1"/>
          <p:nvPr/>
        </p:nvSpPr>
        <p:spPr>
          <a:xfrm>
            <a:off x="32644080" y="10241280"/>
            <a:ext cx="6108192" cy="256032"/>
          </a:xfrm>
          <a:prstGeom prst="rect">
            <a:avLst/>
          </a:prstGeom>
          <a:noFill/>
          <a:ln/>
        </p:spPr>
        <p:txBody>
          <a:bodyPr wrap="square" lIns="0" tIns="0" rIns="0" bIns="0" rtlCol="0" anchor="t"/>
          <a:lstStyle/>
          <a:p>
            <a:pPr indent="0" marL="0">
              <a:lnSpc>
                <a:spcPct val="108000"/>
              </a:lnSpc>
              <a:buNone/>
            </a:pPr>
            <a:r>
              <a:rPr lang="en-US" sz="800" dirty="0">
                <a:solidFill>
                  <a:srgbClr val="C6C9CE"/>
                </a:solidFill>
                <a:latin typeface="Arial" pitchFamily="34" charset="0"/>
                <a:ea typeface="Arial" pitchFamily="34" charset="-122"/>
                <a:cs typeface="Arial" pitchFamily="34" charset="-120"/>
              </a:rPr>
              <a:t>Business travel where the owner sits in row two.</a:t>
            </a:r>
            <a:endParaRPr lang="en-US" sz="800" dirty="0"/>
          </a:p>
        </p:txBody>
      </p:sp>
      <p:sp>
        <p:nvSpPr>
          <p:cNvPr id="224" name="Text 222"/>
          <p:cNvSpPr txBox="1"/>
          <p:nvPr/>
        </p:nvSpPr>
        <p:spPr>
          <a:xfrm>
            <a:off x="39063168" y="1956816"/>
            <a:ext cx="4736592" cy="274320"/>
          </a:xfrm>
          <a:prstGeom prst="rect">
            <a:avLst/>
          </a:prstGeom>
          <a:noFill/>
          <a:ln/>
        </p:spPr>
        <p:txBody>
          <a:bodyPr wrap="square" lIns="0" tIns="0" rIns="0" bIns="0" rtlCol="0" anchor="t"/>
          <a:lstStyle/>
          <a:p>
            <a:pPr indent="0" marL="0">
              <a:buNone/>
            </a:pPr>
            <a:r>
              <a:rPr lang="en-US" sz="1300" b="1" spc="70" kern="0" dirty="0">
                <a:solidFill>
                  <a:srgbClr val="F4F2EE"/>
                </a:solidFill>
                <a:latin typeface="Arial" pitchFamily="34" charset="0"/>
                <a:ea typeface="Arial" pitchFamily="34" charset="-122"/>
                <a:cs typeface="Arial" pitchFamily="34" charset="-120"/>
              </a:rPr>
              <a:t>HYPTEC A800</a:t>
            </a:r>
            <a:endParaRPr lang="en-US" sz="1300" dirty="0"/>
          </a:p>
        </p:txBody>
      </p:sp>
      <p:sp>
        <p:nvSpPr>
          <p:cNvPr id="225" name="Shape 223"/>
          <p:cNvSpPr/>
          <p:nvPr/>
        </p:nvSpPr>
        <p:spPr>
          <a:xfrm>
            <a:off x="44348400" y="1984248"/>
            <a:ext cx="822960" cy="192024"/>
          </a:xfrm>
          <a:prstGeom prst="roundRect">
            <a:avLst>
              <a:gd name="adj" fmla="val 47619"/>
            </a:avLst>
          </a:prstGeom>
          <a:solidFill>
            <a:srgbClr val="0A0B0D"/>
          </a:solidFill>
          <a:ln w="9525">
            <a:solidFill>
              <a:srgbClr val="F0E4C6"/>
            </a:solidFill>
            <a:prstDash val="solid"/>
          </a:ln>
        </p:spPr>
      </p:sp>
      <p:sp>
        <p:nvSpPr>
          <p:cNvPr id="226" name="Text 224"/>
          <p:cNvSpPr txBox="1"/>
          <p:nvPr/>
        </p:nvSpPr>
        <p:spPr>
          <a:xfrm>
            <a:off x="44348400" y="2025396"/>
            <a:ext cx="822960" cy="137160"/>
          </a:xfrm>
          <a:prstGeom prst="rect">
            <a:avLst/>
          </a:prstGeom>
          <a:noFill/>
          <a:ln/>
        </p:spPr>
        <p:txBody>
          <a:bodyPr wrap="square" lIns="0" tIns="0" rIns="0" bIns="0" rtlCol="0" anchor="t"/>
          <a:lstStyle/>
          <a:p>
            <a:pPr algn="ctr" indent="0" marL="0">
              <a:buNone/>
            </a:pPr>
            <a:r>
              <a:rPr lang="en-US" sz="660" b="1" spc="100" kern="0" dirty="0">
                <a:solidFill>
                  <a:srgbClr val="F0E4C6"/>
                </a:solidFill>
                <a:latin typeface="Arial" pitchFamily="34" charset="0"/>
                <a:ea typeface="Arial" pitchFamily="34" charset="-122"/>
                <a:cs typeface="Arial" pitchFamily="34" charset="-120"/>
              </a:rPr>
              <a:t>FLAGSHIP</a:t>
            </a:r>
            <a:endParaRPr lang="en-US" sz="660" dirty="0"/>
          </a:p>
        </p:txBody>
      </p:sp>
      <p:sp>
        <p:nvSpPr>
          <p:cNvPr id="227" name="Text 225"/>
          <p:cNvSpPr txBox="1"/>
          <p:nvPr/>
        </p:nvSpPr>
        <p:spPr>
          <a:xfrm>
            <a:off x="39063168" y="2267712"/>
            <a:ext cx="6108192" cy="182880"/>
          </a:xfrm>
          <a:prstGeom prst="rect">
            <a:avLst/>
          </a:prstGeom>
          <a:noFill/>
          <a:ln/>
        </p:spPr>
        <p:txBody>
          <a:bodyPr wrap="square" lIns="0" tIns="0" rIns="0" bIns="0" rtlCol="0" anchor="t"/>
          <a:lstStyle/>
          <a:p>
            <a:pPr indent="0" marL="0">
              <a:buNone/>
            </a:pPr>
            <a:r>
              <a:rPr lang="en-US" sz="760" dirty="0">
                <a:solidFill>
                  <a:srgbClr val="9DA1A8"/>
                </a:solidFill>
                <a:latin typeface="Arial" pitchFamily="34" charset="0"/>
                <a:ea typeface="Arial" pitchFamily="34" charset="-122"/>
                <a:cs typeface="Arial" pitchFamily="34" charset="-120"/>
              </a:rPr>
              <a:t>Flagship EREV sedan · pre-order Dec 2025 · the group's ceiling</a:t>
            </a:r>
            <a:endParaRPr lang="en-US" sz="760" dirty="0"/>
          </a:p>
        </p:txBody>
      </p:sp>
      <p:sp>
        <p:nvSpPr>
          <p:cNvPr id="228" name="Shape 226"/>
          <p:cNvSpPr/>
          <p:nvPr/>
        </p:nvSpPr>
        <p:spPr>
          <a:xfrm>
            <a:off x="39063168" y="2542032"/>
            <a:ext cx="6108192" cy="12802"/>
          </a:xfrm>
          <a:prstGeom prst="rect">
            <a:avLst/>
          </a:prstGeom>
          <a:solidFill>
            <a:srgbClr val="C4AC7A"/>
          </a:solidFill>
          <a:ln w="12700">
            <a:solidFill>
              <a:srgbClr val="333333"/>
            </a:solidFill>
            <a:prstDash val="solid"/>
          </a:ln>
        </p:spPr>
      </p:sp>
      <p:sp>
        <p:nvSpPr>
          <p:cNvPr id="229" name="Shape 227"/>
          <p:cNvSpPr/>
          <p:nvPr/>
        </p:nvSpPr>
        <p:spPr>
          <a:xfrm>
            <a:off x="39063168" y="2670048"/>
            <a:ext cx="6108192" cy="2980944"/>
          </a:xfrm>
          <a:prstGeom prst="rect">
            <a:avLst/>
          </a:prstGeom>
          <a:solidFill>
            <a:srgbClr val="14161A"/>
          </a:solidFill>
          <a:ln w="9525">
            <a:solidFill>
              <a:srgbClr val="262A30"/>
            </a:solidFill>
            <a:prstDash val="solid"/>
          </a:ln>
        </p:spPr>
      </p:sp>
      <p:sp>
        <p:nvSpPr>
          <p:cNvPr id="230" name="Shape 228"/>
          <p:cNvSpPr/>
          <p:nvPr/>
        </p:nvSpPr>
        <p:spPr>
          <a:xfrm>
            <a:off x="39063168" y="2670048"/>
            <a:ext cx="237744" cy="3658"/>
          </a:xfrm>
          <a:prstGeom prst="rect">
            <a:avLst/>
          </a:prstGeom>
          <a:solidFill>
            <a:srgbClr val="3A3F47"/>
          </a:solidFill>
          <a:ln w="12700">
            <a:solidFill>
              <a:srgbClr val="333333"/>
            </a:solidFill>
            <a:prstDash val="solid"/>
          </a:ln>
        </p:spPr>
      </p:sp>
      <p:sp>
        <p:nvSpPr>
          <p:cNvPr id="231" name="Shape 229"/>
          <p:cNvSpPr/>
          <p:nvPr/>
        </p:nvSpPr>
        <p:spPr>
          <a:xfrm>
            <a:off x="39063168" y="2670048"/>
            <a:ext cx="3658" cy="237744"/>
          </a:xfrm>
          <a:prstGeom prst="rect">
            <a:avLst/>
          </a:prstGeom>
          <a:solidFill>
            <a:srgbClr val="3A3F47"/>
          </a:solidFill>
          <a:ln w="12700">
            <a:solidFill>
              <a:srgbClr val="333333"/>
            </a:solidFill>
            <a:prstDash val="solid"/>
          </a:ln>
        </p:spPr>
      </p:sp>
      <p:sp>
        <p:nvSpPr>
          <p:cNvPr id="232" name="Shape 230"/>
          <p:cNvSpPr/>
          <p:nvPr/>
        </p:nvSpPr>
        <p:spPr>
          <a:xfrm>
            <a:off x="44933616" y="2670048"/>
            <a:ext cx="237744" cy="3658"/>
          </a:xfrm>
          <a:prstGeom prst="rect">
            <a:avLst/>
          </a:prstGeom>
          <a:solidFill>
            <a:srgbClr val="3A3F47"/>
          </a:solidFill>
          <a:ln w="12700">
            <a:solidFill>
              <a:srgbClr val="333333"/>
            </a:solidFill>
            <a:prstDash val="solid"/>
          </a:ln>
        </p:spPr>
      </p:sp>
      <p:sp>
        <p:nvSpPr>
          <p:cNvPr id="233" name="Shape 231"/>
          <p:cNvSpPr/>
          <p:nvPr/>
        </p:nvSpPr>
        <p:spPr>
          <a:xfrm>
            <a:off x="45167702" y="2670048"/>
            <a:ext cx="3658" cy="237744"/>
          </a:xfrm>
          <a:prstGeom prst="rect">
            <a:avLst/>
          </a:prstGeom>
          <a:solidFill>
            <a:srgbClr val="3A3F47"/>
          </a:solidFill>
          <a:ln w="12700">
            <a:solidFill>
              <a:srgbClr val="333333"/>
            </a:solidFill>
            <a:prstDash val="solid"/>
          </a:ln>
        </p:spPr>
      </p:sp>
      <p:sp>
        <p:nvSpPr>
          <p:cNvPr id="234" name="Shape 232"/>
          <p:cNvSpPr/>
          <p:nvPr/>
        </p:nvSpPr>
        <p:spPr>
          <a:xfrm>
            <a:off x="39063168" y="5647334"/>
            <a:ext cx="237744" cy="3658"/>
          </a:xfrm>
          <a:prstGeom prst="rect">
            <a:avLst/>
          </a:prstGeom>
          <a:solidFill>
            <a:srgbClr val="3A3F47"/>
          </a:solidFill>
          <a:ln w="12700">
            <a:solidFill>
              <a:srgbClr val="333333"/>
            </a:solidFill>
            <a:prstDash val="solid"/>
          </a:ln>
        </p:spPr>
      </p:sp>
      <p:sp>
        <p:nvSpPr>
          <p:cNvPr id="235" name="Shape 233"/>
          <p:cNvSpPr/>
          <p:nvPr/>
        </p:nvSpPr>
        <p:spPr>
          <a:xfrm>
            <a:off x="39063168" y="5413248"/>
            <a:ext cx="3658" cy="237744"/>
          </a:xfrm>
          <a:prstGeom prst="rect">
            <a:avLst/>
          </a:prstGeom>
          <a:solidFill>
            <a:srgbClr val="3A3F47"/>
          </a:solidFill>
          <a:ln w="12700">
            <a:solidFill>
              <a:srgbClr val="333333"/>
            </a:solidFill>
            <a:prstDash val="solid"/>
          </a:ln>
        </p:spPr>
      </p:sp>
      <p:sp>
        <p:nvSpPr>
          <p:cNvPr id="236" name="Shape 234"/>
          <p:cNvSpPr/>
          <p:nvPr/>
        </p:nvSpPr>
        <p:spPr>
          <a:xfrm>
            <a:off x="44933616" y="5647334"/>
            <a:ext cx="237744" cy="3658"/>
          </a:xfrm>
          <a:prstGeom prst="rect">
            <a:avLst/>
          </a:prstGeom>
          <a:solidFill>
            <a:srgbClr val="3A3F47"/>
          </a:solidFill>
          <a:ln w="12700">
            <a:solidFill>
              <a:srgbClr val="333333"/>
            </a:solidFill>
            <a:prstDash val="solid"/>
          </a:ln>
        </p:spPr>
      </p:sp>
      <p:sp>
        <p:nvSpPr>
          <p:cNvPr id="237" name="Shape 235"/>
          <p:cNvSpPr/>
          <p:nvPr/>
        </p:nvSpPr>
        <p:spPr>
          <a:xfrm>
            <a:off x="45167702" y="5413248"/>
            <a:ext cx="3658" cy="237744"/>
          </a:xfrm>
          <a:prstGeom prst="rect">
            <a:avLst/>
          </a:prstGeom>
          <a:solidFill>
            <a:srgbClr val="3A3F47"/>
          </a:solidFill>
          <a:ln w="12700">
            <a:solidFill>
              <a:srgbClr val="333333"/>
            </a:solidFill>
            <a:prstDash val="solid"/>
          </a:ln>
        </p:spPr>
      </p:sp>
      <p:sp>
        <p:nvSpPr>
          <p:cNvPr id="238" name="Text 236"/>
          <p:cNvSpPr txBox="1"/>
          <p:nvPr/>
        </p:nvSpPr>
        <p:spPr>
          <a:xfrm>
            <a:off x="39063168" y="3922776"/>
            <a:ext cx="6108192" cy="118872"/>
          </a:xfrm>
          <a:prstGeom prst="rect">
            <a:avLst/>
          </a:prstGeom>
          <a:noFill/>
          <a:ln/>
        </p:spPr>
        <p:txBody>
          <a:bodyPr wrap="square" lIns="0" tIns="0" rIns="0" bIns="0" rtlCol="0" anchor="t"/>
          <a:lstStyle/>
          <a:p>
            <a:pPr indent="0" marL="0">
              <a:buNone/>
            </a:pPr>
            <a:r>
              <a:rPr lang="en-US" sz="740" b="1" spc="140" kern="0" dirty="0">
                <a:solidFill>
                  <a:srgbClr val="525862"/>
                </a:solidFill>
                <a:latin typeface="Arial" pitchFamily="34" charset="0"/>
                <a:ea typeface="Arial" pitchFamily="34" charset="-122"/>
                <a:cs typeface="Arial" pitchFamily="34" charset="-120"/>
              </a:rPr>
              <a:t>DASHBOARD / IP</a:t>
            </a:r>
            <a:endParaRPr lang="en-US" sz="740" dirty="0"/>
          </a:p>
        </p:txBody>
      </p:sp>
      <p:sp>
        <p:nvSpPr>
          <p:cNvPr id="239" name="Text 237"/>
          <p:cNvSpPr txBox="1"/>
          <p:nvPr/>
        </p:nvSpPr>
        <p:spPr>
          <a:xfrm>
            <a:off x="39374064" y="4105656"/>
            <a:ext cx="5486400" cy="329184"/>
          </a:xfrm>
          <a:prstGeom prst="rect">
            <a:avLst/>
          </a:prstGeom>
          <a:noFill/>
          <a:ln/>
        </p:spPr>
        <p:txBody>
          <a:bodyPr wrap="square" lIns="0" tIns="0" rIns="0" bIns="0" rtlCol="0" anchor="t"/>
          <a:lstStyle/>
          <a:p>
            <a:pPr algn="ctr" indent="0" marL="0">
              <a:lnSpc>
                <a:spcPct val="112000"/>
              </a:lnSpc>
              <a:buNone/>
            </a:pPr>
            <a:r>
              <a:rPr lang="en-US" sz="760" i="1" dirty="0">
                <a:solidFill>
                  <a:srgbClr val="4A505A"/>
                </a:solidFill>
                <a:latin typeface="Arial" pitchFamily="34" charset="0"/>
                <a:ea typeface="Arial" pitchFamily="34" charset="-122"/>
                <a:cs typeface="Arial" pitchFamily="34" charset="-120"/>
              </a:rPr>
              <a:t>wraparound console and the 27" W-HUD in the driver's eye line</a:t>
            </a:r>
            <a:endParaRPr lang="en-US" sz="760" dirty="0"/>
          </a:p>
        </p:txBody>
      </p:sp>
      <p:sp>
        <p:nvSpPr>
          <p:cNvPr id="240" name="Shape 238"/>
          <p:cNvSpPr/>
          <p:nvPr/>
        </p:nvSpPr>
        <p:spPr>
          <a:xfrm>
            <a:off x="39063168" y="5797296"/>
            <a:ext cx="6108192" cy="2980944"/>
          </a:xfrm>
          <a:prstGeom prst="rect">
            <a:avLst/>
          </a:prstGeom>
          <a:solidFill>
            <a:srgbClr val="14161A"/>
          </a:solidFill>
          <a:ln w="9525">
            <a:solidFill>
              <a:srgbClr val="262A30"/>
            </a:solidFill>
            <a:prstDash val="solid"/>
          </a:ln>
        </p:spPr>
      </p:sp>
      <p:sp>
        <p:nvSpPr>
          <p:cNvPr id="241" name="Shape 239"/>
          <p:cNvSpPr/>
          <p:nvPr/>
        </p:nvSpPr>
        <p:spPr>
          <a:xfrm>
            <a:off x="39063168" y="5797296"/>
            <a:ext cx="237744" cy="3658"/>
          </a:xfrm>
          <a:prstGeom prst="rect">
            <a:avLst/>
          </a:prstGeom>
          <a:solidFill>
            <a:srgbClr val="3A3F47"/>
          </a:solidFill>
          <a:ln w="12700">
            <a:solidFill>
              <a:srgbClr val="333333"/>
            </a:solidFill>
            <a:prstDash val="solid"/>
          </a:ln>
        </p:spPr>
      </p:sp>
      <p:sp>
        <p:nvSpPr>
          <p:cNvPr id="242" name="Shape 240"/>
          <p:cNvSpPr/>
          <p:nvPr/>
        </p:nvSpPr>
        <p:spPr>
          <a:xfrm>
            <a:off x="39063168" y="5797296"/>
            <a:ext cx="3658" cy="237744"/>
          </a:xfrm>
          <a:prstGeom prst="rect">
            <a:avLst/>
          </a:prstGeom>
          <a:solidFill>
            <a:srgbClr val="3A3F47"/>
          </a:solidFill>
          <a:ln w="12700">
            <a:solidFill>
              <a:srgbClr val="333333"/>
            </a:solidFill>
            <a:prstDash val="solid"/>
          </a:ln>
        </p:spPr>
      </p:sp>
      <p:sp>
        <p:nvSpPr>
          <p:cNvPr id="243" name="Shape 241"/>
          <p:cNvSpPr/>
          <p:nvPr/>
        </p:nvSpPr>
        <p:spPr>
          <a:xfrm>
            <a:off x="44933616" y="5797296"/>
            <a:ext cx="237744" cy="3658"/>
          </a:xfrm>
          <a:prstGeom prst="rect">
            <a:avLst/>
          </a:prstGeom>
          <a:solidFill>
            <a:srgbClr val="3A3F47"/>
          </a:solidFill>
          <a:ln w="12700">
            <a:solidFill>
              <a:srgbClr val="333333"/>
            </a:solidFill>
            <a:prstDash val="solid"/>
          </a:ln>
        </p:spPr>
      </p:sp>
      <p:sp>
        <p:nvSpPr>
          <p:cNvPr id="244" name="Shape 242"/>
          <p:cNvSpPr/>
          <p:nvPr/>
        </p:nvSpPr>
        <p:spPr>
          <a:xfrm>
            <a:off x="45167702" y="5797296"/>
            <a:ext cx="3658" cy="237744"/>
          </a:xfrm>
          <a:prstGeom prst="rect">
            <a:avLst/>
          </a:prstGeom>
          <a:solidFill>
            <a:srgbClr val="3A3F47"/>
          </a:solidFill>
          <a:ln w="12700">
            <a:solidFill>
              <a:srgbClr val="333333"/>
            </a:solidFill>
            <a:prstDash val="solid"/>
          </a:ln>
        </p:spPr>
      </p:sp>
      <p:sp>
        <p:nvSpPr>
          <p:cNvPr id="245" name="Shape 243"/>
          <p:cNvSpPr/>
          <p:nvPr/>
        </p:nvSpPr>
        <p:spPr>
          <a:xfrm>
            <a:off x="39063168" y="8774582"/>
            <a:ext cx="237744" cy="3658"/>
          </a:xfrm>
          <a:prstGeom prst="rect">
            <a:avLst/>
          </a:prstGeom>
          <a:solidFill>
            <a:srgbClr val="3A3F47"/>
          </a:solidFill>
          <a:ln w="12700">
            <a:solidFill>
              <a:srgbClr val="333333"/>
            </a:solidFill>
            <a:prstDash val="solid"/>
          </a:ln>
        </p:spPr>
      </p:sp>
      <p:sp>
        <p:nvSpPr>
          <p:cNvPr id="246" name="Shape 244"/>
          <p:cNvSpPr/>
          <p:nvPr/>
        </p:nvSpPr>
        <p:spPr>
          <a:xfrm>
            <a:off x="39063168" y="8540496"/>
            <a:ext cx="3658" cy="237744"/>
          </a:xfrm>
          <a:prstGeom prst="rect">
            <a:avLst/>
          </a:prstGeom>
          <a:solidFill>
            <a:srgbClr val="3A3F47"/>
          </a:solidFill>
          <a:ln w="12700">
            <a:solidFill>
              <a:srgbClr val="333333"/>
            </a:solidFill>
            <a:prstDash val="solid"/>
          </a:ln>
        </p:spPr>
      </p:sp>
      <p:sp>
        <p:nvSpPr>
          <p:cNvPr id="247" name="Shape 245"/>
          <p:cNvSpPr/>
          <p:nvPr/>
        </p:nvSpPr>
        <p:spPr>
          <a:xfrm>
            <a:off x="44933616" y="8774582"/>
            <a:ext cx="237744" cy="3658"/>
          </a:xfrm>
          <a:prstGeom prst="rect">
            <a:avLst/>
          </a:prstGeom>
          <a:solidFill>
            <a:srgbClr val="3A3F47"/>
          </a:solidFill>
          <a:ln w="12700">
            <a:solidFill>
              <a:srgbClr val="333333"/>
            </a:solidFill>
            <a:prstDash val="solid"/>
          </a:ln>
        </p:spPr>
      </p:sp>
      <p:sp>
        <p:nvSpPr>
          <p:cNvPr id="248" name="Shape 246"/>
          <p:cNvSpPr/>
          <p:nvPr/>
        </p:nvSpPr>
        <p:spPr>
          <a:xfrm>
            <a:off x="45167702" y="8540496"/>
            <a:ext cx="3658" cy="237744"/>
          </a:xfrm>
          <a:prstGeom prst="rect">
            <a:avLst/>
          </a:prstGeom>
          <a:solidFill>
            <a:srgbClr val="3A3F47"/>
          </a:solidFill>
          <a:ln w="12700">
            <a:solidFill>
              <a:srgbClr val="333333"/>
            </a:solidFill>
            <a:prstDash val="solid"/>
          </a:ln>
        </p:spPr>
      </p:sp>
      <p:sp>
        <p:nvSpPr>
          <p:cNvPr id="249" name="Text 247"/>
          <p:cNvSpPr txBox="1"/>
          <p:nvPr/>
        </p:nvSpPr>
        <p:spPr>
          <a:xfrm>
            <a:off x="39063168" y="7050024"/>
            <a:ext cx="6108192" cy="118872"/>
          </a:xfrm>
          <a:prstGeom prst="rect">
            <a:avLst/>
          </a:prstGeom>
          <a:noFill/>
          <a:ln/>
        </p:spPr>
        <p:txBody>
          <a:bodyPr wrap="square" lIns="0" tIns="0" rIns="0" bIns="0" rtlCol="0" anchor="t"/>
          <a:lstStyle/>
          <a:p>
            <a:pPr indent="0" marL="0">
              <a:buNone/>
            </a:pPr>
            <a:r>
              <a:rPr lang="en-US" sz="740" b="1" spc="140" kern="0" dirty="0">
                <a:solidFill>
                  <a:srgbClr val="525862"/>
                </a:solidFill>
                <a:latin typeface="Arial" pitchFamily="34" charset="0"/>
                <a:ea typeface="Arial" pitchFamily="34" charset="-122"/>
                <a:cs typeface="Arial" pitchFamily="34" charset="-120"/>
              </a:rPr>
              <a:t>CABIN DETAIL</a:t>
            </a:r>
            <a:endParaRPr lang="en-US" sz="740" dirty="0"/>
          </a:p>
        </p:txBody>
      </p:sp>
      <p:sp>
        <p:nvSpPr>
          <p:cNvPr id="250" name="Text 248"/>
          <p:cNvSpPr txBox="1"/>
          <p:nvPr/>
        </p:nvSpPr>
        <p:spPr>
          <a:xfrm>
            <a:off x="39374064" y="7232904"/>
            <a:ext cx="5486400" cy="329184"/>
          </a:xfrm>
          <a:prstGeom prst="rect">
            <a:avLst/>
          </a:prstGeom>
          <a:noFill/>
          <a:ln/>
        </p:spPr>
        <p:txBody>
          <a:bodyPr wrap="square" lIns="0" tIns="0" rIns="0" bIns="0" rtlCol="0" anchor="t"/>
          <a:lstStyle/>
          <a:p>
            <a:pPr algn="ctr" indent="0" marL="0">
              <a:lnSpc>
                <a:spcPct val="112000"/>
              </a:lnSpc>
              <a:buNone/>
            </a:pPr>
            <a:r>
              <a:rPr lang="en-US" sz="760" i="1" dirty="0">
                <a:solidFill>
                  <a:srgbClr val="4A505A"/>
                </a:solidFill>
                <a:latin typeface="Arial" pitchFamily="34" charset="0"/>
                <a:ea typeface="Arial" pitchFamily="34" charset="-122"/>
                <a:cs typeface="Arial" pitchFamily="34" charset="-120"/>
              </a:rPr>
              <a:t>the 6,536 mm ambient light run at night</a:t>
            </a:r>
            <a:endParaRPr lang="en-US" sz="760" dirty="0"/>
          </a:p>
        </p:txBody>
      </p:sp>
      <p:sp>
        <p:nvSpPr>
          <p:cNvPr id="251" name="Text 249"/>
          <p:cNvSpPr txBox="1"/>
          <p:nvPr/>
        </p:nvSpPr>
        <p:spPr>
          <a:xfrm>
            <a:off x="39063168" y="8961120"/>
            <a:ext cx="6108192" cy="118872"/>
          </a:xfrm>
          <a:prstGeom prst="rect">
            <a:avLst/>
          </a:prstGeom>
          <a:noFill/>
          <a:ln/>
        </p:spPr>
        <p:txBody>
          <a:bodyPr wrap="square" lIns="0" tIns="0" rIns="0" bIns="0" rtlCol="0" anchor="t"/>
          <a:lstStyle/>
          <a:p>
            <a:pPr indent="0" marL="0">
              <a:buNone/>
            </a:pPr>
            <a:r>
              <a:rPr lang="en-US" sz="680" b="1" spc="140" kern="0" dirty="0">
                <a:solidFill>
                  <a:srgbClr val="5E636A"/>
                </a:solidFill>
                <a:latin typeface="Arial" pitchFamily="34" charset="0"/>
                <a:ea typeface="Arial" pitchFamily="34" charset="-122"/>
                <a:cs typeface="Arial" pitchFamily="34" charset="-120"/>
              </a:rPr>
              <a:t>SCREENS</a:t>
            </a:r>
            <a:endParaRPr lang="en-US" sz="680" dirty="0"/>
          </a:p>
        </p:txBody>
      </p:sp>
      <p:sp>
        <p:nvSpPr>
          <p:cNvPr id="252" name="Text 250"/>
          <p:cNvSpPr txBox="1"/>
          <p:nvPr/>
        </p:nvSpPr>
        <p:spPr>
          <a:xfrm>
            <a:off x="39063168" y="9089136"/>
            <a:ext cx="6108192" cy="256032"/>
          </a:xfrm>
          <a:prstGeom prst="rect">
            <a:avLst/>
          </a:prstGeom>
          <a:noFill/>
          <a:ln/>
        </p:spPr>
        <p:txBody>
          <a:bodyPr wrap="square" lIns="0" tIns="0" rIns="0" bIns="0" rtlCol="0" anchor="t"/>
          <a:lstStyle/>
          <a:p>
            <a:pPr indent="0" marL="0">
              <a:lnSpc>
                <a:spcPct val="108000"/>
              </a:lnSpc>
              <a:buNone/>
            </a:pPr>
            <a:r>
              <a:rPr lang="en-US" sz="800" dirty="0">
                <a:solidFill>
                  <a:srgbClr val="C6C9CE"/>
                </a:solidFill>
                <a:latin typeface="Arial" pitchFamily="34" charset="0"/>
                <a:ea typeface="Arial" pitchFamily="34" charset="-122"/>
                <a:cs typeface="Arial" pitchFamily="34" charset="-120"/>
              </a:rPr>
              <a:t>“Interstellar Cockpit”: 10.25" cluster + 14.6" centre + 27" W-HUD. HarmonySpace 5 on a flagship Qualcomm chip, 0.3 s response.</a:t>
            </a:r>
            <a:endParaRPr lang="en-US" sz="800" dirty="0"/>
          </a:p>
        </p:txBody>
      </p:sp>
      <p:sp>
        <p:nvSpPr>
          <p:cNvPr id="253" name="Text 251"/>
          <p:cNvSpPr txBox="1"/>
          <p:nvPr/>
        </p:nvSpPr>
        <p:spPr>
          <a:xfrm>
            <a:off x="39063168" y="9345168"/>
            <a:ext cx="6108192" cy="118872"/>
          </a:xfrm>
          <a:prstGeom prst="rect">
            <a:avLst/>
          </a:prstGeom>
          <a:noFill/>
          <a:ln/>
        </p:spPr>
        <p:txBody>
          <a:bodyPr wrap="square" lIns="0" tIns="0" rIns="0" bIns="0" rtlCol="0" anchor="t"/>
          <a:lstStyle/>
          <a:p>
            <a:pPr indent="0" marL="0">
              <a:buNone/>
            </a:pPr>
            <a:r>
              <a:rPr lang="en-US" sz="680" b="1" spc="140" kern="0" dirty="0">
                <a:solidFill>
                  <a:srgbClr val="5E636A"/>
                </a:solidFill>
                <a:latin typeface="Arial" pitchFamily="34" charset="0"/>
                <a:ea typeface="Arial" pitchFamily="34" charset="-122"/>
                <a:cs typeface="Arial" pitchFamily="34" charset="-120"/>
              </a:rPr>
              <a:t>MATERIAL · COLOUR</a:t>
            </a:r>
            <a:endParaRPr lang="en-US" sz="680" dirty="0"/>
          </a:p>
        </p:txBody>
      </p:sp>
      <p:sp>
        <p:nvSpPr>
          <p:cNvPr id="254" name="Text 252"/>
          <p:cNvSpPr txBox="1"/>
          <p:nvPr/>
        </p:nvSpPr>
        <p:spPr>
          <a:xfrm>
            <a:off x="39063168" y="9473184"/>
            <a:ext cx="6108192" cy="256032"/>
          </a:xfrm>
          <a:prstGeom prst="rect">
            <a:avLst/>
          </a:prstGeom>
          <a:noFill/>
          <a:ln/>
        </p:spPr>
        <p:txBody>
          <a:bodyPr wrap="square" lIns="0" tIns="0" rIns="0" bIns="0" rtlCol="0" anchor="t"/>
          <a:lstStyle/>
          <a:p>
            <a:pPr indent="0" marL="0">
              <a:lnSpc>
                <a:spcPct val="108000"/>
              </a:lnSpc>
              <a:buNone/>
            </a:pPr>
            <a:r>
              <a:rPr lang="en-US" sz="800" dirty="0">
                <a:solidFill>
                  <a:srgbClr val="C6C9CE"/>
                </a:solidFill>
                <a:latin typeface="Arial" pitchFamily="34" charset="0"/>
                <a:ea typeface="Arial" pitchFamily="34" charset="-122"/>
                <a:cs typeface="Arial" pitchFamily="34" charset="-120"/>
              </a:rPr>
              <a:t>A 6,536 mm ambient light run — claimed the longest in the world. Seamless wraparound surfacing, active noise cancellation.</a:t>
            </a:r>
            <a:endParaRPr lang="en-US" sz="800" dirty="0"/>
          </a:p>
        </p:txBody>
      </p:sp>
      <p:sp>
        <p:nvSpPr>
          <p:cNvPr id="255" name="Text 253"/>
          <p:cNvSpPr txBox="1"/>
          <p:nvPr/>
        </p:nvSpPr>
        <p:spPr>
          <a:xfrm>
            <a:off x="39063168" y="9729216"/>
            <a:ext cx="6108192" cy="118872"/>
          </a:xfrm>
          <a:prstGeom prst="rect">
            <a:avLst/>
          </a:prstGeom>
          <a:noFill/>
          <a:ln/>
        </p:spPr>
        <p:txBody>
          <a:bodyPr wrap="square" lIns="0" tIns="0" rIns="0" bIns="0" rtlCol="0" anchor="t"/>
          <a:lstStyle/>
          <a:p>
            <a:pPr indent="0" marL="0">
              <a:buNone/>
            </a:pPr>
            <a:r>
              <a:rPr lang="en-US" sz="680" b="1" spc="140" kern="0" dirty="0">
                <a:solidFill>
                  <a:srgbClr val="5E636A"/>
                </a:solidFill>
                <a:latin typeface="Arial" pitchFamily="34" charset="0"/>
                <a:ea typeface="Arial" pitchFamily="34" charset="-122"/>
                <a:cs typeface="Arial" pitchFamily="34" charset="-120"/>
              </a:rPr>
              <a:t>SEAT · COMFORT</a:t>
            </a:r>
            <a:endParaRPr lang="en-US" sz="680" dirty="0"/>
          </a:p>
        </p:txBody>
      </p:sp>
      <p:sp>
        <p:nvSpPr>
          <p:cNvPr id="256" name="Text 254"/>
          <p:cNvSpPr txBox="1"/>
          <p:nvPr/>
        </p:nvSpPr>
        <p:spPr>
          <a:xfrm>
            <a:off x="39063168" y="9857232"/>
            <a:ext cx="6108192" cy="256032"/>
          </a:xfrm>
          <a:prstGeom prst="rect">
            <a:avLst/>
          </a:prstGeom>
          <a:noFill/>
          <a:ln/>
        </p:spPr>
        <p:txBody>
          <a:bodyPr wrap="square" lIns="0" tIns="0" rIns="0" bIns="0" rtlCol="0" anchor="t"/>
          <a:lstStyle/>
          <a:p>
            <a:pPr indent="0" marL="0">
              <a:lnSpc>
                <a:spcPct val="108000"/>
              </a:lnSpc>
              <a:buNone/>
            </a:pPr>
            <a:r>
              <a:rPr lang="en-US" sz="800" dirty="0">
                <a:solidFill>
                  <a:srgbClr val="C6C9CE"/>
                </a:solidFill>
                <a:latin typeface="Arial" pitchFamily="34" charset="0"/>
                <a:ea typeface="Arial" pitchFamily="34" charset="-122"/>
                <a:cs typeface="Arial" pitchFamily="34" charset="-120"/>
              </a:rPr>
              <a:t>Eight-way power front seats with three massage modes.</a:t>
            </a:r>
            <a:endParaRPr lang="en-US" sz="800" dirty="0"/>
          </a:p>
        </p:txBody>
      </p:sp>
      <p:sp>
        <p:nvSpPr>
          <p:cNvPr id="257" name="Text 255"/>
          <p:cNvSpPr txBox="1"/>
          <p:nvPr/>
        </p:nvSpPr>
        <p:spPr>
          <a:xfrm>
            <a:off x="39063168" y="10113264"/>
            <a:ext cx="6108192" cy="118872"/>
          </a:xfrm>
          <a:prstGeom prst="rect">
            <a:avLst/>
          </a:prstGeom>
          <a:noFill/>
          <a:ln/>
        </p:spPr>
        <p:txBody>
          <a:bodyPr wrap="square" lIns="0" tIns="0" rIns="0" bIns="0" rtlCol="0" anchor="t"/>
          <a:lstStyle/>
          <a:p>
            <a:pPr indent="0" marL="0">
              <a:buNone/>
            </a:pPr>
            <a:r>
              <a:rPr lang="en-US" sz="680" b="1" spc="140" kern="0" dirty="0">
                <a:solidFill>
                  <a:srgbClr val="5E636A"/>
                </a:solidFill>
                <a:latin typeface="Arial" pitchFamily="34" charset="0"/>
                <a:ea typeface="Arial" pitchFamily="34" charset="-122"/>
                <a:cs typeface="Arial" pitchFamily="34" charset="-120"/>
              </a:rPr>
              <a:t>FOR WHOM</a:t>
            </a:r>
            <a:endParaRPr lang="en-US" sz="680" dirty="0"/>
          </a:p>
        </p:txBody>
      </p:sp>
      <p:sp>
        <p:nvSpPr>
          <p:cNvPr id="258" name="Text 256"/>
          <p:cNvSpPr txBox="1"/>
          <p:nvPr/>
        </p:nvSpPr>
        <p:spPr>
          <a:xfrm>
            <a:off x="39063168" y="10241280"/>
            <a:ext cx="6108192" cy="256032"/>
          </a:xfrm>
          <a:prstGeom prst="rect">
            <a:avLst/>
          </a:prstGeom>
          <a:noFill/>
          <a:ln/>
        </p:spPr>
        <p:txBody>
          <a:bodyPr wrap="square" lIns="0" tIns="0" rIns="0" bIns="0" rtlCol="0" anchor="t"/>
          <a:lstStyle/>
          <a:p>
            <a:pPr indent="0" marL="0">
              <a:lnSpc>
                <a:spcPct val="108000"/>
              </a:lnSpc>
              <a:buNone/>
            </a:pPr>
            <a:r>
              <a:rPr lang="en-US" sz="800" dirty="0">
                <a:solidFill>
                  <a:srgbClr val="C6C9CE"/>
                </a:solidFill>
                <a:latin typeface="Arial" pitchFamily="34" charset="0"/>
                <a:ea typeface="Arial" pitchFamily="34" charset="-122"/>
                <a:cs typeface="Arial" pitchFamily="34" charset="-120"/>
              </a:rPr>
              <a:t>Premium technology early adopter. Huawei Qiankun ADS 4 Ultra, L3 on the highway.</a:t>
            </a:r>
            <a:endParaRPr lang="en-US" sz="800" dirty="0"/>
          </a:p>
        </p:txBody>
      </p:sp>
      <p:sp>
        <p:nvSpPr>
          <p:cNvPr id="259" name="Shape 257"/>
          <p:cNvSpPr/>
          <p:nvPr/>
        </p:nvSpPr>
        <p:spPr>
          <a:xfrm>
            <a:off x="548640" y="10643616"/>
            <a:ext cx="44622720" cy="12802"/>
          </a:xfrm>
          <a:prstGeom prst="rect">
            <a:avLst/>
          </a:prstGeom>
          <a:solidFill>
            <a:srgbClr val="23262B"/>
          </a:solidFill>
          <a:ln w="12700">
            <a:solidFill>
              <a:srgbClr val="333333"/>
            </a:solidFill>
            <a:prstDash val="solid"/>
          </a:ln>
        </p:spPr>
      </p:sp>
      <p:sp>
        <p:nvSpPr>
          <p:cNvPr id="260" name="Text 258"/>
          <p:cNvSpPr txBox="1"/>
          <p:nvPr/>
        </p:nvSpPr>
        <p:spPr>
          <a:xfrm>
            <a:off x="548640" y="10771632"/>
            <a:ext cx="44622720" cy="292608"/>
          </a:xfrm>
          <a:prstGeom prst="rect">
            <a:avLst/>
          </a:prstGeom>
          <a:noFill/>
          <a:ln/>
        </p:spPr>
        <p:txBody>
          <a:bodyPr wrap="square" lIns="0" tIns="0" rIns="0" bIns="0" rtlCol="0" anchor="t"/>
          <a:lstStyle/>
          <a:p>
            <a:pPr indent="0" marL="0">
              <a:lnSpc>
                <a:spcPct val="114000"/>
              </a:lnSpc>
              <a:buNone/>
            </a:pPr>
            <a:r>
              <a:rPr lang="en-US" sz="700" dirty="0">
                <a:solidFill>
                  <a:srgbClr val="494E55"/>
                </a:solidFill>
                <a:latin typeface="Arial" pitchFamily="34" charset="0"/>
                <a:ea typeface="Arial" pitchFamily="34" charset="-122"/>
                <a:cs typeface="Arial" pitchFamily="34" charset="-120"/>
              </a:rPr>
              <a:t>Image frames are intentionally empty — drop press photography in and the grid holds.   ·   Sources: GAC / Trumpchi / Hyptec press material; Auto China 2026 and Auto Guangzhou releases; CarNewsChina; BitAuto; Gasgoo; CnEVPost. Compiled September 2026. Prices are China MSRP bands; fields marked “not published” were not found in a primary or reputable secondary source.</a:t>
            </a:r>
            <a:endParaRPr lang="en-US" sz="7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Shape 0"/>
          <p:cNvSpPr/>
          <p:nvPr/>
        </p:nvSpPr>
        <p:spPr>
          <a:xfrm>
            <a:off x="0" y="0"/>
            <a:ext cx="45720000" cy="11320272"/>
          </a:xfrm>
          <a:prstGeom prst="rect">
            <a:avLst/>
          </a:prstGeom>
          <a:solidFill>
            <a:srgbClr val="0A0B0D"/>
          </a:solidFill>
          <a:ln w="12700">
            <a:solidFill>
              <a:srgbClr val="333333"/>
            </a:solidFill>
            <a:prstDash val="solid"/>
          </a:ln>
        </p:spPr>
      </p:sp>
      <p:sp>
        <p:nvSpPr>
          <p:cNvPr id="3" name="Text 1"/>
          <p:cNvSpPr txBox="1"/>
          <p:nvPr/>
        </p:nvSpPr>
        <p:spPr>
          <a:xfrm>
            <a:off x="548640" y="365760"/>
            <a:ext cx="1280160" cy="365760"/>
          </a:xfrm>
          <a:prstGeom prst="rect">
            <a:avLst/>
          </a:prstGeom>
          <a:noFill/>
          <a:ln/>
        </p:spPr>
        <p:txBody>
          <a:bodyPr wrap="square" lIns="0" tIns="0" rIns="0" bIns="0" rtlCol="0" anchor="t"/>
          <a:lstStyle/>
          <a:p>
            <a:pPr indent="0" marL="0">
              <a:buNone/>
            </a:pPr>
            <a:r>
              <a:rPr lang="en-US" sz="2600" b="1" dirty="0">
                <a:solidFill>
                  <a:srgbClr val="343941"/>
                </a:solidFill>
                <a:latin typeface="Cambria" pitchFamily="34" charset="0"/>
                <a:ea typeface="Cambria" pitchFamily="34" charset="-122"/>
                <a:cs typeface="Cambria" pitchFamily="34" charset="-120"/>
              </a:rPr>
              <a:t>03</a:t>
            </a:r>
            <a:endParaRPr lang="en-US" sz="2600" dirty="0"/>
          </a:p>
        </p:txBody>
      </p:sp>
      <p:sp>
        <p:nvSpPr>
          <p:cNvPr id="4" name="Text 2"/>
          <p:cNvSpPr txBox="1"/>
          <p:nvPr/>
        </p:nvSpPr>
        <p:spPr>
          <a:xfrm>
            <a:off x="1207008" y="457200"/>
            <a:ext cx="14630400" cy="118872"/>
          </a:xfrm>
          <a:prstGeom prst="rect">
            <a:avLst/>
          </a:prstGeom>
          <a:noFill/>
          <a:ln/>
        </p:spPr>
        <p:txBody>
          <a:bodyPr wrap="square" lIns="0" tIns="0" rIns="0" bIns="0" rtlCol="0" anchor="t"/>
          <a:lstStyle/>
          <a:p>
            <a:pPr indent="0" marL="0">
              <a:buNone/>
            </a:pPr>
            <a:r>
              <a:rPr lang="en-US" sz="680" b="1" spc="140" kern="0" dirty="0">
                <a:solidFill>
                  <a:srgbClr val="5E636A"/>
                </a:solidFill>
                <a:latin typeface="Arial" pitchFamily="34" charset="0"/>
                <a:ea typeface="Arial" pitchFamily="34" charset="-122"/>
                <a:cs typeface="Arial" pitchFamily="34" charset="-120"/>
              </a:rPr>
              <a:t>INTERIOR BENCHMARK · GAC GROUP · SEPTEMBER 2026</a:t>
            </a:r>
            <a:endParaRPr lang="en-US" sz="680" dirty="0"/>
          </a:p>
        </p:txBody>
      </p:sp>
      <p:sp>
        <p:nvSpPr>
          <p:cNvPr id="5" name="Text 3"/>
          <p:cNvSpPr txBox="1"/>
          <p:nvPr/>
        </p:nvSpPr>
        <p:spPr>
          <a:xfrm>
            <a:off x="1188720" y="603504"/>
            <a:ext cx="27432000" cy="548640"/>
          </a:xfrm>
          <a:prstGeom prst="rect">
            <a:avLst/>
          </a:prstGeom>
          <a:noFill/>
          <a:ln/>
        </p:spPr>
        <p:txBody>
          <a:bodyPr wrap="square" lIns="0" tIns="0" rIns="0" bIns="0" rtlCol="0" anchor="t"/>
          <a:lstStyle/>
          <a:p>
            <a:pPr indent="0" marL="0">
              <a:buNone/>
            </a:pPr>
            <a:r>
              <a:rPr lang="en-US" sz="3200" dirty="0">
                <a:solidFill>
                  <a:srgbClr val="F4F2EE"/>
                </a:solidFill>
                <a:latin typeface="Cambria" pitchFamily="34" charset="0"/>
                <a:ea typeface="Cambria" pitchFamily="34" charset="-122"/>
                <a:cs typeface="Cambria" pitchFamily="34" charset="-120"/>
              </a:rPr>
              <a:t>Colour  ·  Comfort</a:t>
            </a:r>
            <a:endParaRPr lang="en-US" sz="3200" dirty="0"/>
          </a:p>
        </p:txBody>
      </p:sp>
      <p:sp>
        <p:nvSpPr>
          <p:cNvPr id="6" name="Text 4"/>
          <p:cNvSpPr txBox="1"/>
          <p:nvPr/>
        </p:nvSpPr>
        <p:spPr>
          <a:xfrm>
            <a:off x="1207008" y="1188720"/>
            <a:ext cx="27432000" cy="219456"/>
          </a:xfrm>
          <a:prstGeom prst="rect">
            <a:avLst/>
          </a:prstGeom>
          <a:noFill/>
          <a:ln/>
        </p:spPr>
        <p:txBody>
          <a:bodyPr wrap="square" lIns="0" tIns="0" rIns="0" bIns="0" rtlCol="0" anchor="t"/>
          <a:lstStyle/>
          <a:p>
            <a:pPr indent="0" marL="0">
              <a:buNone/>
            </a:pPr>
            <a:r>
              <a:rPr lang="en-US" sz="960" dirty="0">
                <a:solidFill>
                  <a:srgbClr val="9DA1A8"/>
                </a:solidFill>
                <a:latin typeface="Arial" pitchFamily="34" charset="0"/>
                <a:ea typeface="Arial" pitchFamily="34" charset="-122"/>
                <a:cs typeface="Arial" pitchFamily="34" charset="-120"/>
              </a:rPr>
              <a:t>What GAC actually ships in the cabin, and what each price step buys.</a:t>
            </a:r>
            <a:endParaRPr lang="en-US" sz="960" dirty="0"/>
          </a:p>
        </p:txBody>
      </p:sp>
      <p:sp>
        <p:nvSpPr>
          <p:cNvPr id="7" name="Text 5"/>
          <p:cNvSpPr txBox="1"/>
          <p:nvPr/>
        </p:nvSpPr>
        <p:spPr>
          <a:xfrm>
            <a:off x="1207008" y="1426464"/>
            <a:ext cx="27432000" cy="219456"/>
          </a:xfrm>
          <a:prstGeom prst="rect">
            <a:avLst/>
          </a:prstGeom>
          <a:noFill/>
          <a:ln/>
        </p:spPr>
        <p:txBody>
          <a:bodyPr wrap="square" lIns="0" tIns="0" rIns="0" bIns="0" rtlCol="0" anchor="t"/>
          <a:lstStyle/>
          <a:p>
            <a:pPr indent="0" marL="0">
              <a:buNone/>
            </a:pPr>
            <a:r>
              <a:rPr lang="en-US" sz="960" i="1" dirty="0">
                <a:solidFill>
                  <a:srgbClr val="C4AC7A"/>
                </a:solidFill>
                <a:latin typeface="Arial" pitchFamily="34" charset="0"/>
                <a:ea typeface="Arial" pitchFamily="34" charset="-122"/>
                <a:cs typeface="Arial" pitchFamily="34" charset="-120"/>
              </a:rPr>
              <a:t>Two levers they are pulling and we are not.</a:t>
            </a:r>
            <a:endParaRPr lang="en-US" sz="960" dirty="0"/>
          </a:p>
        </p:txBody>
      </p:sp>
      <p:sp>
        <p:nvSpPr>
          <p:cNvPr id="8" name="Text 6"/>
          <p:cNvSpPr txBox="1"/>
          <p:nvPr/>
        </p:nvSpPr>
        <p:spPr>
          <a:xfrm>
            <a:off x="548640" y="1956816"/>
            <a:ext cx="21579840" cy="118872"/>
          </a:xfrm>
          <a:prstGeom prst="rect">
            <a:avLst/>
          </a:prstGeom>
          <a:noFill/>
          <a:ln/>
        </p:spPr>
        <p:txBody>
          <a:bodyPr wrap="square" lIns="0" tIns="0" rIns="0" bIns="0" rtlCol="0" anchor="t"/>
          <a:lstStyle/>
          <a:p>
            <a:pPr indent="0" marL="0">
              <a:buNone/>
            </a:pPr>
            <a:r>
              <a:rPr lang="en-US" sz="680" b="1" spc="140" kern="0" dirty="0">
                <a:solidFill>
                  <a:srgbClr val="5E636A"/>
                </a:solidFill>
                <a:latin typeface="Arial" pitchFamily="34" charset="0"/>
                <a:ea typeface="Arial" pitchFamily="34" charset="-122"/>
                <a:cs typeface="Arial" pitchFamily="34" charset="-120"/>
              </a:rPr>
              <a:t>COLOURWAYS ACTUALLY ON SALE</a:t>
            </a:r>
            <a:endParaRPr lang="en-US" sz="680" dirty="0"/>
          </a:p>
        </p:txBody>
      </p:sp>
      <p:sp>
        <p:nvSpPr>
          <p:cNvPr id="9" name="Text 7"/>
          <p:cNvSpPr txBox="1"/>
          <p:nvPr/>
        </p:nvSpPr>
        <p:spPr>
          <a:xfrm>
            <a:off x="548640" y="2139696"/>
            <a:ext cx="21579840" cy="201168"/>
          </a:xfrm>
          <a:prstGeom prst="rect">
            <a:avLst/>
          </a:prstGeom>
          <a:noFill/>
          <a:ln/>
        </p:spPr>
        <p:txBody>
          <a:bodyPr wrap="square" lIns="0" tIns="0" rIns="0" bIns="0" rtlCol="0" anchor="t"/>
          <a:lstStyle/>
          <a:p>
            <a:pPr indent="0" marL="0">
              <a:buNone/>
            </a:pPr>
            <a:r>
              <a:rPr lang="en-US" sz="860" dirty="0">
                <a:solidFill>
                  <a:srgbClr val="9DA1A8"/>
                </a:solidFill>
                <a:latin typeface="Arial" pitchFamily="34" charset="0"/>
                <a:ea typeface="Arial" pitchFamily="34" charset="-122"/>
                <a:cs typeface="Arial" pitchFamily="34" charset="-120"/>
              </a:rPr>
              <a:t>Every swatch is a shipping option, not a show car. AION names its interiors; Trumpchi names its seats.</a:t>
            </a:r>
            <a:endParaRPr lang="en-US" sz="860" dirty="0"/>
          </a:p>
        </p:txBody>
      </p:sp>
      <p:sp>
        <p:nvSpPr>
          <p:cNvPr id="10" name="Shape 8"/>
          <p:cNvSpPr/>
          <p:nvPr/>
        </p:nvSpPr>
        <p:spPr>
          <a:xfrm>
            <a:off x="548640" y="2523744"/>
            <a:ext cx="6949440" cy="1225296"/>
          </a:xfrm>
          <a:prstGeom prst="rect">
            <a:avLst/>
          </a:prstGeom>
          <a:solidFill>
            <a:srgbClr val="F2EFE9"/>
          </a:solidFill>
          <a:ln w="9525">
            <a:solidFill>
              <a:srgbClr val="F2EFE9"/>
            </a:solidFill>
            <a:prstDash val="solid"/>
          </a:ln>
        </p:spPr>
      </p:sp>
      <p:sp>
        <p:nvSpPr>
          <p:cNvPr id="11" name="Text 9"/>
          <p:cNvSpPr txBox="1"/>
          <p:nvPr/>
        </p:nvSpPr>
        <p:spPr>
          <a:xfrm>
            <a:off x="548640" y="3858768"/>
            <a:ext cx="6949440" cy="182880"/>
          </a:xfrm>
          <a:prstGeom prst="rect">
            <a:avLst/>
          </a:prstGeom>
          <a:noFill/>
          <a:ln/>
        </p:spPr>
        <p:txBody>
          <a:bodyPr wrap="square" lIns="0" tIns="0" rIns="0" bIns="0" rtlCol="0" anchor="t"/>
          <a:lstStyle/>
          <a:p>
            <a:pPr indent="0" marL="0">
              <a:buNone/>
            </a:pPr>
            <a:r>
              <a:rPr lang="en-US" sz="900" b="1" spc="90" kern="0" dirty="0">
                <a:solidFill>
                  <a:srgbClr val="F4F2EE"/>
                </a:solidFill>
                <a:latin typeface="Arial" pitchFamily="34" charset="0"/>
                <a:ea typeface="Arial" pitchFamily="34" charset="-122"/>
                <a:cs typeface="Arial" pitchFamily="34" charset="-120"/>
              </a:rPr>
              <a:t>SOFT LIGHT WHITE</a:t>
            </a:r>
            <a:endParaRPr lang="en-US" sz="900" dirty="0"/>
          </a:p>
        </p:txBody>
      </p:sp>
      <p:sp>
        <p:nvSpPr>
          <p:cNvPr id="12" name="Text 10"/>
          <p:cNvSpPr txBox="1"/>
          <p:nvPr/>
        </p:nvSpPr>
        <p:spPr>
          <a:xfrm>
            <a:off x="548640" y="4078224"/>
            <a:ext cx="6949440" cy="274320"/>
          </a:xfrm>
          <a:prstGeom prst="rect">
            <a:avLst/>
          </a:prstGeom>
          <a:noFill/>
          <a:ln/>
        </p:spPr>
        <p:txBody>
          <a:bodyPr wrap="square" lIns="0" tIns="0" rIns="0" bIns="0" rtlCol="0" anchor="t"/>
          <a:lstStyle/>
          <a:p>
            <a:pPr indent="0" marL="0">
              <a:lnSpc>
                <a:spcPct val="110000"/>
              </a:lnSpc>
              <a:buNone/>
            </a:pPr>
            <a:r>
              <a:rPr lang="en-US" sz="780" dirty="0">
                <a:solidFill>
                  <a:srgbClr val="5E636A"/>
                </a:solidFill>
                <a:latin typeface="Arial" pitchFamily="34" charset="0"/>
                <a:ea typeface="Arial" pitchFamily="34" charset="-122"/>
                <a:cs typeface="Arial" pitchFamily="34" charset="-120"/>
              </a:rPr>
              <a:t>AION N60 · named theme</a:t>
            </a:r>
            <a:endParaRPr lang="en-US" sz="780" dirty="0"/>
          </a:p>
        </p:txBody>
      </p:sp>
      <p:sp>
        <p:nvSpPr>
          <p:cNvPr id="13" name="Shape 11"/>
          <p:cNvSpPr/>
          <p:nvPr/>
        </p:nvSpPr>
        <p:spPr>
          <a:xfrm>
            <a:off x="7863840" y="2523744"/>
            <a:ext cx="6949440" cy="1225296"/>
          </a:xfrm>
          <a:prstGeom prst="rect">
            <a:avLst/>
          </a:prstGeom>
          <a:solidFill>
            <a:srgbClr val="9A6A45"/>
          </a:solidFill>
          <a:ln w="9525">
            <a:solidFill>
              <a:srgbClr val="9A6A45"/>
            </a:solidFill>
            <a:prstDash val="solid"/>
          </a:ln>
        </p:spPr>
      </p:sp>
      <p:sp>
        <p:nvSpPr>
          <p:cNvPr id="14" name="Text 12"/>
          <p:cNvSpPr txBox="1"/>
          <p:nvPr/>
        </p:nvSpPr>
        <p:spPr>
          <a:xfrm>
            <a:off x="7863840" y="3858768"/>
            <a:ext cx="6949440" cy="182880"/>
          </a:xfrm>
          <a:prstGeom prst="rect">
            <a:avLst/>
          </a:prstGeom>
          <a:noFill/>
          <a:ln/>
        </p:spPr>
        <p:txBody>
          <a:bodyPr wrap="square" lIns="0" tIns="0" rIns="0" bIns="0" rtlCol="0" anchor="t"/>
          <a:lstStyle/>
          <a:p>
            <a:pPr indent="0" marL="0">
              <a:buNone/>
            </a:pPr>
            <a:r>
              <a:rPr lang="en-US" sz="900" b="1" spc="90" kern="0" dirty="0">
                <a:solidFill>
                  <a:srgbClr val="F4F2EE"/>
                </a:solidFill>
                <a:latin typeface="Arial" pitchFamily="34" charset="0"/>
                <a:ea typeface="Arial" pitchFamily="34" charset="-122"/>
                <a:cs typeface="Arial" pitchFamily="34" charset="-120"/>
              </a:rPr>
              <a:t>CARAMEL WARM VELVET</a:t>
            </a:r>
            <a:endParaRPr lang="en-US" sz="900" dirty="0"/>
          </a:p>
        </p:txBody>
      </p:sp>
      <p:sp>
        <p:nvSpPr>
          <p:cNvPr id="15" name="Text 13"/>
          <p:cNvSpPr txBox="1"/>
          <p:nvPr/>
        </p:nvSpPr>
        <p:spPr>
          <a:xfrm>
            <a:off x="7863840" y="4078224"/>
            <a:ext cx="6949440" cy="274320"/>
          </a:xfrm>
          <a:prstGeom prst="rect">
            <a:avLst/>
          </a:prstGeom>
          <a:noFill/>
          <a:ln/>
        </p:spPr>
        <p:txBody>
          <a:bodyPr wrap="square" lIns="0" tIns="0" rIns="0" bIns="0" rtlCol="0" anchor="t"/>
          <a:lstStyle/>
          <a:p>
            <a:pPr indent="0" marL="0">
              <a:lnSpc>
                <a:spcPct val="110000"/>
              </a:lnSpc>
              <a:buNone/>
            </a:pPr>
            <a:r>
              <a:rPr lang="en-US" sz="780" dirty="0">
                <a:solidFill>
                  <a:srgbClr val="5E636A"/>
                </a:solidFill>
                <a:latin typeface="Arial" pitchFamily="34" charset="0"/>
                <a:ea typeface="Arial" pitchFamily="34" charset="-122"/>
                <a:cs typeface="Arial" pitchFamily="34" charset="-120"/>
              </a:rPr>
              <a:t>AION N60 · named theme</a:t>
            </a:r>
            <a:endParaRPr lang="en-US" sz="780" dirty="0"/>
          </a:p>
        </p:txBody>
      </p:sp>
      <p:sp>
        <p:nvSpPr>
          <p:cNvPr id="16" name="Shape 14"/>
          <p:cNvSpPr/>
          <p:nvPr/>
        </p:nvSpPr>
        <p:spPr>
          <a:xfrm>
            <a:off x="15179040" y="2523744"/>
            <a:ext cx="6949440" cy="1225296"/>
          </a:xfrm>
          <a:prstGeom prst="rect">
            <a:avLst/>
          </a:prstGeom>
          <a:solidFill>
            <a:srgbClr val="9BA1A4"/>
          </a:solidFill>
          <a:ln w="9525">
            <a:solidFill>
              <a:srgbClr val="9BA1A4"/>
            </a:solidFill>
            <a:prstDash val="solid"/>
          </a:ln>
        </p:spPr>
      </p:sp>
      <p:sp>
        <p:nvSpPr>
          <p:cNvPr id="17" name="Text 15"/>
          <p:cNvSpPr txBox="1"/>
          <p:nvPr/>
        </p:nvSpPr>
        <p:spPr>
          <a:xfrm>
            <a:off x="15179040" y="3858768"/>
            <a:ext cx="6949440" cy="182880"/>
          </a:xfrm>
          <a:prstGeom prst="rect">
            <a:avLst/>
          </a:prstGeom>
          <a:noFill/>
          <a:ln/>
        </p:spPr>
        <p:txBody>
          <a:bodyPr wrap="square" lIns="0" tIns="0" rIns="0" bIns="0" rtlCol="0" anchor="t"/>
          <a:lstStyle/>
          <a:p>
            <a:pPr indent="0" marL="0">
              <a:buNone/>
            </a:pPr>
            <a:r>
              <a:rPr lang="en-US" sz="900" b="1" spc="90" kern="0" dirty="0">
                <a:solidFill>
                  <a:srgbClr val="F4F2EE"/>
                </a:solidFill>
                <a:latin typeface="Arial" pitchFamily="34" charset="0"/>
                <a:ea typeface="Arial" pitchFamily="34" charset="-122"/>
                <a:cs typeface="Arial" pitchFamily="34" charset="-120"/>
              </a:rPr>
              <a:t>MORNING MIST COOL GREY</a:t>
            </a:r>
            <a:endParaRPr lang="en-US" sz="900" dirty="0"/>
          </a:p>
        </p:txBody>
      </p:sp>
      <p:sp>
        <p:nvSpPr>
          <p:cNvPr id="18" name="Text 16"/>
          <p:cNvSpPr txBox="1"/>
          <p:nvPr/>
        </p:nvSpPr>
        <p:spPr>
          <a:xfrm>
            <a:off x="15179040" y="4078224"/>
            <a:ext cx="6949440" cy="274320"/>
          </a:xfrm>
          <a:prstGeom prst="rect">
            <a:avLst/>
          </a:prstGeom>
          <a:noFill/>
          <a:ln/>
        </p:spPr>
        <p:txBody>
          <a:bodyPr wrap="square" lIns="0" tIns="0" rIns="0" bIns="0" rtlCol="0" anchor="t"/>
          <a:lstStyle/>
          <a:p>
            <a:pPr indent="0" marL="0">
              <a:lnSpc>
                <a:spcPct val="110000"/>
              </a:lnSpc>
              <a:buNone/>
            </a:pPr>
            <a:r>
              <a:rPr lang="en-US" sz="780" dirty="0">
                <a:solidFill>
                  <a:srgbClr val="5E636A"/>
                </a:solidFill>
                <a:latin typeface="Arial" pitchFamily="34" charset="0"/>
                <a:ea typeface="Arial" pitchFamily="34" charset="-122"/>
                <a:cs typeface="Arial" pitchFamily="34" charset="-120"/>
              </a:rPr>
              <a:t>AION N60 · named theme</a:t>
            </a:r>
            <a:endParaRPr lang="en-US" sz="780" dirty="0"/>
          </a:p>
        </p:txBody>
      </p:sp>
      <p:sp>
        <p:nvSpPr>
          <p:cNvPr id="19" name="Shape 17"/>
          <p:cNvSpPr/>
          <p:nvPr/>
        </p:nvSpPr>
        <p:spPr>
          <a:xfrm>
            <a:off x="548640" y="4572000"/>
            <a:ext cx="6949440" cy="1225296"/>
          </a:xfrm>
          <a:prstGeom prst="rect">
            <a:avLst/>
          </a:prstGeom>
          <a:solidFill>
            <a:srgbClr val="E8DFCB"/>
          </a:solidFill>
          <a:ln w="9525">
            <a:solidFill>
              <a:srgbClr val="E8DFCB"/>
            </a:solidFill>
            <a:prstDash val="solid"/>
          </a:ln>
        </p:spPr>
      </p:sp>
      <p:sp>
        <p:nvSpPr>
          <p:cNvPr id="20" name="Text 18"/>
          <p:cNvSpPr txBox="1"/>
          <p:nvPr/>
        </p:nvSpPr>
        <p:spPr>
          <a:xfrm>
            <a:off x="548640" y="5907024"/>
            <a:ext cx="6949440" cy="182880"/>
          </a:xfrm>
          <a:prstGeom prst="rect">
            <a:avLst/>
          </a:prstGeom>
          <a:noFill/>
          <a:ln/>
        </p:spPr>
        <p:txBody>
          <a:bodyPr wrap="square" lIns="0" tIns="0" rIns="0" bIns="0" rtlCol="0" anchor="t"/>
          <a:lstStyle/>
          <a:p>
            <a:pPr indent="0" marL="0">
              <a:buNone/>
            </a:pPr>
            <a:r>
              <a:rPr lang="en-US" sz="900" b="1" spc="90" kern="0" dirty="0">
                <a:solidFill>
                  <a:srgbClr val="F4F2EE"/>
                </a:solidFill>
                <a:latin typeface="Arial" pitchFamily="34" charset="0"/>
                <a:ea typeface="Arial" pitchFamily="34" charset="-122"/>
                <a:cs typeface="Arial" pitchFamily="34" charset="-120"/>
              </a:rPr>
              <a:t>CREAM</a:t>
            </a:r>
            <a:endParaRPr lang="en-US" sz="900" dirty="0"/>
          </a:p>
        </p:txBody>
      </p:sp>
      <p:sp>
        <p:nvSpPr>
          <p:cNvPr id="21" name="Text 19"/>
          <p:cNvSpPr txBox="1"/>
          <p:nvPr/>
        </p:nvSpPr>
        <p:spPr>
          <a:xfrm>
            <a:off x="548640" y="6126480"/>
            <a:ext cx="6949440" cy="274320"/>
          </a:xfrm>
          <a:prstGeom prst="rect">
            <a:avLst/>
          </a:prstGeom>
          <a:noFill/>
          <a:ln/>
        </p:spPr>
        <p:txBody>
          <a:bodyPr wrap="square" lIns="0" tIns="0" rIns="0" bIns="0" rtlCol="0" anchor="t"/>
          <a:lstStyle/>
          <a:p>
            <a:pPr indent="0" marL="0">
              <a:lnSpc>
                <a:spcPct val="110000"/>
              </a:lnSpc>
              <a:buNone/>
            </a:pPr>
            <a:r>
              <a:rPr lang="en-US" sz="780" dirty="0">
                <a:solidFill>
                  <a:srgbClr val="5E636A"/>
                </a:solidFill>
                <a:latin typeface="Arial" pitchFamily="34" charset="0"/>
                <a:ea typeface="Arial" pitchFamily="34" charset="-122"/>
                <a:cs typeface="Arial" pitchFamily="34" charset="-120"/>
              </a:rPr>
              <a:t>AION UT seats, doors, dash · AION V option</a:t>
            </a:r>
            <a:endParaRPr lang="en-US" sz="780" dirty="0"/>
          </a:p>
        </p:txBody>
      </p:sp>
      <p:sp>
        <p:nvSpPr>
          <p:cNvPr id="22" name="Shape 20"/>
          <p:cNvSpPr/>
          <p:nvPr/>
        </p:nvSpPr>
        <p:spPr>
          <a:xfrm>
            <a:off x="7863840" y="4572000"/>
            <a:ext cx="6949440" cy="1225296"/>
          </a:xfrm>
          <a:prstGeom prst="rect">
            <a:avLst/>
          </a:prstGeom>
          <a:solidFill>
            <a:srgbClr val="CBA0A2"/>
          </a:solidFill>
          <a:ln w="9525">
            <a:solidFill>
              <a:srgbClr val="CBA0A2"/>
            </a:solidFill>
            <a:prstDash val="solid"/>
          </a:ln>
        </p:spPr>
      </p:sp>
      <p:sp>
        <p:nvSpPr>
          <p:cNvPr id="23" name="Text 21"/>
          <p:cNvSpPr txBox="1"/>
          <p:nvPr/>
        </p:nvSpPr>
        <p:spPr>
          <a:xfrm>
            <a:off x="7863840" y="5907024"/>
            <a:ext cx="6949440" cy="182880"/>
          </a:xfrm>
          <a:prstGeom prst="rect">
            <a:avLst/>
          </a:prstGeom>
          <a:noFill/>
          <a:ln/>
        </p:spPr>
        <p:txBody>
          <a:bodyPr wrap="square" lIns="0" tIns="0" rIns="0" bIns="0" rtlCol="0" anchor="t"/>
          <a:lstStyle/>
          <a:p>
            <a:pPr indent="0" marL="0">
              <a:buNone/>
            </a:pPr>
            <a:r>
              <a:rPr lang="en-US" sz="900" b="1" spc="90" kern="0" dirty="0">
                <a:solidFill>
                  <a:srgbClr val="F4F2EE"/>
                </a:solidFill>
                <a:latin typeface="Arial" pitchFamily="34" charset="0"/>
                <a:ea typeface="Arial" pitchFamily="34" charset="-122"/>
                <a:cs typeface="Arial" pitchFamily="34" charset="-120"/>
              </a:rPr>
              <a:t>DUSKY PINK</a:t>
            </a:r>
            <a:endParaRPr lang="en-US" sz="900" dirty="0"/>
          </a:p>
        </p:txBody>
      </p:sp>
      <p:sp>
        <p:nvSpPr>
          <p:cNvPr id="24" name="Text 22"/>
          <p:cNvSpPr txBox="1"/>
          <p:nvPr/>
        </p:nvSpPr>
        <p:spPr>
          <a:xfrm>
            <a:off x="7863840" y="6126480"/>
            <a:ext cx="6949440" cy="274320"/>
          </a:xfrm>
          <a:prstGeom prst="rect">
            <a:avLst/>
          </a:prstGeom>
          <a:noFill/>
          <a:ln/>
        </p:spPr>
        <p:txBody>
          <a:bodyPr wrap="square" lIns="0" tIns="0" rIns="0" bIns="0" rtlCol="0" anchor="t"/>
          <a:lstStyle/>
          <a:p>
            <a:pPr indent="0" marL="0">
              <a:lnSpc>
                <a:spcPct val="110000"/>
              </a:lnSpc>
              <a:buNone/>
            </a:pPr>
            <a:r>
              <a:rPr lang="en-US" sz="780" dirty="0">
                <a:solidFill>
                  <a:srgbClr val="5E636A"/>
                </a:solidFill>
                <a:latin typeface="Arial" pitchFamily="34" charset="0"/>
                <a:ea typeface="Arial" pitchFamily="34" charset="-122"/>
                <a:cs typeface="Arial" pitchFamily="34" charset="-120"/>
              </a:rPr>
              <a:t>AION UT · the boldest colour in the range</a:t>
            </a:r>
            <a:endParaRPr lang="en-US" sz="780" dirty="0"/>
          </a:p>
        </p:txBody>
      </p:sp>
      <p:sp>
        <p:nvSpPr>
          <p:cNvPr id="25" name="Shape 23"/>
          <p:cNvSpPr/>
          <p:nvPr/>
        </p:nvSpPr>
        <p:spPr>
          <a:xfrm>
            <a:off x="15179040" y="4572000"/>
            <a:ext cx="6949440" cy="1225296"/>
          </a:xfrm>
          <a:prstGeom prst="rect">
            <a:avLst/>
          </a:prstGeom>
          <a:solidFill>
            <a:srgbClr val="8FA98A"/>
          </a:solidFill>
          <a:ln w="9525">
            <a:solidFill>
              <a:srgbClr val="8FA98A"/>
            </a:solidFill>
            <a:prstDash val="solid"/>
          </a:ln>
        </p:spPr>
      </p:sp>
      <p:sp>
        <p:nvSpPr>
          <p:cNvPr id="26" name="Text 24"/>
          <p:cNvSpPr txBox="1"/>
          <p:nvPr/>
        </p:nvSpPr>
        <p:spPr>
          <a:xfrm>
            <a:off x="15179040" y="5907024"/>
            <a:ext cx="6949440" cy="182880"/>
          </a:xfrm>
          <a:prstGeom prst="rect">
            <a:avLst/>
          </a:prstGeom>
          <a:noFill/>
          <a:ln/>
        </p:spPr>
        <p:txBody>
          <a:bodyPr wrap="square" lIns="0" tIns="0" rIns="0" bIns="0" rtlCol="0" anchor="t"/>
          <a:lstStyle/>
          <a:p>
            <a:pPr indent="0" marL="0">
              <a:buNone/>
            </a:pPr>
            <a:r>
              <a:rPr lang="en-US" sz="900" b="1" spc="90" kern="0" dirty="0">
                <a:solidFill>
                  <a:srgbClr val="F4F2EE"/>
                </a:solidFill>
                <a:latin typeface="Arial" pitchFamily="34" charset="0"/>
                <a:ea typeface="Arial" pitchFamily="34" charset="-122"/>
                <a:cs typeface="Arial" pitchFamily="34" charset="-120"/>
              </a:rPr>
              <a:t>HEALING GREEN</a:t>
            </a:r>
            <a:endParaRPr lang="en-US" sz="900" dirty="0"/>
          </a:p>
        </p:txBody>
      </p:sp>
      <p:sp>
        <p:nvSpPr>
          <p:cNvPr id="27" name="Text 25"/>
          <p:cNvSpPr txBox="1"/>
          <p:nvPr/>
        </p:nvSpPr>
        <p:spPr>
          <a:xfrm>
            <a:off x="15179040" y="6126480"/>
            <a:ext cx="6949440" cy="274320"/>
          </a:xfrm>
          <a:prstGeom prst="rect">
            <a:avLst/>
          </a:prstGeom>
          <a:noFill/>
          <a:ln/>
        </p:spPr>
        <p:txBody>
          <a:bodyPr wrap="square" lIns="0" tIns="0" rIns="0" bIns="0" rtlCol="0" anchor="t"/>
          <a:lstStyle/>
          <a:p>
            <a:pPr indent="0" marL="0">
              <a:lnSpc>
                <a:spcPct val="110000"/>
              </a:lnSpc>
              <a:buNone/>
            </a:pPr>
            <a:r>
              <a:rPr lang="en-US" sz="780" dirty="0">
                <a:solidFill>
                  <a:srgbClr val="5E636A"/>
                </a:solidFill>
                <a:latin typeface="Arial" pitchFamily="34" charset="0"/>
                <a:ea typeface="Arial" pitchFamily="34" charset="-122"/>
                <a:cs typeface="Arial" pitchFamily="34" charset="-120"/>
              </a:rPr>
              <a:t>AION Y Plus · briefed as urban stress relief</a:t>
            </a:r>
            <a:endParaRPr lang="en-US" sz="780" dirty="0"/>
          </a:p>
        </p:txBody>
      </p:sp>
      <p:sp>
        <p:nvSpPr>
          <p:cNvPr id="28" name="Shape 26"/>
          <p:cNvSpPr/>
          <p:nvPr/>
        </p:nvSpPr>
        <p:spPr>
          <a:xfrm>
            <a:off x="548640" y="6620256"/>
            <a:ext cx="6949440" cy="1225296"/>
          </a:xfrm>
          <a:prstGeom prst="rect">
            <a:avLst/>
          </a:prstGeom>
          <a:solidFill>
            <a:srgbClr val="A9714A"/>
          </a:solidFill>
          <a:ln w="9525">
            <a:solidFill>
              <a:srgbClr val="A9714A"/>
            </a:solidFill>
            <a:prstDash val="solid"/>
          </a:ln>
        </p:spPr>
      </p:sp>
      <p:sp>
        <p:nvSpPr>
          <p:cNvPr id="29" name="Text 27"/>
          <p:cNvSpPr txBox="1"/>
          <p:nvPr/>
        </p:nvSpPr>
        <p:spPr>
          <a:xfrm>
            <a:off x="548640" y="7955280"/>
            <a:ext cx="6949440" cy="182880"/>
          </a:xfrm>
          <a:prstGeom prst="rect">
            <a:avLst/>
          </a:prstGeom>
          <a:noFill/>
          <a:ln/>
        </p:spPr>
        <p:txBody>
          <a:bodyPr wrap="square" lIns="0" tIns="0" rIns="0" bIns="0" rtlCol="0" anchor="t"/>
          <a:lstStyle/>
          <a:p>
            <a:pPr indent="0" marL="0">
              <a:buNone/>
            </a:pPr>
            <a:r>
              <a:rPr lang="en-US" sz="900" b="1" spc="90" kern="0" dirty="0">
                <a:solidFill>
                  <a:srgbClr val="F4F2EE"/>
                </a:solidFill>
                <a:latin typeface="Arial" pitchFamily="34" charset="0"/>
                <a:ea typeface="Arial" pitchFamily="34" charset="-122"/>
                <a:cs typeface="Arial" pitchFamily="34" charset="-120"/>
              </a:rPr>
              <a:t>TAN</a:t>
            </a:r>
            <a:endParaRPr lang="en-US" sz="900" dirty="0"/>
          </a:p>
        </p:txBody>
      </p:sp>
      <p:sp>
        <p:nvSpPr>
          <p:cNvPr id="30" name="Text 28"/>
          <p:cNvSpPr txBox="1"/>
          <p:nvPr/>
        </p:nvSpPr>
        <p:spPr>
          <a:xfrm>
            <a:off x="548640" y="8174736"/>
            <a:ext cx="6949440" cy="274320"/>
          </a:xfrm>
          <a:prstGeom prst="rect">
            <a:avLst/>
          </a:prstGeom>
          <a:noFill/>
          <a:ln/>
        </p:spPr>
        <p:txBody>
          <a:bodyPr wrap="square" lIns="0" tIns="0" rIns="0" bIns="0" rtlCol="0" anchor="t"/>
          <a:lstStyle/>
          <a:p>
            <a:pPr indent="0" marL="0">
              <a:lnSpc>
                <a:spcPct val="110000"/>
              </a:lnSpc>
              <a:buNone/>
            </a:pPr>
            <a:r>
              <a:rPr lang="en-US" sz="780" dirty="0">
                <a:solidFill>
                  <a:srgbClr val="5E636A"/>
                </a:solidFill>
                <a:latin typeface="Arial" pitchFamily="34" charset="0"/>
                <a:ea typeface="Arial" pitchFamily="34" charset="-122"/>
                <a:cs typeface="Arial" pitchFamily="34" charset="-120"/>
              </a:rPr>
              <a:t>AION V · genuine-leather option</a:t>
            </a:r>
            <a:endParaRPr lang="en-US" sz="780" dirty="0"/>
          </a:p>
        </p:txBody>
      </p:sp>
      <p:sp>
        <p:nvSpPr>
          <p:cNvPr id="31" name="Shape 29"/>
          <p:cNvSpPr/>
          <p:nvPr/>
        </p:nvSpPr>
        <p:spPr>
          <a:xfrm>
            <a:off x="7863840" y="6620256"/>
            <a:ext cx="6949440" cy="1225296"/>
          </a:xfrm>
          <a:prstGeom prst="rect">
            <a:avLst/>
          </a:prstGeom>
          <a:solidFill>
            <a:srgbClr val="5E6470"/>
          </a:solidFill>
          <a:ln w="9525">
            <a:solidFill>
              <a:srgbClr val="5E6470"/>
            </a:solidFill>
            <a:prstDash val="solid"/>
          </a:ln>
        </p:spPr>
      </p:sp>
      <p:sp>
        <p:nvSpPr>
          <p:cNvPr id="32" name="Text 30"/>
          <p:cNvSpPr txBox="1"/>
          <p:nvPr/>
        </p:nvSpPr>
        <p:spPr>
          <a:xfrm>
            <a:off x="7863840" y="7955280"/>
            <a:ext cx="6949440" cy="182880"/>
          </a:xfrm>
          <a:prstGeom prst="rect">
            <a:avLst/>
          </a:prstGeom>
          <a:noFill/>
          <a:ln/>
        </p:spPr>
        <p:txBody>
          <a:bodyPr wrap="square" lIns="0" tIns="0" rIns="0" bIns="0" rtlCol="0" anchor="t"/>
          <a:lstStyle/>
          <a:p>
            <a:pPr indent="0" marL="0">
              <a:buNone/>
            </a:pPr>
            <a:r>
              <a:rPr lang="en-US" sz="900" b="1" spc="90" kern="0" dirty="0">
                <a:solidFill>
                  <a:srgbClr val="F4F2EE"/>
                </a:solidFill>
                <a:latin typeface="Arial" pitchFamily="34" charset="0"/>
                <a:ea typeface="Arial" pitchFamily="34" charset="-122"/>
                <a:cs typeface="Arial" pitchFamily="34" charset="-120"/>
              </a:rPr>
              <a:t>SUEDE GREY</a:t>
            </a:r>
            <a:endParaRPr lang="en-US" sz="900" dirty="0"/>
          </a:p>
        </p:txBody>
      </p:sp>
      <p:sp>
        <p:nvSpPr>
          <p:cNvPr id="33" name="Text 31"/>
          <p:cNvSpPr txBox="1"/>
          <p:nvPr/>
        </p:nvSpPr>
        <p:spPr>
          <a:xfrm>
            <a:off x="7863840" y="8174736"/>
            <a:ext cx="6949440" cy="274320"/>
          </a:xfrm>
          <a:prstGeom prst="rect">
            <a:avLst/>
          </a:prstGeom>
          <a:noFill/>
          <a:ln/>
        </p:spPr>
        <p:txBody>
          <a:bodyPr wrap="square" lIns="0" tIns="0" rIns="0" bIns="0" rtlCol="0" anchor="t"/>
          <a:lstStyle/>
          <a:p>
            <a:pPr indent="0" marL="0">
              <a:lnSpc>
                <a:spcPct val="110000"/>
              </a:lnSpc>
              <a:buNone/>
            </a:pPr>
            <a:r>
              <a:rPr lang="en-US" sz="780" dirty="0">
                <a:solidFill>
                  <a:srgbClr val="5E636A"/>
                </a:solidFill>
                <a:latin typeface="Arial" pitchFamily="34" charset="0"/>
                <a:ea typeface="Arial" pitchFamily="34" charset="-122"/>
                <a:cs typeface="Arial" pitchFamily="34" charset="-120"/>
              </a:rPr>
              <a:t>AION RT · zero-pressure seat finish</a:t>
            </a:r>
            <a:endParaRPr lang="en-US" sz="780" dirty="0"/>
          </a:p>
        </p:txBody>
      </p:sp>
      <p:sp>
        <p:nvSpPr>
          <p:cNvPr id="34" name="Shape 32"/>
          <p:cNvSpPr/>
          <p:nvPr/>
        </p:nvSpPr>
        <p:spPr>
          <a:xfrm>
            <a:off x="15179040" y="6620256"/>
            <a:ext cx="6949440" cy="1225296"/>
          </a:xfrm>
          <a:prstGeom prst="rect">
            <a:avLst/>
          </a:prstGeom>
          <a:solidFill>
            <a:srgbClr val="24262A"/>
          </a:solidFill>
          <a:ln w="9525">
            <a:solidFill>
              <a:srgbClr val="3A3F47"/>
            </a:solidFill>
            <a:prstDash val="solid"/>
          </a:ln>
        </p:spPr>
      </p:sp>
      <p:sp>
        <p:nvSpPr>
          <p:cNvPr id="35" name="Text 33"/>
          <p:cNvSpPr txBox="1"/>
          <p:nvPr/>
        </p:nvSpPr>
        <p:spPr>
          <a:xfrm>
            <a:off x="15179040" y="7955280"/>
            <a:ext cx="6949440" cy="182880"/>
          </a:xfrm>
          <a:prstGeom prst="rect">
            <a:avLst/>
          </a:prstGeom>
          <a:noFill/>
          <a:ln/>
        </p:spPr>
        <p:txBody>
          <a:bodyPr wrap="square" lIns="0" tIns="0" rIns="0" bIns="0" rtlCol="0" anchor="t"/>
          <a:lstStyle/>
          <a:p>
            <a:pPr indent="0" marL="0">
              <a:buNone/>
            </a:pPr>
            <a:r>
              <a:rPr lang="en-US" sz="900" b="1" spc="90" kern="0" dirty="0">
                <a:solidFill>
                  <a:srgbClr val="F4F2EE"/>
                </a:solidFill>
                <a:latin typeface="Arial" pitchFamily="34" charset="0"/>
                <a:ea typeface="Arial" pitchFamily="34" charset="-122"/>
                <a:cs typeface="Arial" pitchFamily="34" charset="-120"/>
              </a:rPr>
              <a:t>BLACK FAUX LEATHER</a:t>
            </a:r>
            <a:endParaRPr lang="en-US" sz="900" dirty="0"/>
          </a:p>
        </p:txBody>
      </p:sp>
      <p:sp>
        <p:nvSpPr>
          <p:cNvPr id="36" name="Text 34"/>
          <p:cNvSpPr txBox="1"/>
          <p:nvPr/>
        </p:nvSpPr>
        <p:spPr>
          <a:xfrm>
            <a:off x="15179040" y="8174736"/>
            <a:ext cx="6949440" cy="274320"/>
          </a:xfrm>
          <a:prstGeom prst="rect">
            <a:avLst/>
          </a:prstGeom>
          <a:noFill/>
          <a:ln/>
        </p:spPr>
        <p:txBody>
          <a:bodyPr wrap="square" lIns="0" tIns="0" rIns="0" bIns="0" rtlCol="0" anchor="t"/>
          <a:lstStyle/>
          <a:p>
            <a:pPr indent="0" marL="0">
              <a:lnSpc>
                <a:spcPct val="110000"/>
              </a:lnSpc>
              <a:buNone/>
            </a:pPr>
            <a:r>
              <a:rPr lang="en-US" sz="780" dirty="0">
                <a:solidFill>
                  <a:srgbClr val="5E636A"/>
                </a:solidFill>
                <a:latin typeface="Arial" pitchFamily="34" charset="0"/>
                <a:ea typeface="Arial" pitchFamily="34" charset="-122"/>
                <a:cs typeface="Arial" pitchFamily="34" charset="-120"/>
              </a:rPr>
              <a:t>AION V · the standard fit almost everywhere</a:t>
            </a:r>
            <a:endParaRPr lang="en-US" sz="780" dirty="0"/>
          </a:p>
        </p:txBody>
      </p:sp>
      <p:sp>
        <p:nvSpPr>
          <p:cNvPr id="37" name="Text 35"/>
          <p:cNvSpPr txBox="1"/>
          <p:nvPr/>
        </p:nvSpPr>
        <p:spPr>
          <a:xfrm>
            <a:off x="23225760" y="1956816"/>
            <a:ext cx="21945600" cy="118872"/>
          </a:xfrm>
          <a:prstGeom prst="rect">
            <a:avLst/>
          </a:prstGeom>
          <a:noFill/>
          <a:ln/>
        </p:spPr>
        <p:txBody>
          <a:bodyPr wrap="square" lIns="0" tIns="0" rIns="0" bIns="0" rtlCol="0" anchor="t"/>
          <a:lstStyle/>
          <a:p>
            <a:pPr indent="0" marL="0">
              <a:buNone/>
            </a:pPr>
            <a:r>
              <a:rPr lang="en-US" sz="680" b="1" spc="140" kern="0" dirty="0">
                <a:solidFill>
                  <a:srgbClr val="5E636A"/>
                </a:solidFill>
                <a:latin typeface="Arial" pitchFamily="34" charset="0"/>
                <a:ea typeface="Arial" pitchFamily="34" charset="-122"/>
                <a:cs typeface="Arial" pitchFamily="34" charset="-120"/>
              </a:rPr>
              <a:t>WHAT EACH PRICE STEP BUYS</a:t>
            </a:r>
            <a:endParaRPr lang="en-US" sz="680" dirty="0"/>
          </a:p>
        </p:txBody>
      </p:sp>
      <p:sp>
        <p:nvSpPr>
          <p:cNvPr id="38" name="Text 36"/>
          <p:cNvSpPr txBox="1"/>
          <p:nvPr/>
        </p:nvSpPr>
        <p:spPr>
          <a:xfrm>
            <a:off x="23225760" y="2139696"/>
            <a:ext cx="21945600" cy="201168"/>
          </a:xfrm>
          <a:prstGeom prst="rect">
            <a:avLst/>
          </a:prstGeom>
          <a:noFill/>
          <a:ln/>
        </p:spPr>
        <p:txBody>
          <a:bodyPr wrap="square" lIns="0" tIns="0" rIns="0" bIns="0" rtlCol="0" anchor="t"/>
          <a:lstStyle/>
          <a:p>
            <a:pPr indent="0" marL="0">
              <a:buNone/>
            </a:pPr>
            <a:r>
              <a:rPr lang="en-US" sz="860" dirty="0">
                <a:solidFill>
                  <a:srgbClr val="9DA1A8"/>
                </a:solidFill>
                <a:latin typeface="Arial" pitchFamily="34" charset="0"/>
                <a:ea typeface="Arial" pitchFamily="34" charset="-122"/>
                <a:cs typeface="Arial" pitchFamily="34" charset="-120"/>
              </a:rPr>
              <a:t>Read off the shipping specification, not the brochure copy.</a:t>
            </a:r>
            <a:endParaRPr lang="en-US" sz="860" dirty="0"/>
          </a:p>
        </p:txBody>
      </p:sp>
      <p:sp>
        <p:nvSpPr>
          <p:cNvPr id="39" name="Text 37"/>
          <p:cNvSpPr txBox="1"/>
          <p:nvPr/>
        </p:nvSpPr>
        <p:spPr>
          <a:xfrm>
            <a:off x="23225760" y="2560320"/>
            <a:ext cx="5486400" cy="365760"/>
          </a:xfrm>
          <a:prstGeom prst="rect">
            <a:avLst/>
          </a:prstGeom>
          <a:noFill/>
          <a:ln/>
        </p:spPr>
        <p:txBody>
          <a:bodyPr wrap="square" lIns="0" tIns="0" rIns="0" bIns="0" rtlCol="0" anchor="t"/>
          <a:lstStyle/>
          <a:p>
            <a:pPr indent="0" marL="0">
              <a:buNone/>
            </a:pPr>
            <a:r>
              <a:rPr lang="en-US" sz="2000" dirty="0">
                <a:solidFill>
                  <a:srgbClr val="F4F2EE"/>
                </a:solidFill>
                <a:latin typeface="Cambria" pitchFamily="34" charset="0"/>
                <a:ea typeface="Cambria" pitchFamily="34" charset="-122"/>
                <a:cs typeface="Cambria" pitchFamily="34" charset="-120"/>
              </a:rPr>
              <a:t>¥70 – 110k</a:t>
            </a:r>
            <a:endParaRPr lang="en-US" sz="2000" dirty="0"/>
          </a:p>
        </p:txBody>
      </p:sp>
      <p:sp>
        <p:nvSpPr>
          <p:cNvPr id="40" name="Text 38"/>
          <p:cNvSpPr txBox="1"/>
          <p:nvPr/>
        </p:nvSpPr>
        <p:spPr>
          <a:xfrm>
            <a:off x="28895040" y="2670048"/>
            <a:ext cx="16276320" cy="201168"/>
          </a:xfrm>
          <a:prstGeom prst="rect">
            <a:avLst/>
          </a:prstGeom>
          <a:noFill/>
          <a:ln/>
        </p:spPr>
        <p:txBody>
          <a:bodyPr wrap="square" lIns="0" tIns="0" rIns="0" bIns="0" rtlCol="0" anchor="t"/>
          <a:lstStyle/>
          <a:p>
            <a:pPr algn="r" indent="0" marL="0">
              <a:buNone/>
            </a:pPr>
            <a:r>
              <a:rPr lang="en-US" sz="840" b="1" spc="80" kern="0" dirty="0">
                <a:solidFill>
                  <a:srgbClr val="5C93FF"/>
                </a:solidFill>
                <a:latin typeface="Arial" pitchFamily="34" charset="0"/>
                <a:ea typeface="Arial" pitchFamily="34" charset="-122"/>
                <a:cs typeface="Arial" pitchFamily="34" charset="-120"/>
              </a:rPr>
              <a:t>AION UT</a:t>
            </a:r>
            <a:endParaRPr lang="en-US" sz="840" dirty="0"/>
          </a:p>
        </p:txBody>
      </p:sp>
      <p:sp>
        <p:nvSpPr>
          <p:cNvPr id="41" name="Text 39"/>
          <p:cNvSpPr txBox="1"/>
          <p:nvPr/>
        </p:nvSpPr>
        <p:spPr>
          <a:xfrm>
            <a:off x="23225760" y="3035808"/>
            <a:ext cx="21945600" cy="402336"/>
          </a:xfrm>
          <a:prstGeom prst="rect">
            <a:avLst/>
          </a:prstGeom>
          <a:noFill/>
          <a:ln/>
        </p:spPr>
        <p:txBody>
          <a:bodyPr wrap="square" lIns="0" tIns="0" rIns="0" bIns="0" rtlCol="0" anchor="t"/>
          <a:lstStyle/>
          <a:p>
            <a:pPr indent="0" marL="0">
              <a:lnSpc>
                <a:spcPct val="114000"/>
              </a:lnSpc>
              <a:buNone/>
            </a:pPr>
            <a:r>
              <a:rPr lang="en-US" sz="900" dirty="0">
                <a:solidFill>
                  <a:srgbClr val="C6C9CE"/>
                </a:solidFill>
                <a:latin typeface="Arial" pitchFamily="34" charset="0"/>
                <a:ea typeface="Arial" pitchFamily="34" charset="-122"/>
                <a:cs typeface="Arial" pitchFamily="34" charset="-120"/>
              </a:rPr>
              <a:t>Fixed seats, manual recline. The differentiator is a flat-fold bed across the whole cabin, not adjustment.</a:t>
            </a:r>
            <a:endParaRPr lang="en-US" sz="900" dirty="0"/>
          </a:p>
        </p:txBody>
      </p:sp>
      <p:sp>
        <p:nvSpPr>
          <p:cNvPr id="42" name="Shape 40"/>
          <p:cNvSpPr/>
          <p:nvPr/>
        </p:nvSpPr>
        <p:spPr>
          <a:xfrm>
            <a:off x="23225760" y="3584448"/>
            <a:ext cx="21945600" cy="12802"/>
          </a:xfrm>
          <a:prstGeom prst="rect">
            <a:avLst/>
          </a:prstGeom>
          <a:solidFill>
            <a:srgbClr val="23262B"/>
          </a:solidFill>
          <a:ln w="12700">
            <a:solidFill>
              <a:srgbClr val="333333"/>
            </a:solidFill>
            <a:prstDash val="solid"/>
          </a:ln>
        </p:spPr>
      </p:sp>
      <p:sp>
        <p:nvSpPr>
          <p:cNvPr id="43" name="Text 41"/>
          <p:cNvSpPr txBox="1"/>
          <p:nvPr/>
        </p:nvSpPr>
        <p:spPr>
          <a:xfrm>
            <a:off x="23225760" y="3767328"/>
            <a:ext cx="5486400" cy="365760"/>
          </a:xfrm>
          <a:prstGeom prst="rect">
            <a:avLst/>
          </a:prstGeom>
          <a:noFill/>
          <a:ln/>
        </p:spPr>
        <p:txBody>
          <a:bodyPr wrap="square" lIns="0" tIns="0" rIns="0" bIns="0" rtlCol="0" anchor="t"/>
          <a:lstStyle/>
          <a:p>
            <a:pPr indent="0" marL="0">
              <a:buNone/>
            </a:pPr>
            <a:r>
              <a:rPr lang="en-US" sz="2000" dirty="0">
                <a:solidFill>
                  <a:srgbClr val="F4F2EE"/>
                </a:solidFill>
                <a:latin typeface="Cambria" pitchFamily="34" charset="0"/>
                <a:ea typeface="Cambria" pitchFamily="34" charset="-122"/>
                <a:cs typeface="Cambria" pitchFamily="34" charset="-120"/>
              </a:rPr>
              <a:t>¥110 – 130k</a:t>
            </a:r>
            <a:endParaRPr lang="en-US" sz="2000" dirty="0"/>
          </a:p>
        </p:txBody>
      </p:sp>
      <p:sp>
        <p:nvSpPr>
          <p:cNvPr id="44" name="Text 42"/>
          <p:cNvSpPr txBox="1"/>
          <p:nvPr/>
        </p:nvSpPr>
        <p:spPr>
          <a:xfrm>
            <a:off x="28895040" y="3877056"/>
            <a:ext cx="16276320" cy="201168"/>
          </a:xfrm>
          <a:prstGeom prst="rect">
            <a:avLst/>
          </a:prstGeom>
          <a:noFill/>
          <a:ln/>
        </p:spPr>
        <p:txBody>
          <a:bodyPr wrap="square" lIns="0" tIns="0" rIns="0" bIns="0" rtlCol="0" anchor="t"/>
          <a:lstStyle/>
          <a:p>
            <a:pPr algn="r" indent="0" marL="0">
              <a:buNone/>
            </a:pPr>
            <a:r>
              <a:rPr lang="en-US" sz="840" b="1" spc="80" kern="0" dirty="0">
                <a:solidFill>
                  <a:srgbClr val="5C93FF"/>
                </a:solidFill>
                <a:latin typeface="Arial" pitchFamily="34" charset="0"/>
                <a:ea typeface="Arial" pitchFamily="34" charset="-122"/>
                <a:cs typeface="Arial" pitchFamily="34" charset="-120"/>
              </a:rPr>
              <a:t>AION N60</a:t>
            </a:r>
            <a:endParaRPr lang="en-US" sz="840" dirty="0"/>
          </a:p>
        </p:txBody>
      </p:sp>
      <p:sp>
        <p:nvSpPr>
          <p:cNvPr id="45" name="Text 43"/>
          <p:cNvSpPr txBox="1"/>
          <p:nvPr/>
        </p:nvSpPr>
        <p:spPr>
          <a:xfrm>
            <a:off x="23225760" y="4242816"/>
            <a:ext cx="21945600" cy="402336"/>
          </a:xfrm>
          <a:prstGeom prst="rect">
            <a:avLst/>
          </a:prstGeom>
          <a:noFill/>
          <a:ln/>
        </p:spPr>
        <p:txBody>
          <a:bodyPr wrap="square" lIns="0" tIns="0" rIns="0" bIns="0" rtlCol="0" anchor="t"/>
          <a:lstStyle/>
          <a:p>
            <a:pPr indent="0" marL="0">
              <a:lnSpc>
                <a:spcPct val="114000"/>
              </a:lnSpc>
              <a:buNone/>
            </a:pPr>
            <a:r>
              <a:rPr lang="en-US" sz="900" dirty="0">
                <a:solidFill>
                  <a:srgbClr val="C6C9CE"/>
                </a:solidFill>
                <a:latin typeface="Arial" pitchFamily="34" charset="0"/>
                <a:ea typeface="Arial" pitchFamily="34" charset="-122"/>
                <a:cs typeface="Arial" pitchFamily="34" charset="-120"/>
              </a:rPr>
              <a:t>Zero-gravity co-pilot seat standard. Front heating, ventilation, massage and memory. Rear backrest 117–137°.</a:t>
            </a:r>
            <a:endParaRPr lang="en-US" sz="900" dirty="0"/>
          </a:p>
        </p:txBody>
      </p:sp>
      <p:sp>
        <p:nvSpPr>
          <p:cNvPr id="46" name="Shape 44"/>
          <p:cNvSpPr/>
          <p:nvPr/>
        </p:nvSpPr>
        <p:spPr>
          <a:xfrm>
            <a:off x="23225760" y="4791456"/>
            <a:ext cx="21945600" cy="12802"/>
          </a:xfrm>
          <a:prstGeom prst="rect">
            <a:avLst/>
          </a:prstGeom>
          <a:solidFill>
            <a:srgbClr val="23262B"/>
          </a:solidFill>
          <a:ln w="12700">
            <a:solidFill>
              <a:srgbClr val="333333"/>
            </a:solidFill>
            <a:prstDash val="solid"/>
          </a:ln>
        </p:spPr>
      </p:sp>
      <p:sp>
        <p:nvSpPr>
          <p:cNvPr id="47" name="Text 45"/>
          <p:cNvSpPr txBox="1"/>
          <p:nvPr/>
        </p:nvSpPr>
        <p:spPr>
          <a:xfrm>
            <a:off x="23225760" y="4974336"/>
            <a:ext cx="5486400" cy="365760"/>
          </a:xfrm>
          <a:prstGeom prst="rect">
            <a:avLst/>
          </a:prstGeom>
          <a:noFill/>
          <a:ln/>
        </p:spPr>
        <p:txBody>
          <a:bodyPr wrap="square" lIns="0" tIns="0" rIns="0" bIns="0" rtlCol="0" anchor="t"/>
          <a:lstStyle/>
          <a:p>
            <a:pPr indent="0" marL="0">
              <a:buNone/>
            </a:pPr>
            <a:r>
              <a:rPr lang="en-US" sz="2000" dirty="0">
                <a:solidFill>
                  <a:srgbClr val="F4F2EE"/>
                </a:solidFill>
                <a:latin typeface="Cambria" pitchFamily="34" charset="0"/>
                <a:ea typeface="Cambria" pitchFamily="34" charset="-122"/>
                <a:cs typeface="Cambria" pitchFamily="34" charset="-120"/>
              </a:rPr>
              <a:t>¥115 – 160k</a:t>
            </a:r>
            <a:endParaRPr lang="en-US" sz="2000" dirty="0"/>
          </a:p>
        </p:txBody>
      </p:sp>
      <p:sp>
        <p:nvSpPr>
          <p:cNvPr id="48" name="Text 46"/>
          <p:cNvSpPr txBox="1"/>
          <p:nvPr/>
        </p:nvSpPr>
        <p:spPr>
          <a:xfrm>
            <a:off x="28895040" y="5084064"/>
            <a:ext cx="16276320" cy="201168"/>
          </a:xfrm>
          <a:prstGeom prst="rect">
            <a:avLst/>
          </a:prstGeom>
          <a:noFill/>
          <a:ln/>
        </p:spPr>
        <p:txBody>
          <a:bodyPr wrap="square" lIns="0" tIns="0" rIns="0" bIns="0" rtlCol="0" anchor="t"/>
          <a:lstStyle/>
          <a:p>
            <a:pPr algn="r" indent="0" marL="0">
              <a:buNone/>
            </a:pPr>
            <a:r>
              <a:rPr lang="en-US" sz="840" b="1" spc="80" kern="0" dirty="0">
                <a:solidFill>
                  <a:srgbClr val="5C93FF"/>
                </a:solidFill>
                <a:latin typeface="Arial" pitchFamily="34" charset="0"/>
                <a:ea typeface="Arial" pitchFamily="34" charset="-122"/>
                <a:cs typeface="Arial" pitchFamily="34" charset="-120"/>
              </a:rPr>
              <a:t>AION i60</a:t>
            </a:r>
            <a:endParaRPr lang="en-US" sz="840" dirty="0"/>
          </a:p>
        </p:txBody>
      </p:sp>
      <p:sp>
        <p:nvSpPr>
          <p:cNvPr id="49" name="Text 47"/>
          <p:cNvSpPr txBox="1"/>
          <p:nvPr/>
        </p:nvSpPr>
        <p:spPr>
          <a:xfrm>
            <a:off x="23225760" y="5449824"/>
            <a:ext cx="21945600" cy="402336"/>
          </a:xfrm>
          <a:prstGeom prst="rect">
            <a:avLst/>
          </a:prstGeom>
          <a:noFill/>
          <a:ln/>
        </p:spPr>
        <p:txBody>
          <a:bodyPr wrap="square" lIns="0" tIns="0" rIns="0" bIns="0" rtlCol="0" anchor="t"/>
          <a:lstStyle/>
          <a:p>
            <a:pPr indent="0" marL="0">
              <a:lnSpc>
                <a:spcPct val="114000"/>
              </a:lnSpc>
              <a:buNone/>
            </a:pPr>
            <a:r>
              <a:rPr lang="en-US" sz="900" dirty="0">
                <a:solidFill>
                  <a:srgbClr val="C6C9CE"/>
                </a:solidFill>
                <a:latin typeface="Arial" pitchFamily="34" charset="0"/>
                <a:ea typeface="Arial" pitchFamily="34" charset="-122"/>
                <a:cs typeface="Arial" pitchFamily="34" charset="-120"/>
              </a:rPr>
              <a:t>“Eight-layer comfort sofa” fronts with 8-point massage; dual-tone split and 32-colour ambient.</a:t>
            </a:r>
            <a:endParaRPr lang="en-US" sz="900" dirty="0"/>
          </a:p>
        </p:txBody>
      </p:sp>
      <p:sp>
        <p:nvSpPr>
          <p:cNvPr id="50" name="Shape 48"/>
          <p:cNvSpPr/>
          <p:nvPr/>
        </p:nvSpPr>
        <p:spPr>
          <a:xfrm>
            <a:off x="23225760" y="5998464"/>
            <a:ext cx="21945600" cy="12802"/>
          </a:xfrm>
          <a:prstGeom prst="rect">
            <a:avLst/>
          </a:prstGeom>
          <a:solidFill>
            <a:srgbClr val="23262B"/>
          </a:solidFill>
          <a:ln w="12700">
            <a:solidFill>
              <a:srgbClr val="333333"/>
            </a:solidFill>
            <a:prstDash val="solid"/>
          </a:ln>
        </p:spPr>
      </p:sp>
      <p:sp>
        <p:nvSpPr>
          <p:cNvPr id="51" name="Text 49"/>
          <p:cNvSpPr txBox="1"/>
          <p:nvPr/>
        </p:nvSpPr>
        <p:spPr>
          <a:xfrm>
            <a:off x="23225760" y="6181344"/>
            <a:ext cx="5486400" cy="365760"/>
          </a:xfrm>
          <a:prstGeom prst="rect">
            <a:avLst/>
          </a:prstGeom>
          <a:noFill/>
          <a:ln/>
        </p:spPr>
        <p:txBody>
          <a:bodyPr wrap="square" lIns="0" tIns="0" rIns="0" bIns="0" rtlCol="0" anchor="t"/>
          <a:lstStyle/>
          <a:p>
            <a:pPr indent="0" marL="0">
              <a:buNone/>
            </a:pPr>
            <a:r>
              <a:rPr lang="en-US" sz="2000" dirty="0">
                <a:solidFill>
                  <a:srgbClr val="F4F2EE"/>
                </a:solidFill>
                <a:latin typeface="Cambria" pitchFamily="34" charset="0"/>
                <a:ea typeface="Cambria" pitchFamily="34" charset="-122"/>
                <a:cs typeface="Cambria" pitchFamily="34" charset="-120"/>
              </a:rPr>
              <a:t>¥170 – 250k</a:t>
            </a:r>
            <a:endParaRPr lang="en-US" sz="2000" dirty="0"/>
          </a:p>
        </p:txBody>
      </p:sp>
      <p:sp>
        <p:nvSpPr>
          <p:cNvPr id="52" name="Text 50"/>
          <p:cNvSpPr txBox="1"/>
          <p:nvPr/>
        </p:nvSpPr>
        <p:spPr>
          <a:xfrm>
            <a:off x="28895040" y="6291072"/>
            <a:ext cx="16276320" cy="201168"/>
          </a:xfrm>
          <a:prstGeom prst="rect">
            <a:avLst/>
          </a:prstGeom>
          <a:noFill/>
          <a:ln/>
        </p:spPr>
        <p:txBody>
          <a:bodyPr wrap="square" lIns="0" tIns="0" rIns="0" bIns="0" rtlCol="0" anchor="t"/>
          <a:lstStyle/>
          <a:p>
            <a:pPr algn="r" indent="0" marL="0">
              <a:buNone/>
            </a:pPr>
            <a:r>
              <a:rPr lang="en-US" sz="840" b="1" spc="80" kern="0" dirty="0">
                <a:solidFill>
                  <a:srgbClr val="E07B62"/>
                </a:solidFill>
                <a:latin typeface="Arial" pitchFamily="34" charset="0"/>
                <a:ea typeface="Arial" pitchFamily="34" charset="-122"/>
                <a:cs typeface="Arial" pitchFamily="34" charset="-120"/>
              </a:rPr>
              <a:t>TRUMPCHI XIANGWANG S7</a:t>
            </a:r>
            <a:endParaRPr lang="en-US" sz="840" dirty="0"/>
          </a:p>
        </p:txBody>
      </p:sp>
      <p:sp>
        <p:nvSpPr>
          <p:cNvPr id="53" name="Text 51"/>
          <p:cNvSpPr txBox="1"/>
          <p:nvPr/>
        </p:nvSpPr>
        <p:spPr>
          <a:xfrm>
            <a:off x="23225760" y="6656832"/>
            <a:ext cx="21945600" cy="402336"/>
          </a:xfrm>
          <a:prstGeom prst="rect">
            <a:avLst/>
          </a:prstGeom>
          <a:noFill/>
          <a:ln/>
        </p:spPr>
        <p:txBody>
          <a:bodyPr wrap="square" lIns="0" tIns="0" rIns="0" bIns="0" rtlCol="0" anchor="t"/>
          <a:lstStyle/>
          <a:p>
            <a:pPr indent="0" marL="0">
              <a:lnSpc>
                <a:spcPct val="114000"/>
              </a:lnSpc>
              <a:buNone/>
            </a:pPr>
            <a:r>
              <a:rPr lang="en-US" sz="900" dirty="0">
                <a:solidFill>
                  <a:srgbClr val="C6C9CE"/>
                </a:solidFill>
                <a:latin typeface="Arial" pitchFamily="34" charset="0"/>
                <a:ea typeface="Arial" pitchFamily="34" charset="-122"/>
                <a:cs typeface="Arial" pitchFamily="34" charset="-120"/>
              </a:rPr>
              <a:t>Rear reclines to 137° on a zero-gravity cloud leg rest. Massage in six modes at three intensities. 17.3" ceiling screen.</a:t>
            </a:r>
            <a:endParaRPr lang="en-US" sz="900" dirty="0"/>
          </a:p>
        </p:txBody>
      </p:sp>
      <p:sp>
        <p:nvSpPr>
          <p:cNvPr id="54" name="Shape 52"/>
          <p:cNvSpPr/>
          <p:nvPr/>
        </p:nvSpPr>
        <p:spPr>
          <a:xfrm>
            <a:off x="23225760" y="7205472"/>
            <a:ext cx="21945600" cy="12802"/>
          </a:xfrm>
          <a:prstGeom prst="rect">
            <a:avLst/>
          </a:prstGeom>
          <a:solidFill>
            <a:srgbClr val="23262B"/>
          </a:solidFill>
          <a:ln w="12700">
            <a:solidFill>
              <a:srgbClr val="333333"/>
            </a:solidFill>
            <a:prstDash val="solid"/>
          </a:ln>
        </p:spPr>
      </p:sp>
      <p:sp>
        <p:nvSpPr>
          <p:cNvPr id="55" name="Text 53"/>
          <p:cNvSpPr txBox="1"/>
          <p:nvPr/>
        </p:nvSpPr>
        <p:spPr>
          <a:xfrm>
            <a:off x="23225760" y="7388352"/>
            <a:ext cx="5486400" cy="365760"/>
          </a:xfrm>
          <a:prstGeom prst="rect">
            <a:avLst/>
          </a:prstGeom>
          <a:noFill/>
          <a:ln/>
        </p:spPr>
        <p:txBody>
          <a:bodyPr wrap="square" lIns="0" tIns="0" rIns="0" bIns="0" rtlCol="0" anchor="t"/>
          <a:lstStyle/>
          <a:p>
            <a:pPr indent="0" marL="0">
              <a:buNone/>
            </a:pPr>
            <a:r>
              <a:rPr lang="en-US" sz="2000" dirty="0">
                <a:solidFill>
                  <a:srgbClr val="F4F2EE"/>
                </a:solidFill>
                <a:latin typeface="Cambria" pitchFamily="34" charset="0"/>
                <a:ea typeface="Cambria" pitchFamily="34" charset="-122"/>
                <a:cs typeface="Cambria" pitchFamily="34" charset="-120"/>
              </a:rPr>
              <a:t>¥250k +</a:t>
            </a:r>
            <a:endParaRPr lang="en-US" sz="2000" dirty="0"/>
          </a:p>
        </p:txBody>
      </p:sp>
      <p:sp>
        <p:nvSpPr>
          <p:cNvPr id="56" name="Text 54"/>
          <p:cNvSpPr txBox="1"/>
          <p:nvPr/>
        </p:nvSpPr>
        <p:spPr>
          <a:xfrm>
            <a:off x="28895040" y="7498080"/>
            <a:ext cx="16276320" cy="201168"/>
          </a:xfrm>
          <a:prstGeom prst="rect">
            <a:avLst/>
          </a:prstGeom>
          <a:noFill/>
          <a:ln/>
        </p:spPr>
        <p:txBody>
          <a:bodyPr wrap="square" lIns="0" tIns="0" rIns="0" bIns="0" rtlCol="0" anchor="t"/>
          <a:lstStyle/>
          <a:p>
            <a:pPr algn="r" indent="0" marL="0">
              <a:buNone/>
            </a:pPr>
            <a:r>
              <a:rPr lang="en-US" sz="840" b="1" spc="80" kern="0" dirty="0">
                <a:solidFill>
                  <a:srgbClr val="C4AC7A"/>
                </a:solidFill>
                <a:latin typeface="Arial" pitchFamily="34" charset="0"/>
                <a:ea typeface="Arial" pitchFamily="34" charset="-122"/>
                <a:cs typeface="Arial" pitchFamily="34" charset="-120"/>
              </a:rPr>
              <a:t>HYPTEC HL  ·  A800</a:t>
            </a:r>
            <a:endParaRPr lang="en-US" sz="840" dirty="0"/>
          </a:p>
        </p:txBody>
      </p:sp>
      <p:sp>
        <p:nvSpPr>
          <p:cNvPr id="57" name="Text 55"/>
          <p:cNvSpPr txBox="1"/>
          <p:nvPr/>
        </p:nvSpPr>
        <p:spPr>
          <a:xfrm>
            <a:off x="23225760" y="7863840"/>
            <a:ext cx="21945600" cy="402336"/>
          </a:xfrm>
          <a:prstGeom prst="rect">
            <a:avLst/>
          </a:prstGeom>
          <a:noFill/>
          <a:ln/>
        </p:spPr>
        <p:txBody>
          <a:bodyPr wrap="square" lIns="0" tIns="0" rIns="0" bIns="0" rtlCol="0" anchor="t"/>
          <a:lstStyle/>
          <a:p>
            <a:pPr indent="0" marL="0">
              <a:lnSpc>
                <a:spcPct val="114000"/>
              </a:lnSpc>
              <a:buNone/>
            </a:pPr>
            <a:r>
              <a:rPr lang="en-US" sz="900" dirty="0">
                <a:solidFill>
                  <a:srgbClr val="C6C9CE"/>
                </a:solidFill>
                <a:latin typeface="Arial" pitchFamily="34" charset="0"/>
                <a:ea typeface="Arial" pitchFamily="34" charset="-122"/>
                <a:cs typeface="Arial" pitchFamily="34" charset="-120"/>
              </a:rPr>
              <a:t>2+2+2, captain chairs, 18-point massage, 12-way power, zero-gravity at 127.5°. At the A800: 27" W-HUD, 6,536 mm ambient run, ANC, L3 on the highway.</a:t>
            </a:r>
            <a:endParaRPr lang="en-US" sz="900" dirty="0"/>
          </a:p>
        </p:txBody>
      </p:sp>
      <p:sp>
        <p:nvSpPr>
          <p:cNvPr id="58" name="Shape 56"/>
          <p:cNvSpPr/>
          <p:nvPr/>
        </p:nvSpPr>
        <p:spPr>
          <a:xfrm>
            <a:off x="548640" y="8814816"/>
            <a:ext cx="44622720" cy="12802"/>
          </a:xfrm>
          <a:prstGeom prst="rect">
            <a:avLst/>
          </a:prstGeom>
          <a:solidFill>
            <a:srgbClr val="3A3F47"/>
          </a:solidFill>
          <a:ln w="12700">
            <a:solidFill>
              <a:srgbClr val="333333"/>
            </a:solidFill>
            <a:prstDash val="solid"/>
          </a:ln>
        </p:spPr>
      </p:sp>
      <p:sp>
        <p:nvSpPr>
          <p:cNvPr id="59" name="Text 57"/>
          <p:cNvSpPr txBox="1"/>
          <p:nvPr/>
        </p:nvSpPr>
        <p:spPr>
          <a:xfrm>
            <a:off x="548640" y="8997696"/>
            <a:ext cx="44622720" cy="118872"/>
          </a:xfrm>
          <a:prstGeom prst="rect">
            <a:avLst/>
          </a:prstGeom>
          <a:noFill/>
          <a:ln/>
        </p:spPr>
        <p:txBody>
          <a:bodyPr wrap="square" lIns="0" tIns="0" rIns="0" bIns="0" rtlCol="0" anchor="t"/>
          <a:lstStyle/>
          <a:p>
            <a:pPr indent="0" marL="0">
              <a:buNone/>
            </a:pPr>
            <a:r>
              <a:rPr lang="en-US" sz="680" b="1" spc="140" kern="0" dirty="0">
                <a:solidFill>
                  <a:srgbClr val="C4AC7A"/>
                </a:solidFill>
                <a:latin typeface="Arial" pitchFamily="34" charset="0"/>
                <a:ea typeface="Arial" pitchFamily="34" charset="-122"/>
                <a:cs typeface="Arial" pitchFamily="34" charset="-120"/>
              </a:rPr>
              <a:t>WHAT WE TAKE FROM IT</a:t>
            </a:r>
            <a:endParaRPr lang="en-US" sz="680" dirty="0"/>
          </a:p>
        </p:txBody>
      </p:sp>
      <p:sp>
        <p:nvSpPr>
          <p:cNvPr id="60" name="Text 58"/>
          <p:cNvSpPr txBox="1"/>
          <p:nvPr/>
        </p:nvSpPr>
        <p:spPr>
          <a:xfrm>
            <a:off x="548640" y="9217152"/>
            <a:ext cx="14325600" cy="274320"/>
          </a:xfrm>
          <a:prstGeom prst="rect">
            <a:avLst/>
          </a:prstGeom>
          <a:noFill/>
          <a:ln/>
        </p:spPr>
        <p:txBody>
          <a:bodyPr wrap="square" lIns="0" tIns="0" rIns="0" bIns="0" rtlCol="0" anchor="t"/>
          <a:lstStyle/>
          <a:p>
            <a:pPr indent="0" marL="0">
              <a:buNone/>
            </a:pPr>
            <a:r>
              <a:rPr lang="en-US" sz="1500" dirty="0">
                <a:solidFill>
                  <a:srgbClr val="F4F2EE"/>
                </a:solidFill>
                <a:latin typeface="Cambria" pitchFamily="34" charset="0"/>
                <a:ea typeface="Cambria" pitchFamily="34" charset="-122"/>
                <a:cs typeface="Cambria" pitchFamily="34" charset="-120"/>
              </a:rPr>
              <a:t>Colour is the model year.</a:t>
            </a:r>
            <a:endParaRPr lang="en-US" sz="1500" dirty="0"/>
          </a:p>
        </p:txBody>
      </p:sp>
      <p:sp>
        <p:nvSpPr>
          <p:cNvPr id="61" name="Text 59"/>
          <p:cNvSpPr txBox="1"/>
          <p:nvPr/>
        </p:nvSpPr>
        <p:spPr>
          <a:xfrm>
            <a:off x="548640" y="9582912"/>
            <a:ext cx="14325600" cy="566928"/>
          </a:xfrm>
          <a:prstGeom prst="rect">
            <a:avLst/>
          </a:prstGeom>
          <a:noFill/>
          <a:ln/>
        </p:spPr>
        <p:txBody>
          <a:bodyPr wrap="square" lIns="0" tIns="0" rIns="0" bIns="0" rtlCol="0" anchor="t"/>
          <a:lstStyle/>
          <a:p>
            <a:pPr indent="0" marL="0">
              <a:lnSpc>
                <a:spcPct val="116000"/>
              </a:lnSpc>
              <a:buNone/>
            </a:pPr>
            <a:r>
              <a:rPr lang="en-US" sz="880" dirty="0">
                <a:solidFill>
                  <a:srgbClr val="9DA1A8"/>
                </a:solidFill>
                <a:latin typeface="Arial" pitchFamily="34" charset="0"/>
                <a:ea typeface="Arial" pitchFamily="34" charset="-122"/>
                <a:cs typeface="Arial" pitchFamily="34" charset="-120"/>
              </a:rPr>
              <a:t>AION ships three named cabin themes per car, so a CMF change does the work a facelift used to — cheap, fast, visible in a showroom photograph. Our colourways have no names and no launch moment. Give them both.</a:t>
            </a:r>
            <a:endParaRPr lang="en-US" sz="880" dirty="0"/>
          </a:p>
        </p:txBody>
      </p:sp>
      <p:sp>
        <p:nvSpPr>
          <p:cNvPr id="62" name="Text 60"/>
          <p:cNvSpPr txBox="1"/>
          <p:nvPr/>
        </p:nvSpPr>
        <p:spPr>
          <a:xfrm>
            <a:off x="15697200" y="9217152"/>
            <a:ext cx="14325600" cy="274320"/>
          </a:xfrm>
          <a:prstGeom prst="rect">
            <a:avLst/>
          </a:prstGeom>
          <a:noFill/>
          <a:ln/>
        </p:spPr>
        <p:txBody>
          <a:bodyPr wrap="square" lIns="0" tIns="0" rIns="0" bIns="0" rtlCol="0" anchor="t"/>
          <a:lstStyle/>
          <a:p>
            <a:pPr indent="0" marL="0">
              <a:buNone/>
            </a:pPr>
            <a:r>
              <a:rPr lang="en-US" sz="1500" dirty="0">
                <a:solidFill>
                  <a:srgbClr val="F4F2EE"/>
                </a:solidFill>
                <a:latin typeface="Cambria" pitchFamily="34" charset="0"/>
                <a:ea typeface="Cambria" pitchFamily="34" charset="-122"/>
                <a:cs typeface="Cambria" pitchFamily="34" charset="-120"/>
              </a:rPr>
              <a:t>Comfort moved down a segment.</a:t>
            </a:r>
            <a:endParaRPr lang="en-US" sz="1500" dirty="0"/>
          </a:p>
        </p:txBody>
      </p:sp>
      <p:sp>
        <p:nvSpPr>
          <p:cNvPr id="63" name="Text 61"/>
          <p:cNvSpPr txBox="1"/>
          <p:nvPr/>
        </p:nvSpPr>
        <p:spPr>
          <a:xfrm>
            <a:off x="15697200" y="9582912"/>
            <a:ext cx="14325600" cy="566928"/>
          </a:xfrm>
          <a:prstGeom prst="rect">
            <a:avLst/>
          </a:prstGeom>
          <a:noFill/>
          <a:ln/>
        </p:spPr>
        <p:txBody>
          <a:bodyPr wrap="square" lIns="0" tIns="0" rIns="0" bIns="0" rtlCol="0" anchor="t"/>
          <a:lstStyle/>
          <a:p>
            <a:pPr indent="0" marL="0">
              <a:lnSpc>
                <a:spcPct val="116000"/>
              </a:lnSpc>
              <a:buNone/>
            </a:pPr>
            <a:r>
              <a:rPr lang="en-US" sz="880" dirty="0">
                <a:solidFill>
                  <a:srgbClr val="9DA1A8"/>
                </a:solidFill>
                <a:latin typeface="Arial" pitchFamily="34" charset="0"/>
                <a:ea typeface="Arial" pitchFamily="34" charset="-122"/>
                <a:cs typeface="Arial" pitchFamily="34" charset="-120"/>
              </a:rPr>
              <a:t>Zero-gravity seating and massage crossed below ¥130k in April 2026 — the AION N60 at ¥109,800, with LiDAR standard. Every comfort assumption under ¥150k has to be re-baselined against that car, not last year's segment.</a:t>
            </a:r>
            <a:endParaRPr lang="en-US" sz="880" dirty="0"/>
          </a:p>
        </p:txBody>
      </p:sp>
      <p:sp>
        <p:nvSpPr>
          <p:cNvPr id="64" name="Text 62"/>
          <p:cNvSpPr txBox="1"/>
          <p:nvPr/>
        </p:nvSpPr>
        <p:spPr>
          <a:xfrm>
            <a:off x="30845760" y="9217152"/>
            <a:ext cx="14325600" cy="274320"/>
          </a:xfrm>
          <a:prstGeom prst="rect">
            <a:avLst/>
          </a:prstGeom>
          <a:noFill/>
          <a:ln/>
        </p:spPr>
        <p:txBody>
          <a:bodyPr wrap="square" lIns="0" tIns="0" rIns="0" bIns="0" rtlCol="0" anchor="t"/>
          <a:lstStyle/>
          <a:p>
            <a:pPr indent="0" marL="0">
              <a:buNone/>
            </a:pPr>
            <a:r>
              <a:rPr lang="en-US" sz="1500" dirty="0">
                <a:solidFill>
                  <a:srgbClr val="F4F2EE"/>
                </a:solidFill>
                <a:latin typeface="Cambria" pitchFamily="34" charset="0"/>
                <a:ea typeface="Cambria" pitchFamily="34" charset="-122"/>
                <a:cs typeface="Cambria" pitchFamily="34" charset="-120"/>
              </a:rPr>
              <a:t>Above ¥170k, the second row is the product.</a:t>
            </a:r>
            <a:endParaRPr lang="en-US" sz="1500" dirty="0"/>
          </a:p>
        </p:txBody>
      </p:sp>
      <p:sp>
        <p:nvSpPr>
          <p:cNvPr id="65" name="Text 63"/>
          <p:cNvSpPr txBox="1"/>
          <p:nvPr/>
        </p:nvSpPr>
        <p:spPr>
          <a:xfrm>
            <a:off x="30845760" y="9582912"/>
            <a:ext cx="14325600" cy="566928"/>
          </a:xfrm>
          <a:prstGeom prst="rect">
            <a:avLst/>
          </a:prstGeom>
          <a:noFill/>
          <a:ln/>
        </p:spPr>
        <p:txBody>
          <a:bodyPr wrap="square" lIns="0" tIns="0" rIns="0" bIns="0" rtlCol="0" anchor="t"/>
          <a:lstStyle/>
          <a:p>
            <a:pPr indent="0" marL="0">
              <a:lnSpc>
                <a:spcPct val="116000"/>
              </a:lnSpc>
              <a:buNone/>
            </a:pPr>
            <a:r>
              <a:rPr lang="en-US" sz="880" dirty="0">
                <a:solidFill>
                  <a:srgbClr val="9DA1A8"/>
                </a:solidFill>
                <a:latin typeface="Arial" pitchFamily="34" charset="0"/>
                <a:ea typeface="Arial" pitchFamily="34" charset="-122"/>
                <a:cs typeface="Arial" pitchFamily="34" charset="-120"/>
              </a:rPr>
              <a:t>Every Trumpchi over that line is sold on recline angle, leg rest and a 17.3" ceiling screen. Design the rear seat first and the dashboard second.</a:t>
            </a:r>
            <a:endParaRPr lang="en-US" sz="880" dirty="0"/>
          </a:p>
        </p:txBody>
      </p:sp>
      <p:sp>
        <p:nvSpPr>
          <p:cNvPr id="66" name="Shape 64"/>
          <p:cNvSpPr/>
          <p:nvPr/>
        </p:nvSpPr>
        <p:spPr>
          <a:xfrm>
            <a:off x="548640" y="10643616"/>
            <a:ext cx="44622720" cy="12802"/>
          </a:xfrm>
          <a:prstGeom prst="rect">
            <a:avLst/>
          </a:prstGeom>
          <a:solidFill>
            <a:srgbClr val="23262B"/>
          </a:solidFill>
          <a:ln w="12700">
            <a:solidFill>
              <a:srgbClr val="333333"/>
            </a:solidFill>
            <a:prstDash val="solid"/>
          </a:ln>
        </p:spPr>
      </p:sp>
      <p:sp>
        <p:nvSpPr>
          <p:cNvPr id="67" name="Text 65"/>
          <p:cNvSpPr txBox="1"/>
          <p:nvPr/>
        </p:nvSpPr>
        <p:spPr>
          <a:xfrm>
            <a:off x="548640" y="10771632"/>
            <a:ext cx="44622720" cy="292608"/>
          </a:xfrm>
          <a:prstGeom prst="rect">
            <a:avLst/>
          </a:prstGeom>
          <a:noFill/>
          <a:ln/>
        </p:spPr>
        <p:txBody>
          <a:bodyPr wrap="square" lIns="0" tIns="0" rIns="0" bIns="0" rtlCol="0" anchor="t"/>
          <a:lstStyle/>
          <a:p>
            <a:pPr indent="0" marL="0">
              <a:lnSpc>
                <a:spcPct val="114000"/>
              </a:lnSpc>
              <a:buNone/>
            </a:pPr>
            <a:r>
              <a:rPr lang="en-US" sz="700" dirty="0">
                <a:solidFill>
                  <a:srgbClr val="494E55"/>
                </a:solidFill>
                <a:latin typeface="Arial" pitchFamily="34" charset="0"/>
                <a:ea typeface="Arial" pitchFamily="34" charset="-122"/>
                <a:cs typeface="Arial" pitchFamily="34" charset="-120"/>
              </a:rPr>
              <a:t>Sources as slides 01–02, plus CnEVPost, CarNewsChina, Gasgoo, MarkLines and 36Kr reporting on Auto China 2026 and the Panyu Action reform. Swatch colours are approximations of the published interior themes for layout use — match to a physical sample before any of this enters a specification.</a:t>
            </a:r>
            <a:endParaRPr lang="en-US" sz="7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Slides>
  <Notes>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vt:i4>
      </vt:variant>
    </vt:vector>
  </HeadingPairs>
  <TitlesOfParts>
    <vt:vector size="6" baseType="lpstr">
      <vt:lpstr>Arial</vt:lpstr>
      <vt:lpstr>Calibri</vt:lpstr>
      <vt:lpstr>Office Theme</vt:lpstr>
      <vt:lpstr>Slide 1</vt:lpstr>
      <vt:lpstr>Slide 2</vt:lpstr>
      <vt:lpstr>Slide 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GAC x AION Interior Benchmark</dc:title>
  <dc:subject>PptxGenJS Presentation</dc:subject>
  <dc:creator>Interior Design</dc:creator>
  <cp:lastModifiedBy>Interior Design</cp:lastModifiedBy>
  <cp:revision>1</cp:revision>
  <dcterms:created xsi:type="dcterms:W3CDTF">2026-09-08T08:50:34Z</dcterms:created>
  <dcterms:modified xsi:type="dcterms:W3CDTF">2026-09-08T08:50:34Z</dcterms:modified>
</cp:coreProperties>
</file>