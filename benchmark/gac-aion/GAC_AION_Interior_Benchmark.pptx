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45720000" cy="11320272"/>
  <p:notesSz cx="11320272" cy="4572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475488"/>
            <a:ext cx="1280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BENCHMARK · GAC GROUP · SEPTEMBER 2026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640080"/>
            <a:ext cx="2926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— the cabins on sale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197864"/>
            <a:ext cx="3108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battery-electric models, read as interiors: screen architecture, materials and colour, seat hardware, and the occupant each cabin is drawn for.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are China MSRP bands in RMB. Image frames are left empty for press photography.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1089600" y="566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74,100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31089600" y="969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retail, Q1 2026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+57.3% year on year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4838640" y="566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+62.5%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34838640" y="969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 alone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38,000+ units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8587680" y="566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14.6"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38587680" y="969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centre-screen floor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across the range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2336720" y="566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2336720" y="969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colours, standard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almost everything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682496"/>
            <a:ext cx="27432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 →  CORE  —  “FASHIONABLE, INTELLIGENT, REASSURING” · SOLD ON COLOUR AND ONE BIG TILE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8640" y="184708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2029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UT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65892" y="2066544"/>
            <a:ext cx="608076" cy="182880"/>
          </a:xfrm>
          <a:prstGeom prst="roundRect">
            <a:avLst>
              <a:gd name="adj" fmla="val 50000"/>
            </a:avLst>
          </a:prstGeom>
          <a:solidFill>
            <a:srgbClr val="A9A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65892" y="2098548"/>
            <a:ext cx="6080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237744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B-segment hatch · BEV · China ≈¥70–105k · 4,270 mm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4672" y="265176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04672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38544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971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38544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3971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396392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UT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42382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¾ from the driver door — cream or dusky pink trim on doors and dash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181344" y="564184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265176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278892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14.6" centre tile with an 8.8" driver cluster. Climate, mirrors and driver aids all live in the tile — almost no physical switchgear survives.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34747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36118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upholstery in cream or dusky pink, carried up onto the door cards and the dash. Padded dash top; soft-touch continues to the rear door cards.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42976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44348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adjustment, no comfort electronics. The party trick is that every seat folds into a full-length flat bed.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7040880" y="51206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52578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First-car urban buyer, 22–28. Colour is the product — they choose the cabin before they choose the car.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1795760" y="184708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2051792" y="2029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RT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21968460" y="2066544"/>
            <a:ext cx="452628" cy="182880"/>
          </a:xfrm>
          <a:prstGeom prst="roundRect">
            <a:avLst>
              <a:gd name="adj" fmla="val 50000"/>
            </a:avLst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1968460" y="2098548"/>
            <a:ext cx="4526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12051792" y="237744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fastback sedan · BEV · ¥85.8–123.8k · 4,865 / 2,775 mm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2051792" y="265176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2051792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05179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85664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08683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051792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05179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885664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08683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2051792" y="396392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RT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2508992" y="42382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straight on, plus a close-up of the suede seat facing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17428464" y="564184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18288000" y="265176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18288000" y="278892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14.6" centre + 8.8" cluster. Minimalist, function-first surfacing — the dash reads as one horizontal plane.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18288000" y="34747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18288000" y="36118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leather-wrap on every high-contact surface; suede-finished “zero-pressure” seats. The brand does not name this colourway.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18288000" y="42976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62" name="Text 60"/>
          <p:cNvSpPr txBox="1"/>
          <p:nvPr/>
        </p:nvSpPr>
        <p:spPr>
          <a:xfrm>
            <a:off x="18288000" y="44348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Suede zero-pressure seats. Rear knee room quoted at two fists behind a 175 cm driver.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18288000" y="51206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18288000" y="52578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Value-led tech buyer cross-shopping a Model 3. Wants the sparse cabin, not the luxury cues.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3042880" y="184708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3298912" y="2029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Y PLUS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33215580" y="2066544"/>
            <a:ext cx="452628" cy="182880"/>
          </a:xfrm>
          <a:prstGeom prst="roundRect">
            <a:avLst>
              <a:gd name="adj" fmla="val 50000"/>
            </a:avLst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3215580" y="2098548"/>
            <a:ext cx="4526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700" dirty="0"/>
          </a:p>
        </p:txBody>
      </p:sp>
      <p:sp>
        <p:nvSpPr>
          <p:cNvPr id="69" name="Text 67"/>
          <p:cNvSpPr txBox="1"/>
          <p:nvPr/>
        </p:nvSpPr>
        <p:spPr>
          <a:xfrm>
            <a:off x="23298912" y="237744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SUV · BEV · ¥99.8–153.8k · refreshed 2025 · CLTC up to 610 km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298912" y="265176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23298912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29891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132784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33395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298912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29891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132784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933395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3298912" y="396392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Y PLUS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23756112" y="42382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cabin theme — screen rotated to portrait, then to landscape</a:t>
            </a:r>
            <a:endParaRPr 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28675584" y="564184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82" name="Text 80"/>
          <p:cNvSpPr txBox="1"/>
          <p:nvPr/>
        </p:nvSpPr>
        <p:spPr>
          <a:xfrm>
            <a:off x="29535120" y="265176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83" name="Text 81"/>
          <p:cNvSpPr txBox="1"/>
          <p:nvPr/>
        </p:nvSpPr>
        <p:spPr>
          <a:xfrm>
            <a:off x="29535120" y="278892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14.6" rotating centre screen, switching between portrait and landscape on demand.</a:t>
            </a:r>
            <a:endParaRPr 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29535120" y="34747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85" name="Text 83"/>
          <p:cNvSpPr txBox="1"/>
          <p:nvPr/>
        </p:nvSpPr>
        <p:spPr>
          <a:xfrm>
            <a:off x="29535120" y="36118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Vegan leather. The green cabin theme is briefed as “healing” relief from urban stress — the clearest colour-as-message case anywhere in the range.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29535120" y="42976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87" name="Text 85"/>
          <p:cNvSpPr txBox="1"/>
          <p:nvPr/>
        </p:nvSpPr>
        <p:spPr>
          <a:xfrm>
            <a:off x="29535120" y="44348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Comfort-led, no massage. Wireless charging pad that actually holds a phone through a corner.</a:t>
            </a:r>
            <a:endParaRPr 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29535120" y="51206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89" name="Text 87"/>
          <p:cNvSpPr txBox="1"/>
          <p:nvPr/>
        </p:nvSpPr>
        <p:spPr>
          <a:xfrm>
            <a:off x="29535120" y="52578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family buying their first EV. Space per yuan is the pitch; the colour is what closes it.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4290000" y="184708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34546032" y="2029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N60</a:t>
            </a:r>
            <a:endParaRPr lang="en-US" sz="1700" dirty="0"/>
          </a:p>
        </p:txBody>
      </p:sp>
      <p:sp>
        <p:nvSpPr>
          <p:cNvPr id="92" name="Shape 90"/>
          <p:cNvSpPr/>
          <p:nvPr/>
        </p:nvSpPr>
        <p:spPr>
          <a:xfrm>
            <a:off x="44462700" y="2066544"/>
            <a:ext cx="452628" cy="182880"/>
          </a:xfrm>
          <a:prstGeom prst="roundRect">
            <a:avLst>
              <a:gd name="adj" fmla="val 50000"/>
            </a:avLst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44462700" y="2098548"/>
            <a:ext cx="4526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43493436" y="2066544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0B63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3493436" y="2098548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2026</a:t>
            </a:r>
            <a:endParaRPr lang="en-US" sz="700" dirty="0"/>
          </a:p>
        </p:txBody>
      </p:sp>
      <p:sp>
        <p:nvSpPr>
          <p:cNvPr id="96" name="Text 94"/>
          <p:cNvSpPr txBox="1"/>
          <p:nvPr/>
        </p:nvSpPr>
        <p:spPr>
          <a:xfrm>
            <a:off x="34546032" y="237744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SUV · BEV 610 km · ¥109.8–129.8k · 4,615 / 2,775 mm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4546032" y="265176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34546032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454603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0379904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058107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4546032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454603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0379904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058107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4546032" y="396392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N60</a:t>
            </a:r>
            <a:endParaRPr lang="en-US" sz="1100" dirty="0"/>
          </a:p>
        </p:txBody>
      </p:sp>
      <p:sp>
        <p:nvSpPr>
          <p:cNvPr id="107" name="Text 105"/>
          <p:cNvSpPr txBox="1"/>
          <p:nvPr/>
        </p:nvSpPr>
        <p:spPr>
          <a:xfrm>
            <a:off x="35003232" y="42382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named themes side by side; zero-gravity passenger seat reclined</a:t>
            </a:r>
            <a:endParaRPr lang="en-US" sz="850" dirty="0"/>
          </a:p>
        </p:txBody>
      </p:sp>
      <p:sp>
        <p:nvSpPr>
          <p:cNvPr id="108" name="Text 106"/>
          <p:cNvSpPr txBox="1"/>
          <p:nvPr/>
        </p:nvSpPr>
        <p:spPr>
          <a:xfrm>
            <a:off x="39922704" y="564184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109" name="Text 107"/>
          <p:cNvSpPr txBox="1"/>
          <p:nvPr/>
        </p:nvSpPr>
        <p:spPr>
          <a:xfrm>
            <a:off x="40782240" y="265176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110" name="Text 108"/>
          <p:cNvSpPr txBox="1"/>
          <p:nvPr/>
        </p:nvSpPr>
        <p:spPr>
          <a:xfrm>
            <a:off x="40782240" y="278892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15.6" 2.5K single tile on ADiGO 6.0 — AI voice model, Huawei Nebula ecosystem, iOS and Android casting. Cluster deleted.</a:t>
            </a:r>
            <a:endParaRPr lang="en-US" sz="850" dirty="0"/>
          </a:p>
        </p:txBody>
      </p:sp>
      <p:sp>
        <p:nvSpPr>
          <p:cNvPr id="111" name="Text 109"/>
          <p:cNvSpPr txBox="1"/>
          <p:nvPr/>
        </p:nvSpPr>
        <p:spPr>
          <a:xfrm>
            <a:off x="40782240" y="34747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112" name="Text 110"/>
          <p:cNvSpPr txBox="1"/>
          <p:nvPr/>
        </p:nvSpPr>
        <p:spPr>
          <a:xfrm>
            <a:off x="40782240" y="36118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named themes: Soft Light White, Caramel Warm Velvet, Morning Mist Cool Grey. 2.38 m² panoramic roof, 35 stowage points, 447→1,947 L.</a:t>
            </a:r>
            <a:endParaRPr lang="en-US" sz="850" dirty="0"/>
          </a:p>
        </p:txBody>
      </p:sp>
      <p:sp>
        <p:nvSpPr>
          <p:cNvPr id="113" name="Text 111"/>
          <p:cNvSpPr txBox="1"/>
          <p:nvPr/>
        </p:nvSpPr>
        <p:spPr>
          <a:xfrm>
            <a:off x="40782240" y="42976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114" name="Text 112"/>
          <p:cNvSpPr txBox="1"/>
          <p:nvPr/>
        </p:nvSpPr>
        <p:spPr>
          <a:xfrm>
            <a:off x="40782240" y="44348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Zero-gravity front passenger seat as standard. Front heating, ventilation, massage and memory. Rear backrest 117–137°.</a:t>
            </a:r>
            <a:endParaRPr lang="en-US" sz="850" dirty="0"/>
          </a:p>
        </p:txBody>
      </p:sp>
      <p:sp>
        <p:nvSpPr>
          <p:cNvPr id="115" name="Text 113"/>
          <p:cNvSpPr txBox="1"/>
          <p:nvPr/>
        </p:nvSpPr>
        <p:spPr>
          <a:xfrm>
            <a:off x="40782240" y="51206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116" name="Text 114"/>
          <p:cNvSpPr txBox="1"/>
          <p:nvPr/>
        </p:nvSpPr>
        <p:spPr>
          <a:xfrm>
            <a:off x="40782240" y="52578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family — priced at entry, specified like a mid. The car that dragged premium seating below ¥130k, with LiDAR standard.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548640" y="632764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804672" y="6510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i60</a:t>
            </a:r>
            <a:endParaRPr lang="en-US" sz="1700" dirty="0"/>
          </a:p>
        </p:txBody>
      </p:sp>
      <p:sp>
        <p:nvSpPr>
          <p:cNvPr id="119" name="Shape 117"/>
          <p:cNvSpPr/>
          <p:nvPr/>
        </p:nvSpPr>
        <p:spPr>
          <a:xfrm>
            <a:off x="10721340" y="6547104"/>
            <a:ext cx="452628" cy="182880"/>
          </a:xfrm>
          <a:prstGeom prst="roundRect">
            <a:avLst>
              <a:gd name="adj" fmla="val 50000"/>
            </a:avLst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10721340" y="6579108"/>
            <a:ext cx="4526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700" dirty="0"/>
          </a:p>
        </p:txBody>
      </p:sp>
      <p:sp>
        <p:nvSpPr>
          <p:cNvPr id="121" name="Text 119"/>
          <p:cNvSpPr txBox="1"/>
          <p:nvPr/>
        </p:nvSpPr>
        <p:spPr>
          <a:xfrm>
            <a:off x="804672" y="685800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crossover · BEV 650 km / EREV 1,240 km · from ≈¥115.8k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804672" y="713232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>
            <a:off x="804672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467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83971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4672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638544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83971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804672" y="84444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i60</a:t>
            </a:r>
            <a:endParaRPr lang="en-US" sz="1100" dirty="0"/>
          </a:p>
        </p:txBody>
      </p:sp>
      <p:sp>
        <p:nvSpPr>
          <p:cNvPr id="132" name="Text 130"/>
          <p:cNvSpPr txBox="1"/>
          <p:nvPr/>
        </p:nvSpPr>
        <p:spPr>
          <a:xfrm>
            <a:off x="1261872" y="87188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dual-tone split across the IP; front seat cushion structure</a:t>
            </a:r>
            <a:endParaRPr lang="en-US" sz="850" dirty="0"/>
          </a:p>
        </p:txBody>
      </p:sp>
      <p:sp>
        <p:nvSpPr>
          <p:cNvPr id="133" name="Text 131"/>
          <p:cNvSpPr txBox="1"/>
          <p:nvPr/>
        </p:nvSpPr>
        <p:spPr>
          <a:xfrm>
            <a:off x="6181344" y="101224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134" name="Text 132"/>
          <p:cNvSpPr txBox="1"/>
          <p:nvPr/>
        </p:nvSpPr>
        <p:spPr>
          <a:xfrm>
            <a:off x="7040880" y="71323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135" name="Text 133"/>
          <p:cNvSpPr txBox="1"/>
          <p:nvPr/>
        </p:nvSpPr>
        <p:spPr>
          <a:xfrm>
            <a:off x="7040880" y="72694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14.6" on ADiGO 5.0, with GSD highway navigation assist and smart parking.</a:t>
            </a:r>
            <a:endParaRPr lang="en-US" sz="850" dirty="0"/>
          </a:p>
        </p:txBody>
      </p:sp>
      <p:sp>
        <p:nvSpPr>
          <p:cNvPr id="136" name="Text 134"/>
          <p:cNvSpPr txBox="1"/>
          <p:nvPr/>
        </p:nvSpPr>
        <p:spPr>
          <a:xfrm>
            <a:off x="7040880" y="79552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137" name="Text 135"/>
          <p:cNvSpPr txBox="1"/>
          <p:nvPr/>
        </p:nvSpPr>
        <p:spPr>
          <a:xfrm>
            <a:off x="7040880" y="80924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Dual-tone split cabin with 32-colour ambient lighting. Colourway names not published.</a:t>
            </a:r>
            <a:endParaRPr lang="en-US" sz="850" dirty="0"/>
          </a:p>
        </p:txBody>
      </p:sp>
      <p:sp>
        <p:nvSpPr>
          <p:cNvPr id="138" name="Text 136"/>
          <p:cNvSpPr txBox="1"/>
          <p:nvPr/>
        </p:nvSpPr>
        <p:spPr>
          <a:xfrm>
            <a:off x="7040880" y="87782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139" name="Text 137"/>
          <p:cNvSpPr txBox="1"/>
          <p:nvPr/>
        </p:nvSpPr>
        <p:spPr>
          <a:xfrm>
            <a:off x="7040880" y="89154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“Eight-layer comfort sofa” front seats — 8-point massage, ventilation, heating and memory.</a:t>
            </a:r>
            <a:endParaRPr lang="en-US" sz="850" dirty="0"/>
          </a:p>
        </p:txBody>
      </p:sp>
      <p:sp>
        <p:nvSpPr>
          <p:cNvPr id="140" name="Text 138"/>
          <p:cNvSpPr txBox="1"/>
          <p:nvPr/>
        </p:nvSpPr>
        <p:spPr>
          <a:xfrm>
            <a:off x="7040880" y="960120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141" name="Text 139"/>
          <p:cNvSpPr txBox="1"/>
          <p:nvPr/>
        </p:nvSpPr>
        <p:spPr>
          <a:xfrm>
            <a:off x="7040880" y="973836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Range-anxious family buyer. One body, two powertrains, one identical cabin — the interior never tells you which you bought.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11795760" y="632764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12051792" y="6510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V</a:t>
            </a:r>
            <a:endParaRPr lang="en-US" sz="1700" dirty="0"/>
          </a:p>
        </p:txBody>
      </p:sp>
      <p:sp>
        <p:nvSpPr>
          <p:cNvPr id="144" name="Shape 142"/>
          <p:cNvSpPr/>
          <p:nvPr/>
        </p:nvSpPr>
        <p:spPr>
          <a:xfrm>
            <a:off x="21502116" y="6547104"/>
            <a:ext cx="918972" cy="182880"/>
          </a:xfrm>
          <a:prstGeom prst="roundRect">
            <a:avLst>
              <a:gd name="adj" fmla="val 50000"/>
            </a:avLst>
          </a:prstGeom>
          <a:solidFill>
            <a:srgbClr val="3E4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21502116" y="6579108"/>
            <a:ext cx="918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UPPER-MID</a:t>
            </a:r>
            <a:endParaRPr lang="en-US" sz="700" dirty="0"/>
          </a:p>
        </p:txBody>
      </p:sp>
      <p:sp>
        <p:nvSpPr>
          <p:cNvPr id="146" name="Text 144"/>
          <p:cNvSpPr txBox="1"/>
          <p:nvPr/>
        </p:nvSpPr>
        <p:spPr>
          <a:xfrm>
            <a:off x="12051792" y="685800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SUV · BEV · 2nd generation 2024 · the export flagship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12051792" y="713232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>
            <a:off x="12051792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205179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7885664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808683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2051792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205179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7885664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808683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12051792" y="84444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V</a:t>
            </a:r>
            <a:endParaRPr lang="en-US" sz="1100" dirty="0"/>
          </a:p>
        </p:txBody>
      </p:sp>
      <p:sp>
        <p:nvSpPr>
          <p:cNvPr id="157" name="Text 155"/>
          <p:cNvSpPr txBox="1"/>
          <p:nvPr/>
        </p:nvSpPr>
        <p:spPr>
          <a:xfrm>
            <a:off x="12508992" y="87188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standard trim vs the cream / tan leather option, same angle</a:t>
            </a:r>
            <a:endParaRPr lang="en-US" sz="850" dirty="0"/>
          </a:p>
        </p:txBody>
      </p:sp>
      <p:sp>
        <p:nvSpPr>
          <p:cNvPr id="158" name="Text 156"/>
          <p:cNvSpPr txBox="1"/>
          <p:nvPr/>
        </p:nvSpPr>
        <p:spPr>
          <a:xfrm>
            <a:off x="17428464" y="101224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159" name="Text 157"/>
          <p:cNvSpPr txBox="1"/>
          <p:nvPr/>
        </p:nvSpPr>
        <p:spPr>
          <a:xfrm>
            <a:off x="18288000" y="71323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160" name="Text 158"/>
          <p:cNvSpPr txBox="1"/>
          <p:nvPr/>
        </p:nvSpPr>
        <p:spPr>
          <a:xfrm>
            <a:off x="18288000" y="72694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14.6" centre runs climate, mirrors and ADAS settings; the 8.8" cluster is retained.</a:t>
            </a:r>
            <a:endParaRPr lang="en-US" sz="850" dirty="0"/>
          </a:p>
        </p:txBody>
      </p:sp>
      <p:sp>
        <p:nvSpPr>
          <p:cNvPr id="161" name="Text 159"/>
          <p:cNvSpPr txBox="1"/>
          <p:nvPr/>
        </p:nvSpPr>
        <p:spPr>
          <a:xfrm>
            <a:off x="18288000" y="79552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162" name="Text 160"/>
          <p:cNvSpPr txBox="1"/>
          <p:nvPr/>
        </p:nvSpPr>
        <p:spPr>
          <a:xfrm>
            <a:off x="18288000" y="80924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faux leather standard; genuine leather in cream or tan for a small premium. Soft leather-like uppers, well-damped switchgear, 32-colour ambient.</a:t>
            </a:r>
            <a:endParaRPr lang="en-US" sz="850" dirty="0"/>
          </a:p>
        </p:txBody>
      </p:sp>
      <p:sp>
        <p:nvSpPr>
          <p:cNvPr id="163" name="Text 161"/>
          <p:cNvSpPr txBox="1"/>
          <p:nvPr/>
        </p:nvSpPr>
        <p:spPr>
          <a:xfrm>
            <a:off x="18288000" y="87782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164" name="Text 162"/>
          <p:cNvSpPr txBox="1"/>
          <p:nvPr/>
        </p:nvSpPr>
        <p:spPr>
          <a:xfrm>
            <a:off x="18288000" y="89154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Comfort-led. Nine-speaker 360 W audio and a two-metre-plus panoramic roof with a powered blind.</a:t>
            </a:r>
            <a:endParaRPr lang="en-US" sz="850" dirty="0"/>
          </a:p>
        </p:txBody>
      </p:sp>
      <p:sp>
        <p:nvSpPr>
          <p:cNvPr id="165" name="Text 163"/>
          <p:cNvSpPr txBox="1"/>
          <p:nvPr/>
        </p:nvSpPr>
        <p:spPr>
          <a:xfrm>
            <a:off x="18288000" y="960120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166" name="Text 164"/>
          <p:cNvSpPr txBox="1"/>
          <p:nvPr/>
        </p:nvSpPr>
        <p:spPr>
          <a:xfrm>
            <a:off x="18288000" y="973836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 GAC exports. This is the cabin that has to survive European and Australian press scrutiny.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23042880" y="632764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23298912" y="6510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RAY 7</a:t>
            </a:r>
            <a:endParaRPr lang="en-US" sz="1700" dirty="0"/>
          </a:p>
        </p:txBody>
      </p:sp>
      <p:sp>
        <p:nvSpPr>
          <p:cNvPr id="169" name="Shape 167"/>
          <p:cNvSpPr/>
          <p:nvPr/>
        </p:nvSpPr>
        <p:spPr>
          <a:xfrm>
            <a:off x="32904684" y="6547104"/>
            <a:ext cx="763524" cy="182880"/>
          </a:xfrm>
          <a:prstGeom prst="roundRect">
            <a:avLst>
              <a:gd name="adj" fmla="val 50000"/>
            </a:avLst>
          </a:prstGeom>
          <a:solidFill>
            <a:srgbClr val="2B2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32904684" y="6579108"/>
            <a:ext cx="7635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31002732" y="6547104"/>
            <a:ext cx="1773936" cy="182880"/>
          </a:xfrm>
          <a:prstGeom prst="roundRect">
            <a:avLst>
              <a:gd name="adj" fmla="val 50000"/>
            </a:avLst>
          </a:prstGeom>
          <a:solidFill>
            <a:srgbClr val="0B63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31002732" y="6579108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UNVEILED 19 AUG 2026</a:t>
            </a:r>
            <a:endParaRPr lang="en-US" sz="700" dirty="0"/>
          </a:p>
        </p:txBody>
      </p:sp>
      <p:sp>
        <p:nvSpPr>
          <p:cNvPr id="173" name="Text 171"/>
          <p:cNvSpPr txBox="1"/>
          <p:nvPr/>
        </p:nvSpPr>
        <p:spPr>
          <a:xfrm>
            <a:off x="23298912" y="685800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Mid-large fastback · BEV ≈700 km · expected ¥200–250k · 4,960 / 2,920 mm</a:t>
            </a:r>
            <a:endParaRPr lang="en-US" sz="850" dirty="0"/>
          </a:p>
        </p:txBody>
      </p:sp>
      <p:sp>
        <p:nvSpPr>
          <p:cNvPr id="174" name="Shape 172"/>
          <p:cNvSpPr/>
          <p:nvPr/>
        </p:nvSpPr>
        <p:spPr>
          <a:xfrm>
            <a:off x="23298912" y="713232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175" name="Shape 173"/>
          <p:cNvSpPr/>
          <p:nvPr/>
        </p:nvSpPr>
        <p:spPr>
          <a:xfrm>
            <a:off x="23298912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329891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9132784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933395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3298912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329891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9132784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933395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23298912" y="84444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RAY 7</a:t>
            </a:r>
            <a:endParaRPr lang="en-US" sz="1100" dirty="0"/>
          </a:p>
        </p:txBody>
      </p:sp>
      <p:sp>
        <p:nvSpPr>
          <p:cNvPr id="184" name="Text 182"/>
          <p:cNvSpPr txBox="1"/>
          <p:nvPr/>
        </p:nvSpPr>
        <p:spPr>
          <a:xfrm>
            <a:off x="23756112" y="87188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interior frame from the Chengdu unveil — this cabin is the open question</a:t>
            </a:r>
            <a:endParaRPr lang="en-US" sz="850" dirty="0"/>
          </a:p>
        </p:txBody>
      </p:sp>
      <p:sp>
        <p:nvSpPr>
          <p:cNvPr id="185" name="Text 183"/>
          <p:cNvSpPr txBox="1"/>
          <p:nvPr/>
        </p:nvSpPr>
        <p:spPr>
          <a:xfrm>
            <a:off x="28675584" y="101224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186" name="Text 184"/>
          <p:cNvSpPr txBox="1"/>
          <p:nvPr/>
        </p:nvSpPr>
        <p:spPr>
          <a:xfrm>
            <a:off x="29535120" y="71323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187" name="Text 185"/>
          <p:cNvSpPr txBox="1"/>
          <p:nvPr/>
        </p:nvSpPr>
        <p:spPr>
          <a:xfrm>
            <a:off x="29535120" y="72694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disclosed at the unveil. The exterior signature is the new illuminated AION logo inside a full-width star-ring light bar.</a:t>
            </a:r>
            <a:endParaRPr lang="en-US" sz="850" dirty="0"/>
          </a:p>
        </p:txBody>
      </p:sp>
      <p:sp>
        <p:nvSpPr>
          <p:cNvPr id="188" name="Text 186"/>
          <p:cNvSpPr txBox="1"/>
          <p:nvPr/>
        </p:nvSpPr>
        <p:spPr>
          <a:xfrm>
            <a:off x="29535120" y="79552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189" name="Text 187"/>
          <p:cNvSpPr txBox="1"/>
          <p:nvPr/>
        </p:nvSpPr>
        <p:spPr>
          <a:xfrm>
            <a:off x="29535120" y="80924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published. Watch this one: it is the first interior of the post-rebrand AION design language.</a:t>
            </a:r>
            <a:endParaRPr lang="en-US" sz="850" dirty="0"/>
          </a:p>
        </p:txBody>
      </p:sp>
      <p:sp>
        <p:nvSpPr>
          <p:cNvPr id="190" name="Text 188"/>
          <p:cNvSpPr txBox="1"/>
          <p:nvPr/>
        </p:nvSpPr>
        <p:spPr>
          <a:xfrm>
            <a:off x="29535120" y="87782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191" name="Text 189"/>
          <p:cNvSpPr txBox="1"/>
          <p:nvPr/>
        </p:nvSpPr>
        <p:spPr>
          <a:xfrm>
            <a:off x="29535120" y="89154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published.</a:t>
            </a:r>
            <a:endParaRPr lang="en-US" sz="850" dirty="0"/>
          </a:p>
        </p:txBody>
      </p:sp>
      <p:sp>
        <p:nvSpPr>
          <p:cNvPr id="192" name="Text 190"/>
          <p:cNvSpPr txBox="1"/>
          <p:nvPr/>
        </p:nvSpPr>
        <p:spPr>
          <a:xfrm>
            <a:off x="29535120" y="960120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193" name="Text 191"/>
          <p:cNvSpPr txBox="1"/>
          <p:nvPr/>
        </p:nvSpPr>
        <p:spPr>
          <a:xfrm>
            <a:off x="29535120" y="973836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model of the new “Ray” series, aimed squarely at young buyers. Huawei DriveONE 180 kW.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4290000" y="632764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1518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34600896" y="6565392"/>
            <a:ext cx="10259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— one recipe,</a:t>
            </a:r>
            <a:endParaRPr lang="en-US" sz="1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cars</a:t>
            </a:r>
            <a:endParaRPr lang="en-US" sz="1900" dirty="0"/>
          </a:p>
        </p:txBody>
      </p:sp>
      <p:sp>
        <p:nvSpPr>
          <p:cNvPr id="196" name="Text 194"/>
          <p:cNvSpPr txBox="1"/>
          <p:nvPr/>
        </p:nvSpPr>
        <p:spPr>
          <a:xfrm>
            <a:off x="34600896" y="7260336"/>
            <a:ext cx="10259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BOARD ABOVE ADDS UP TO</a:t>
            </a:r>
            <a:endParaRPr lang="en-US" sz="700" dirty="0"/>
          </a:p>
        </p:txBody>
      </p:sp>
      <p:sp>
        <p:nvSpPr>
          <p:cNvPr id="197" name="Text 195"/>
          <p:cNvSpPr txBox="1"/>
          <p:nvPr/>
        </p:nvSpPr>
        <p:spPr>
          <a:xfrm>
            <a:off x="34600896" y="7479792"/>
            <a:ext cx="10259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14.6" is the floor; 15.6" 2.5K is the new step and it deletes the cluster.</a:t>
            </a:r>
            <a:endParaRPr lang="en-US" sz="900" dirty="0"/>
          </a:p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tile runs climate, mirrors and ADAS. The switchgear does not survive.</a:t>
            </a:r>
            <a:endParaRPr lang="en-US" sz="900" dirty="0"/>
          </a:p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32-colour ambient is assumed rather than sold.</a:t>
            </a:r>
            <a:endParaRPr lang="en-US" sz="900" dirty="0"/>
          </a:p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climb PVC → vegan leather → suede with price, in that order.</a:t>
            </a:r>
            <a:endParaRPr lang="en-US" sz="900" dirty="0"/>
          </a:p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Zero-gravity seating and massage crossed below ¥130k in April 2026.</a:t>
            </a:r>
            <a:endParaRPr lang="en-US" sz="900" dirty="0"/>
          </a:p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— cream, dusky pink, caramel, green — does the differentiating that surface form no longer does.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34600896" y="9436608"/>
            <a:ext cx="10259568" cy="5486"/>
          </a:xfrm>
          <a:prstGeom prst="rect">
            <a:avLst/>
          </a:prstGeom>
          <a:solidFill>
            <a:srgbClr val="3A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34600896" y="9601200"/>
            <a:ext cx="10259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 THEM</a:t>
            </a:r>
            <a:endParaRPr lang="en-US" sz="700" dirty="0"/>
          </a:p>
        </p:txBody>
      </p:sp>
      <p:sp>
        <p:nvSpPr>
          <p:cNvPr id="200" name="Text 198"/>
          <p:cNvSpPr txBox="1"/>
          <p:nvPr/>
        </p:nvSpPr>
        <p:spPr>
          <a:xfrm>
            <a:off x="34600896" y="9784080"/>
            <a:ext cx="10259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80" dirty="0">
                <a:solidFill>
                  <a:srgbClr val="9CA2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climate and mirror adjustment is a menu dive. Seven cars share one cabin grammar, so the range reads as a single product offered at seven sizes.</a:t>
            </a:r>
            <a:endParaRPr lang="en-US" sz="880" dirty="0"/>
          </a:p>
        </p:txBody>
      </p:sp>
      <p:sp>
        <p:nvSpPr>
          <p:cNvPr id="201" name="Text 199"/>
          <p:cNvSpPr txBox="1"/>
          <p:nvPr/>
        </p:nvSpPr>
        <p:spPr>
          <a:xfrm>
            <a:off x="548640" y="10771632"/>
            <a:ext cx="4462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frames are intentionally empty — drop press photography in and the layout holds.   ·   Sources: GAC / AION press material and Auto China 2026 releases; CnEVPost; CarNewsChina; Gasgoo; BitAuto; CarExpert, Chasing Cars, What Car?, Electrifying, RACV, zecar. Compiled September 2026. Prices are China MSRP bands and move with promotion. Fields marked “not published” were not found in a primary or reputable secondary source — measure them on the vehicle.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475488"/>
            <a:ext cx="1280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BENCHMARK · GAC GROUP · SEPTEMBER 2026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640080"/>
            <a:ext cx="2926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+ HYPTEC — the cabins on sale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197864"/>
            <a:ext cx="3108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comfort half of the group: six Trumpchi models plus the Hyptec flagship, read the same way. Where AION sells colour, this side of the house sells the second row.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are China MSRP bands in RMB. Image frames are left empty for press photography.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1089600" y="566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92,100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31089600" y="969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retail, Q1 2026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+33.1% year on year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4838640" y="566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137°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34838640" y="969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recline already at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¥170k (Xiangwang S7)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8587680" y="566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38587680" y="969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in collaboration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M8 Xiangwang cabin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2336720" y="566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6,536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2336720" y="969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 of ambient light run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Hyptec A800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682496"/>
            <a:ext cx="3108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 →  FLAGSHIP  —  TRUMPCHI: “FAMILY MOBILITY” · SOLD ON THE SECOND ROW      │      HYPTEC: PREMIUM TECH · THE GROUP'S CEILING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8640" y="184708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2029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GS3 EMZOOM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65892" y="2066544"/>
            <a:ext cx="608076" cy="182880"/>
          </a:xfrm>
          <a:prstGeom prst="roundRect">
            <a:avLst>
              <a:gd name="adj" fmla="val 50000"/>
            </a:avLst>
          </a:prstGeom>
          <a:solidFill>
            <a:srgbClr val="A9A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65892" y="2098548"/>
            <a:ext cx="6080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237744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SUV · 1.5T petrol · the brand's youth entry point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4672" y="265176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04672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38544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971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38544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3971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396392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GS3 EMZOOM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42382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driver-side IP and the sport seat bolster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181344" y="564184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265176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278892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12.3" centre screen — the smallest display anywhere in the group.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34747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36118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32-colour ambient lighting even at the entry point. Driver-focused, sport-flavoured trim with conventional switchgear kept in place.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42976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44348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Sport-bolstered fronts. No comfort electronics at this level.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7040880" y="51206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52578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Under-30 first-car buyer who still wants an engine. The only Trumpchi not sold on rear-seat comfort.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1795760" y="184708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2051792" y="2029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GS8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21968460" y="2066544"/>
            <a:ext cx="452628" cy="182880"/>
          </a:xfrm>
          <a:prstGeom prst="roundRect">
            <a:avLst>
              <a:gd name="adj" fmla="val 50000"/>
            </a:avLst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1968460" y="2098548"/>
            <a:ext cx="4526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12051792" y="237744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7-seat SUV · 2.0T 252 hp / hybrid · from ≈¥159.8k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2051792" y="265176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2051792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05179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85664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08683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051792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05179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885664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08683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2051792" y="396392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GS8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2508992" y="42382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and third rows from the tailgate, folded and upright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17428464" y="564184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18288000" y="265176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18288000" y="278892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sizes are not published in English-language sources — measure these on the car.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18288000" y="34747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18288000" y="36118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twin-display architecture. This is the classic family flagship the whole brand is now being rebuilt around.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18288000" y="42976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62" name="Text 60"/>
          <p:cNvSpPr txBox="1"/>
          <p:nvPr/>
        </p:nvSpPr>
        <p:spPr>
          <a:xfrm>
            <a:off x="18288000" y="44348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2+3+2. The second and third rows are what make the sale.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18288000" y="51206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18288000" y="52578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Three-generation family. Bought on seat count, boot space and running cost, not on screen inches.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3042880" y="184708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3298912" y="2029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XIANGWANG S7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32749236" y="2066544"/>
            <a:ext cx="918972" cy="182880"/>
          </a:xfrm>
          <a:prstGeom prst="roundRect">
            <a:avLst>
              <a:gd name="adj" fmla="val 50000"/>
            </a:avLst>
          </a:prstGeom>
          <a:solidFill>
            <a:srgbClr val="3E4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2749236" y="2098548"/>
            <a:ext cx="918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UPPER-MID</a:t>
            </a:r>
            <a:endParaRPr lang="en-US" sz="700" dirty="0"/>
          </a:p>
        </p:txBody>
      </p:sp>
      <p:sp>
        <p:nvSpPr>
          <p:cNvPr id="69" name="Text 67"/>
          <p:cNvSpPr txBox="1"/>
          <p:nvPr/>
        </p:nvSpPr>
        <p:spPr>
          <a:xfrm>
            <a:off x="23298912" y="237744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PHEV SUV · Mar 2025 · guide ¥209.8–249.8k · 4.90 m, five seats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298912" y="265176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23298912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29891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132784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33395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298912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29891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132784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933395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3298912" y="396392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XIANGWANG S7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23756112" y="42382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seat fully reclined with the leg rest out and the ceiling screen down</a:t>
            </a:r>
            <a:endParaRPr 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28675584" y="564184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82" name="Text 80"/>
          <p:cNvSpPr txBox="1"/>
          <p:nvPr/>
        </p:nvSpPr>
        <p:spPr>
          <a:xfrm>
            <a:off x="29535120" y="265176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83" name="Text 81"/>
          <p:cNvSpPr txBox="1"/>
          <p:nvPr/>
        </p:nvSpPr>
        <p:spPr>
          <a:xfrm>
            <a:off x="29535120" y="278892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8295P on ADiGO 6.0. A 17.3" ceiling-mounted screen folds down for the rear passengers.</a:t>
            </a:r>
            <a:endParaRPr 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29535120" y="34747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85" name="Text 83"/>
          <p:cNvSpPr txBox="1"/>
          <p:nvPr/>
        </p:nvSpPr>
        <p:spPr>
          <a:xfrm>
            <a:off x="29535120" y="36118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light-toned luxury trim. 4.90 m long but only five seats — all the space goes into the second row.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29535120" y="42976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87" name="Text 85"/>
          <p:cNvSpPr txBox="1"/>
          <p:nvPr/>
        </p:nvSpPr>
        <p:spPr>
          <a:xfrm>
            <a:off x="29535120" y="44348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Ventilation, heating and massage: six modes at three intensities. Rear reclines to 137° on a zero-gravity “cloud” leg rest.</a:t>
            </a:r>
            <a:endParaRPr 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29535120" y="51206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89" name="Text 87"/>
          <p:cNvSpPr txBox="1"/>
          <p:nvPr/>
        </p:nvSpPr>
        <p:spPr>
          <a:xfrm>
            <a:off x="29535120" y="52578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 SUV sold on the bench, not on the driver's seat. Buyers who would rather be driven at the weekend.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4290000" y="184708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34546032" y="2029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XIANGWANG S9</a:t>
            </a:r>
            <a:endParaRPr lang="en-US" sz="1700" dirty="0"/>
          </a:p>
        </p:txBody>
      </p:sp>
      <p:sp>
        <p:nvSpPr>
          <p:cNvPr id="92" name="Shape 90"/>
          <p:cNvSpPr/>
          <p:nvPr/>
        </p:nvSpPr>
        <p:spPr>
          <a:xfrm>
            <a:off x="44151804" y="2066544"/>
            <a:ext cx="763524" cy="182880"/>
          </a:xfrm>
          <a:prstGeom prst="roundRect">
            <a:avLst>
              <a:gd name="adj" fmla="val 50000"/>
            </a:avLst>
          </a:prstGeom>
          <a:solidFill>
            <a:srgbClr val="2B2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44151804" y="2098548"/>
            <a:ext cx="7635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700" dirty="0"/>
          </a:p>
        </p:txBody>
      </p:sp>
      <p:sp>
        <p:nvSpPr>
          <p:cNvPr id="94" name="Text 92"/>
          <p:cNvSpPr txBox="1"/>
          <p:nvPr/>
        </p:nvSpPr>
        <p:spPr>
          <a:xfrm>
            <a:off x="34546032" y="237744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Full-size SUV · five- or six-seat · Huawei HarmonySpace cabin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4546032" y="265176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34546032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54603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0379904" y="265176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0581072" y="265176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4546032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454603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379904" y="589788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0581072" y="569671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4546032" y="396392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XIANGWANG S9</a:t>
            </a:r>
            <a:endParaRPr lang="en-US" sz="1100" dirty="0"/>
          </a:p>
        </p:txBody>
      </p:sp>
      <p:sp>
        <p:nvSpPr>
          <p:cNvPr id="105" name="Text 103"/>
          <p:cNvSpPr txBox="1"/>
          <p:nvPr/>
        </p:nvSpPr>
        <p:spPr>
          <a:xfrm>
            <a:off x="35003232" y="42382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six-seat layout — second-row captain chairs with their own console</a:t>
            </a:r>
            <a:endParaRPr lang="en-US" sz="850" dirty="0"/>
          </a:p>
        </p:txBody>
      </p:sp>
      <p:sp>
        <p:nvSpPr>
          <p:cNvPr id="106" name="Text 104"/>
          <p:cNvSpPr txBox="1"/>
          <p:nvPr/>
        </p:nvSpPr>
        <p:spPr>
          <a:xfrm>
            <a:off x="39922704" y="564184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107" name="Text 105"/>
          <p:cNvSpPr txBox="1"/>
          <p:nvPr/>
        </p:nvSpPr>
        <p:spPr>
          <a:xfrm>
            <a:off x="40782240" y="265176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108" name="Text 106"/>
          <p:cNvSpPr txBox="1"/>
          <p:nvPr/>
        </p:nvSpPr>
        <p:spPr>
          <a:xfrm>
            <a:off x="40782240" y="278892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screens in total, with a 12.3" cluster behind the wheel. Huawei HarmonySpace is the cabin backbone; the other diagonals are not published.</a:t>
            </a:r>
            <a:endParaRPr lang="en-US" sz="850" dirty="0"/>
          </a:p>
        </p:txBody>
      </p:sp>
      <p:sp>
        <p:nvSpPr>
          <p:cNvPr id="109" name="Text 107"/>
          <p:cNvSpPr txBox="1"/>
          <p:nvPr/>
        </p:nvSpPr>
        <p:spPr>
          <a:xfrm>
            <a:off x="40782240" y="34747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110" name="Text 108"/>
          <p:cNvSpPr txBox="1"/>
          <p:nvPr/>
        </p:nvSpPr>
        <p:spPr>
          <a:xfrm>
            <a:off x="40782240" y="36118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above the S7. Choosing five or six seats changes the entire second-row architecture, not just the seat count.</a:t>
            </a:r>
            <a:endParaRPr lang="en-US" sz="850" dirty="0"/>
          </a:p>
        </p:txBody>
      </p:sp>
      <p:sp>
        <p:nvSpPr>
          <p:cNvPr id="111" name="Text 109"/>
          <p:cNvSpPr txBox="1"/>
          <p:nvPr/>
        </p:nvSpPr>
        <p:spPr>
          <a:xfrm>
            <a:off x="40782240" y="42976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112" name="Text 110"/>
          <p:cNvSpPr txBox="1"/>
          <p:nvPr/>
        </p:nvSpPr>
        <p:spPr>
          <a:xfrm>
            <a:off x="40782240" y="44348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Six-seat form gets second-row captain chairs that recline and carry their own climate and media controls — a second cockpit, not a bench.</a:t>
            </a:r>
            <a:endParaRPr lang="en-US" sz="850" dirty="0"/>
          </a:p>
        </p:txBody>
      </p:sp>
      <p:sp>
        <p:nvSpPr>
          <p:cNvPr id="113" name="Text 111"/>
          <p:cNvSpPr txBox="1"/>
          <p:nvPr/>
        </p:nvSpPr>
        <p:spPr>
          <a:xfrm>
            <a:off x="40782240" y="51206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114" name="Text 112"/>
          <p:cNvSpPr txBox="1"/>
          <p:nvPr/>
        </p:nvSpPr>
        <p:spPr>
          <a:xfrm>
            <a:off x="40782240" y="52578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GS8 owner trading up, buying the Huawei cabin badge as much as the car.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548640" y="632764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804672" y="6510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E9</a:t>
            </a:r>
            <a:endParaRPr lang="en-US" sz="1700" dirty="0"/>
          </a:p>
        </p:txBody>
      </p:sp>
      <p:sp>
        <p:nvSpPr>
          <p:cNvPr id="117" name="Shape 115"/>
          <p:cNvSpPr/>
          <p:nvPr/>
        </p:nvSpPr>
        <p:spPr>
          <a:xfrm>
            <a:off x="10488168" y="6547104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0488168" y="657910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</a:t>
            </a:r>
            <a:endParaRPr lang="en-US" sz="700" dirty="0"/>
          </a:p>
        </p:txBody>
      </p:sp>
      <p:sp>
        <p:nvSpPr>
          <p:cNvPr id="119" name="Text 117"/>
          <p:cNvSpPr txBox="1"/>
          <p:nvPr/>
        </p:nvSpPr>
        <p:spPr>
          <a:xfrm>
            <a:off x="804672" y="685800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PHEV MPV · 2023 · from ≈US$47k · the Alphard answer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804672" y="713232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804672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467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638544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83971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4672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467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638544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83971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804672" y="84444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E9</a:t>
            </a:r>
            <a:endParaRPr lang="en-US" sz="1100" dirty="0"/>
          </a:p>
        </p:txBody>
      </p:sp>
      <p:sp>
        <p:nvSpPr>
          <p:cNvPr id="130" name="Text 128"/>
          <p:cNvSpPr txBox="1"/>
          <p:nvPr/>
        </p:nvSpPr>
        <p:spPr>
          <a:xfrm>
            <a:off x="1261872" y="87188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second-row armrest touch pad, and the ceiling screen deployed</a:t>
            </a:r>
            <a:endParaRPr lang="en-US" sz="850" dirty="0"/>
          </a:p>
        </p:txBody>
      </p:sp>
      <p:sp>
        <p:nvSpPr>
          <p:cNvPr id="131" name="Text 129"/>
          <p:cNvSpPr txBox="1"/>
          <p:nvPr/>
        </p:nvSpPr>
        <p:spPr>
          <a:xfrm>
            <a:off x="6181344" y="101224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132" name="Text 130"/>
          <p:cNvSpPr txBox="1"/>
          <p:nvPr/>
        </p:nvSpPr>
        <p:spPr>
          <a:xfrm>
            <a:off x="7040880" y="71323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133" name="Text 131"/>
          <p:cNvSpPr txBox="1"/>
          <p:nvPr/>
        </p:nvSpPr>
        <p:spPr>
          <a:xfrm>
            <a:off x="7040880" y="72694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displays: 14.6" centre, 12.3" cluster, 12.3" front passenger and 15.6" in the ceiling.</a:t>
            </a:r>
            <a:endParaRPr lang="en-US" sz="850" dirty="0"/>
          </a:p>
        </p:txBody>
      </p:sp>
      <p:sp>
        <p:nvSpPr>
          <p:cNvPr id="134" name="Text 132"/>
          <p:cNvSpPr txBox="1"/>
          <p:nvPr/>
        </p:nvSpPr>
        <p:spPr>
          <a:xfrm>
            <a:off x="7040880" y="79552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135" name="Text 133"/>
          <p:cNvSpPr txBox="1"/>
          <p:nvPr/>
        </p:nvSpPr>
        <p:spPr>
          <a:xfrm>
            <a:off x="7040880" y="80924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champagne-toned cabin. Control physically moves out of the driver's seat and into the second row.</a:t>
            </a:r>
            <a:endParaRPr lang="en-US" sz="850" dirty="0"/>
          </a:p>
        </p:txBody>
      </p:sp>
      <p:sp>
        <p:nvSpPr>
          <p:cNvPr id="136" name="Text 134"/>
          <p:cNvSpPr txBox="1"/>
          <p:nvPr/>
        </p:nvSpPr>
        <p:spPr>
          <a:xfrm>
            <a:off x="7040880" y="87782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137" name="Text 135"/>
          <p:cNvSpPr txBox="1"/>
          <p:nvPr/>
        </p:nvSpPr>
        <p:spPr>
          <a:xfrm>
            <a:off x="7040880" y="89154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2+2+3 with second-row captain chairs, each carrying its own 5" touch pad in the armrest to drive its own seat.</a:t>
            </a:r>
            <a:endParaRPr lang="en-US" sz="850" dirty="0"/>
          </a:p>
        </p:txBody>
      </p:sp>
      <p:sp>
        <p:nvSpPr>
          <p:cNvPr id="138" name="Text 136"/>
          <p:cNvSpPr txBox="1"/>
          <p:nvPr/>
        </p:nvSpPr>
        <p:spPr>
          <a:xfrm>
            <a:off x="7040880" y="960120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139" name="Text 137"/>
          <p:cNvSpPr txBox="1"/>
          <p:nvPr/>
        </p:nvSpPr>
        <p:spPr>
          <a:xfrm>
            <a:off x="7040880" y="973836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Chauffeur-driven business use, cross-shopped directly against the Toyota Alphard.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11795760" y="632764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12051792" y="6510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M8 XIANGWANG</a:t>
            </a:r>
            <a:endParaRPr lang="en-US" sz="1700" dirty="0"/>
          </a:p>
        </p:txBody>
      </p:sp>
      <p:sp>
        <p:nvSpPr>
          <p:cNvPr id="142" name="Shape 140"/>
          <p:cNvSpPr/>
          <p:nvPr/>
        </p:nvSpPr>
        <p:spPr>
          <a:xfrm>
            <a:off x="21735288" y="6547104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21735288" y="657910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</a:t>
            </a:r>
            <a:endParaRPr lang="en-US" sz="700" dirty="0"/>
          </a:p>
        </p:txBody>
      </p:sp>
      <p:sp>
        <p:nvSpPr>
          <p:cNvPr id="144" name="Text 142"/>
          <p:cNvSpPr txBox="1"/>
          <p:nvPr/>
        </p:nvSpPr>
        <p:spPr>
          <a:xfrm>
            <a:off x="12051792" y="685800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Full-size MPV · 2026 model year · the brand's ceiling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12051792" y="713232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>
            <a:off x="12051792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205179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7885664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808683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2051792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205179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7885664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808683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12051792" y="84444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M8 XIANGWANG</a:t>
            </a:r>
            <a:endParaRPr lang="en-US" sz="1100" dirty="0"/>
          </a:p>
        </p:txBody>
      </p:sp>
      <p:sp>
        <p:nvSpPr>
          <p:cNvPr id="155" name="Text 153"/>
          <p:cNvSpPr txBox="1"/>
          <p:nvPr/>
        </p:nvSpPr>
        <p:spPr>
          <a:xfrm>
            <a:off x="12508992" y="87188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projection at the door; third row powered flat</a:t>
            </a:r>
            <a:endParaRPr lang="en-US" sz="850" dirty="0"/>
          </a:p>
        </p:txBody>
      </p:sp>
      <p:sp>
        <p:nvSpPr>
          <p:cNvPr id="156" name="Text 154"/>
          <p:cNvSpPr txBox="1"/>
          <p:nvPr/>
        </p:nvSpPr>
        <p:spPr>
          <a:xfrm>
            <a:off x="17428464" y="101224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157" name="Text 155"/>
          <p:cNvSpPr txBox="1"/>
          <p:nvPr/>
        </p:nvSpPr>
        <p:spPr>
          <a:xfrm>
            <a:off x="18288000" y="71323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158" name="Text 156"/>
          <p:cNvSpPr txBox="1"/>
          <p:nvPr/>
        </p:nvSpPr>
        <p:spPr>
          <a:xfrm>
            <a:off x="18288000" y="72694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HarmonySpace 5 on a 15.6" centre screen, running seven-screen collaboration across the cabin.</a:t>
            </a:r>
            <a:endParaRPr lang="en-US" sz="850" dirty="0"/>
          </a:p>
        </p:txBody>
      </p:sp>
      <p:sp>
        <p:nvSpPr>
          <p:cNvPr id="159" name="Text 157"/>
          <p:cNvSpPr txBox="1"/>
          <p:nvPr/>
        </p:nvSpPr>
        <p:spPr>
          <a:xfrm>
            <a:off x="18288000" y="79552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160" name="Text 158"/>
          <p:cNvSpPr txBox="1"/>
          <p:nvPr/>
        </p:nvSpPr>
        <p:spPr>
          <a:xfrm>
            <a:off x="18288000" y="80924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 grades are sold by name — Qiankun Max Luxury Cabin, Qiankun Ultra First-Class Cabin — with a welcome projection at the door.</a:t>
            </a:r>
            <a:endParaRPr lang="en-US" sz="850" dirty="0"/>
          </a:p>
        </p:txBody>
      </p:sp>
      <p:sp>
        <p:nvSpPr>
          <p:cNvPr id="161" name="Text 159"/>
          <p:cNvSpPr txBox="1"/>
          <p:nvPr/>
        </p:nvSpPr>
        <p:spPr>
          <a:xfrm>
            <a:off x="18288000" y="87782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162" name="Text 160"/>
          <p:cNvSpPr txBox="1"/>
          <p:nvPr/>
        </p:nvSpPr>
        <p:spPr>
          <a:xfrm>
            <a:off x="18288000" y="89154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Power-adjustable third row in a 2+2+3 layout. Ceremony is engineered here, not implied.</a:t>
            </a:r>
            <a:endParaRPr lang="en-US" sz="850" dirty="0"/>
          </a:p>
        </p:txBody>
      </p:sp>
      <p:sp>
        <p:nvSpPr>
          <p:cNvPr id="163" name="Text 161"/>
          <p:cNvSpPr txBox="1"/>
          <p:nvPr/>
        </p:nvSpPr>
        <p:spPr>
          <a:xfrm>
            <a:off x="18288000" y="960120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164" name="Text 162"/>
          <p:cNvSpPr txBox="1"/>
          <p:nvPr/>
        </p:nvSpPr>
        <p:spPr>
          <a:xfrm>
            <a:off x="18288000" y="973836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travel where the owner sits in row two and the car is part of the meeting.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23042880" y="632764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23298912" y="6510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HYPTEC A800</a:t>
            </a:r>
            <a:endParaRPr lang="en-US" sz="1700" dirty="0"/>
          </a:p>
        </p:txBody>
      </p:sp>
      <p:sp>
        <p:nvSpPr>
          <p:cNvPr id="167" name="Shape 165"/>
          <p:cNvSpPr/>
          <p:nvPr/>
        </p:nvSpPr>
        <p:spPr>
          <a:xfrm>
            <a:off x="32826960" y="6547104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32826960" y="6579108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</a:t>
            </a:r>
            <a:endParaRPr lang="en-US" sz="700" dirty="0"/>
          </a:p>
        </p:txBody>
      </p:sp>
      <p:sp>
        <p:nvSpPr>
          <p:cNvPr id="169" name="Text 167"/>
          <p:cNvSpPr txBox="1"/>
          <p:nvPr/>
        </p:nvSpPr>
        <p:spPr>
          <a:xfrm>
            <a:off x="23298912" y="6858000"/>
            <a:ext cx="10369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EREV sedan · pre-order Dec 2025 · the group's ceiling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23298912" y="7132320"/>
            <a:ext cx="6035040" cy="3246120"/>
          </a:xfrm>
          <a:prstGeom prst="roundRect">
            <a:avLst>
              <a:gd name="adj" fmla="val 563"/>
            </a:avLst>
          </a:prstGeom>
          <a:solidFill>
            <a:srgbClr val="FBFBFA"/>
          </a:solidFill>
          <a:ln w="12700">
            <a:solidFill>
              <a:srgbClr val="D6D4CF"/>
            </a:solidFill>
            <a:prstDash val="dash"/>
          </a:ln>
        </p:spPr>
      </p:sp>
      <p:sp>
        <p:nvSpPr>
          <p:cNvPr id="171" name="Shape 169"/>
          <p:cNvSpPr/>
          <p:nvPr/>
        </p:nvSpPr>
        <p:spPr>
          <a:xfrm>
            <a:off x="23298912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329891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9132784" y="713232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9333952" y="7132320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3298912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329891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9132784" y="10378440"/>
            <a:ext cx="201168" cy="0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9333952" y="10177272"/>
            <a:ext cx="0" cy="201168"/>
          </a:xfrm>
          <a:prstGeom prst="line">
            <a:avLst/>
          </a:prstGeom>
          <a:noFill/>
          <a:ln w="11430">
            <a:solidFill>
              <a:srgbClr val="D5D7DA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23298912" y="84444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HYPTEC A800</a:t>
            </a:r>
            <a:endParaRPr lang="en-US" sz="1100" dirty="0"/>
          </a:p>
        </p:txBody>
      </p:sp>
      <p:sp>
        <p:nvSpPr>
          <p:cNvPr id="180" name="Text 178"/>
          <p:cNvSpPr txBox="1"/>
          <p:nvPr/>
        </p:nvSpPr>
        <p:spPr>
          <a:xfrm>
            <a:off x="23756112" y="87188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wraparound console, and the 27" W-HUD in the driver's eye line</a:t>
            </a:r>
            <a:endParaRPr lang="en-US" sz="850" dirty="0"/>
          </a:p>
        </p:txBody>
      </p:sp>
      <p:sp>
        <p:nvSpPr>
          <p:cNvPr id="181" name="Text 179"/>
          <p:cNvSpPr txBox="1"/>
          <p:nvPr/>
        </p:nvSpPr>
        <p:spPr>
          <a:xfrm>
            <a:off x="28675584" y="101224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D5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en-US" sz="700" dirty="0"/>
          </a:p>
        </p:txBody>
      </p:sp>
      <p:sp>
        <p:nvSpPr>
          <p:cNvPr id="182" name="Text 180"/>
          <p:cNvSpPr txBox="1"/>
          <p:nvPr/>
        </p:nvSpPr>
        <p:spPr>
          <a:xfrm>
            <a:off x="29535120" y="713232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700" dirty="0"/>
          </a:p>
        </p:txBody>
      </p:sp>
      <p:sp>
        <p:nvSpPr>
          <p:cNvPr id="183" name="Text 181"/>
          <p:cNvSpPr txBox="1"/>
          <p:nvPr/>
        </p:nvSpPr>
        <p:spPr>
          <a:xfrm>
            <a:off x="29535120" y="726948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“Interstellar Cockpit”: wraparound console with a 10.25" cluster, 14.6" centre and a 27" W-HUD. HarmonySpace 5 on a flagship Qualcomm chip, 0.3 s response.</a:t>
            </a:r>
            <a:endParaRPr lang="en-US" sz="850" dirty="0"/>
          </a:p>
        </p:txBody>
      </p:sp>
      <p:sp>
        <p:nvSpPr>
          <p:cNvPr id="184" name="Text 182"/>
          <p:cNvSpPr txBox="1"/>
          <p:nvPr/>
        </p:nvSpPr>
        <p:spPr>
          <a:xfrm>
            <a:off x="29535120" y="795528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COLOUR</a:t>
            </a:r>
            <a:endParaRPr lang="en-US" sz="700" dirty="0"/>
          </a:p>
        </p:txBody>
      </p:sp>
      <p:sp>
        <p:nvSpPr>
          <p:cNvPr id="185" name="Text 183"/>
          <p:cNvSpPr txBox="1"/>
          <p:nvPr/>
        </p:nvSpPr>
        <p:spPr>
          <a:xfrm>
            <a:off x="29535120" y="80924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6,536 mm ambient light run — claimed the longest in the world. Seamless wraparound surfacing with active noise cancellation.</a:t>
            </a:r>
            <a:endParaRPr lang="en-US" sz="850" dirty="0"/>
          </a:p>
        </p:txBody>
      </p:sp>
      <p:sp>
        <p:nvSpPr>
          <p:cNvPr id="186" name="Text 184"/>
          <p:cNvSpPr txBox="1"/>
          <p:nvPr/>
        </p:nvSpPr>
        <p:spPr>
          <a:xfrm>
            <a:off x="29535120" y="877824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· COMFORT</a:t>
            </a:r>
            <a:endParaRPr lang="en-US" sz="700" dirty="0"/>
          </a:p>
        </p:txBody>
      </p:sp>
      <p:sp>
        <p:nvSpPr>
          <p:cNvPr id="187" name="Text 185"/>
          <p:cNvSpPr txBox="1"/>
          <p:nvPr/>
        </p:nvSpPr>
        <p:spPr>
          <a:xfrm>
            <a:off x="29535120" y="891540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Eight-way power front seats with three massage modes.</a:t>
            </a:r>
            <a:endParaRPr lang="en-US" sz="850" dirty="0"/>
          </a:p>
        </p:txBody>
      </p:sp>
      <p:sp>
        <p:nvSpPr>
          <p:cNvPr id="188" name="Text 186"/>
          <p:cNvSpPr txBox="1"/>
          <p:nvPr/>
        </p:nvSpPr>
        <p:spPr>
          <a:xfrm>
            <a:off x="29535120" y="9601200"/>
            <a:ext cx="4133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700" dirty="0"/>
          </a:p>
        </p:txBody>
      </p:sp>
      <p:sp>
        <p:nvSpPr>
          <p:cNvPr id="189" name="Text 187"/>
          <p:cNvSpPr txBox="1"/>
          <p:nvPr/>
        </p:nvSpPr>
        <p:spPr>
          <a:xfrm>
            <a:off x="29535120" y="973836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technology early adopter. Huawei Qiankun ADS 4 Ultra, with L3 on the highway.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4290000" y="632764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1518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34600896" y="6565392"/>
            <a:ext cx="10259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+ HYPTEC —</a:t>
            </a:r>
            <a:endParaRPr lang="en-US" sz="1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recipe, seven cars</a:t>
            </a:r>
            <a:endParaRPr lang="en-US" sz="1900" dirty="0"/>
          </a:p>
        </p:txBody>
      </p:sp>
      <p:sp>
        <p:nvSpPr>
          <p:cNvPr id="192" name="Text 190"/>
          <p:cNvSpPr txBox="1"/>
          <p:nvPr/>
        </p:nvSpPr>
        <p:spPr>
          <a:xfrm>
            <a:off x="34600896" y="7260336"/>
            <a:ext cx="10259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E3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BOARD ABOVE ADDS UP TO</a:t>
            </a:r>
            <a:endParaRPr lang="en-US" sz="700" dirty="0"/>
          </a:p>
        </p:txBody>
      </p:sp>
      <p:sp>
        <p:nvSpPr>
          <p:cNvPr id="193" name="Text 191"/>
          <p:cNvSpPr txBox="1"/>
          <p:nvPr/>
        </p:nvSpPr>
        <p:spPr>
          <a:xfrm>
            <a:off x="34600896" y="7479792"/>
            <a:ext cx="10259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is quantified and sold: recline angle, massage modes, screens per seat.</a:t>
            </a:r>
            <a:endParaRPr lang="en-US" sz="900" dirty="0"/>
          </a:p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multiply rather than grow — cluster, centre, passenger, ceiling, armrest.</a:t>
            </a:r>
            <a:endParaRPr lang="en-US" sz="900" dirty="0"/>
          </a:p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 is the cabin brand above ¥200k: HarmonySpace 5 and Qiankun ADS.</a:t>
            </a:r>
            <a:endParaRPr lang="en-US" sz="900" dirty="0"/>
          </a:p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Ceremony does the premium work — welcome projection, named cabin grades.</a:t>
            </a:r>
            <a:endParaRPr lang="en-US" sz="900" dirty="0"/>
          </a:p>
          <a:p>
            <a:pPr marL="127000" indent="-127000">
              <a:lnSpc>
                <a:spcPct val="116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27" W-HUD is the new flagship signature, not a bigger centre screen.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34600896" y="9436608"/>
            <a:ext cx="10259568" cy="5486"/>
          </a:xfrm>
          <a:prstGeom prst="rect">
            <a:avLst/>
          </a:prstGeom>
          <a:solidFill>
            <a:srgbClr val="3A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34600896" y="9601200"/>
            <a:ext cx="10259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E3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 THEM</a:t>
            </a:r>
            <a:endParaRPr lang="en-US" sz="700" dirty="0"/>
          </a:p>
        </p:txBody>
      </p:sp>
      <p:sp>
        <p:nvSpPr>
          <p:cNvPr id="196" name="Text 194"/>
          <p:cNvSpPr txBox="1"/>
          <p:nvPr/>
        </p:nvSpPr>
        <p:spPr>
          <a:xfrm>
            <a:off x="34600896" y="9784080"/>
            <a:ext cx="10259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80" dirty="0">
                <a:solidFill>
                  <a:srgbClr val="9CA2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 identity is increasingly Huawei's rather than Trumpchi's. Below ¥170k the interior story thins out fast — Emzoom and GS8 are a full generation behind their own flagship.</a:t>
            </a:r>
            <a:endParaRPr lang="en-US" sz="880" dirty="0"/>
          </a:p>
        </p:txBody>
      </p:sp>
      <p:sp>
        <p:nvSpPr>
          <p:cNvPr id="197" name="Text 195"/>
          <p:cNvSpPr txBox="1"/>
          <p:nvPr/>
        </p:nvSpPr>
        <p:spPr>
          <a:xfrm>
            <a:off x="548640" y="10771632"/>
            <a:ext cx="4462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frames are intentionally empty — drop press photography in and the layout holds.   ·   Sources: GAC / Trumpchi / Hyptec press material; Auto China 2026 and Auto Guangzhou releases; CarNewsChina; BitAuto; Gasgoo; CnEVPost. Compiled September 2026. Prices are China MSRP bands. Fields marked “not published” were not found in a primary or reputable secondary source — measure them on the vehicle.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475488"/>
            <a:ext cx="1280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BENCHMARK · GAC GROUP · SEPTEMBER 2026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640080"/>
            <a:ext cx="2926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 for us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197864"/>
            <a:ext cx="3108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boards read together: the design doctrines, the CMF and comfort ladders, the occupants GAC is drawing for, and where Changan's cabins actually stand.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47088"/>
            <a:ext cx="1371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DOCTRINE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02536"/>
            <a:ext cx="137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brand believes a cabin 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425696" cy="2231136"/>
          </a:xfrm>
          <a:prstGeom prst="roundRect">
            <a:avLst>
              <a:gd name="adj" fmla="val 1639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2542032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B63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257403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7980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“Fashionable, intelligent, reassuring”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072384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screen, soft surfaces and colour. Design VP Fan Zhang frames it as “the aesthetics of man–machine symbiosis” — adapting to the occupant rather than impressing them.</a:t>
            </a:r>
            <a:endParaRPr lang="en-US" sz="86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675888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MOVES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381304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14.6–15.6" tile · 32-colour ambient · named vegan-leather colourways · flat-fold bed mode · zero-gravity co-pilot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4151376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BUYER SEES FIRST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428853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colourway — seen from the pavement, before the door is opened.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93792" y="2377440"/>
            <a:ext cx="4425696" cy="2231136"/>
          </a:xfrm>
          <a:prstGeom prst="roundRect">
            <a:avLst>
              <a:gd name="adj" fmla="val 1639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13248" y="2542032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B23A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13248" y="2574036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413248" y="27980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“Family mobility”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13248" y="3072384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you can count. The cabin is specified in numbers a buyer can repeat in a showroom: recline angle, massage modes, screens per seat.</a:t>
            </a:r>
            <a:endParaRPr lang="en-US" sz="860" dirty="0"/>
          </a:p>
        </p:txBody>
      </p:sp>
      <p:sp>
        <p:nvSpPr>
          <p:cNvPr id="22" name="Text 20"/>
          <p:cNvSpPr txBox="1"/>
          <p:nvPr/>
        </p:nvSpPr>
        <p:spPr>
          <a:xfrm>
            <a:off x="5413248" y="3675888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MOVES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5413248" y="381304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Second-row captain chairs · zero-gravity leg rests · ceiling screen · welcome projection · Huawei HarmonySpace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413248" y="4151376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BUYER SEES FIRST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428853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row.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838944" y="2377440"/>
            <a:ext cx="4425696" cy="2231136"/>
          </a:xfrm>
          <a:prstGeom prst="roundRect">
            <a:avLst>
              <a:gd name="adj" fmla="val 1639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2542032"/>
            <a:ext cx="1618488" cy="182880"/>
          </a:xfrm>
          <a:prstGeom prst="roundRect">
            <a:avLst>
              <a:gd name="adj" fmla="val 50000"/>
            </a:avLst>
          </a:prstGeom>
          <a:solidFill>
            <a:srgbClr val="2B2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0" y="2574036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HYPTEC · AISTALAND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0" y="27980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tech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3072384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cabin as an instrument. “Organic modernism” on Hyper GT, “Interstellar Cockpit” on the A800. Light and horizon replace trim as the luxury material.</a:t>
            </a:r>
            <a:endParaRPr lang="en-US" sz="86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3675888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MOVES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381304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27" W-HUD · wraparound console · 6,536 mm ambient run · 18-point massage · zero-gravity at 127.5°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4151376"/>
            <a:ext cx="3986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BUYER SEES FIRST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0" y="428853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HUD horizon, before the seat.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8640" y="4718304"/>
            <a:ext cx="13716000" cy="1078992"/>
          </a:xfrm>
          <a:prstGeom prst="roundRect">
            <a:avLst>
              <a:gd name="adj" fmla="val 3390"/>
            </a:avLst>
          </a:prstGeom>
          <a:solidFill>
            <a:srgbClr val="1518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4882896"/>
            <a:ext cx="1316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“Form language lasts for one generation in China.”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5230368"/>
            <a:ext cx="1316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9CA2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Zhang, Vice President of Design, GAC — which is why the group renews cabin architecture on a roughly four-year clock and lets colour, not surface form, carry the model-year difference.</a:t>
            </a:r>
            <a:endParaRPr lang="en-US" sz="84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0" y="1847088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CMF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14630400" y="200253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Colourways actually on sale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14630400" y="23042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swatch below is a shipping option, not a show car. AION names its interiors; Trumpchi names its seats.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4630400" y="265176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F2EFE9"/>
          </a:solidFill>
          <a:ln w="6350">
            <a:solidFill>
              <a:srgbClr val="D9D7D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508224" y="2642616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Light White</a:t>
            </a:r>
            <a:endParaRPr lang="en-US" sz="880" dirty="0"/>
          </a:p>
        </p:txBody>
      </p:sp>
      <p:sp>
        <p:nvSpPr>
          <p:cNvPr id="43" name="Text 41"/>
          <p:cNvSpPr txBox="1"/>
          <p:nvPr/>
        </p:nvSpPr>
        <p:spPr>
          <a:xfrm>
            <a:off x="15508224" y="2798064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N60 · named theme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14630400" y="2980944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9A6A45"/>
          </a:solidFill>
          <a:ln w="6350">
            <a:solidFill>
              <a:srgbClr val="D9D7D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5508224" y="2971800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Caramel Warm Velvet</a:t>
            </a:r>
            <a:endParaRPr lang="en-US" sz="880" dirty="0"/>
          </a:p>
        </p:txBody>
      </p:sp>
      <p:sp>
        <p:nvSpPr>
          <p:cNvPr id="46" name="Text 44"/>
          <p:cNvSpPr txBox="1"/>
          <p:nvPr/>
        </p:nvSpPr>
        <p:spPr>
          <a:xfrm>
            <a:off x="15508224" y="3127248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N60 · named theme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14630400" y="3310128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9BA1A4"/>
          </a:solidFill>
          <a:ln w="6350">
            <a:solidFill>
              <a:srgbClr val="D9D7D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5508224" y="3300984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Mist Cool Grey</a:t>
            </a:r>
            <a:endParaRPr lang="en-US" sz="880" dirty="0"/>
          </a:p>
        </p:txBody>
      </p:sp>
      <p:sp>
        <p:nvSpPr>
          <p:cNvPr id="49" name="Text 47"/>
          <p:cNvSpPr txBox="1"/>
          <p:nvPr/>
        </p:nvSpPr>
        <p:spPr>
          <a:xfrm>
            <a:off x="15508224" y="3456432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N60 · named theme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14630400" y="3639312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E8DFCB"/>
          </a:solidFill>
          <a:ln w="6350">
            <a:solidFill>
              <a:srgbClr val="D9D7D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5508224" y="3630168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880" dirty="0"/>
          </a:p>
        </p:txBody>
      </p:sp>
      <p:sp>
        <p:nvSpPr>
          <p:cNvPr id="52" name="Text 50"/>
          <p:cNvSpPr txBox="1"/>
          <p:nvPr/>
        </p:nvSpPr>
        <p:spPr>
          <a:xfrm>
            <a:off x="15508224" y="3785616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UT seats, doors and dash · AION V option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14630400" y="3968496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CBA0A2"/>
          </a:solidFill>
          <a:ln w="6350">
            <a:solidFill>
              <a:srgbClr val="D9D7D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5508224" y="3959352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Dusky Pink</a:t>
            </a:r>
            <a:endParaRPr lang="en-US" sz="880" dirty="0"/>
          </a:p>
        </p:txBody>
      </p:sp>
      <p:sp>
        <p:nvSpPr>
          <p:cNvPr id="55" name="Text 53"/>
          <p:cNvSpPr txBox="1"/>
          <p:nvPr/>
        </p:nvSpPr>
        <p:spPr>
          <a:xfrm>
            <a:off x="15508224" y="4114800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UT · the boldest shipping colour in the range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14630400" y="429768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8FA98A"/>
          </a:solidFill>
          <a:ln w="6350">
            <a:solidFill>
              <a:srgbClr val="D9D7D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5508224" y="4288536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Green</a:t>
            </a:r>
            <a:endParaRPr lang="en-US" sz="880" dirty="0"/>
          </a:p>
        </p:txBody>
      </p:sp>
      <p:sp>
        <p:nvSpPr>
          <p:cNvPr id="58" name="Text 56"/>
          <p:cNvSpPr txBox="1"/>
          <p:nvPr/>
        </p:nvSpPr>
        <p:spPr>
          <a:xfrm>
            <a:off x="15508224" y="4443984"/>
            <a:ext cx="7808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Y Plus · briefed as urban stress relief</a:t>
            </a:r>
            <a:endParaRPr lang="en-US" sz="760" dirty="0"/>
          </a:p>
        </p:txBody>
      </p:sp>
      <p:sp>
        <p:nvSpPr>
          <p:cNvPr id="59" name="Text 57"/>
          <p:cNvSpPr txBox="1"/>
          <p:nvPr/>
        </p:nvSpPr>
        <p:spPr>
          <a:xfrm>
            <a:off x="14630400" y="46634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shipping: Tan (AION V genuine-leather option) · Suede grey (AION RT zero-pressure seats) · Black faux leather, the standard fit almost everywhere.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14630400" y="4974336"/>
            <a:ext cx="8686800" cy="822960"/>
          </a:xfrm>
          <a:prstGeom prst="roundRect">
            <a:avLst>
              <a:gd name="adj" fmla="val 4444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4849856" y="5120640"/>
            <a:ext cx="8247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</a:t>
            </a:r>
            <a:endParaRPr lang="en-US" sz="700" dirty="0"/>
          </a:p>
        </p:txBody>
      </p:sp>
      <p:sp>
        <p:nvSpPr>
          <p:cNvPr id="62" name="Text 60"/>
          <p:cNvSpPr txBox="1"/>
          <p:nvPr/>
        </p:nvSpPr>
        <p:spPr>
          <a:xfrm>
            <a:off x="14849856" y="5285232"/>
            <a:ext cx="8247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has turned colour into the product. Three named themes per car means a model-year change can be a CMF change — cheap, fast and visible in a showroom photograph. Trumpchi has no equivalent naming discipline and loses that lever entirely.</a:t>
            </a:r>
            <a:endParaRPr lang="en-US" sz="840" dirty="0"/>
          </a:p>
        </p:txBody>
      </p:sp>
      <p:sp>
        <p:nvSpPr>
          <p:cNvPr id="63" name="Text 61"/>
          <p:cNvSpPr txBox="1"/>
          <p:nvPr/>
        </p:nvSpPr>
        <p:spPr>
          <a:xfrm>
            <a:off x="23682960" y="1847088"/>
            <a:ext cx="9509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23682960" y="200253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price step buys</a:t>
            </a:r>
            <a:endParaRPr lang="en-US" sz="1700" dirty="0"/>
          </a:p>
        </p:txBody>
      </p:sp>
      <p:sp>
        <p:nvSpPr>
          <p:cNvPr id="65" name="Shape 63"/>
          <p:cNvSpPr/>
          <p:nvPr/>
        </p:nvSpPr>
        <p:spPr>
          <a:xfrm>
            <a:off x="23682960" y="2386584"/>
            <a:ext cx="73152" cy="347472"/>
          </a:xfrm>
          <a:prstGeom prst="rect">
            <a:avLst/>
          </a:prstGeom>
          <a:solidFill>
            <a:srgbClr val="0B63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3884128" y="23591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¥70–110k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6151840" y="238201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UT</a:t>
            </a:r>
            <a:endParaRPr lang="en-US" sz="780" dirty="0"/>
          </a:p>
        </p:txBody>
      </p:sp>
      <p:sp>
        <p:nvSpPr>
          <p:cNvPr id="68" name="Text 66"/>
          <p:cNvSpPr txBox="1"/>
          <p:nvPr/>
        </p:nvSpPr>
        <p:spPr>
          <a:xfrm>
            <a:off x="23884128" y="2569464"/>
            <a:ext cx="9308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seats, manual recline. The differentiator is a flat-fold bed across the whole cabin, not adjustment.</a:t>
            </a:r>
            <a:endParaRPr lang="en-US" sz="840" dirty="0"/>
          </a:p>
        </p:txBody>
      </p:sp>
      <p:sp>
        <p:nvSpPr>
          <p:cNvPr id="69" name="Shape 67"/>
          <p:cNvSpPr/>
          <p:nvPr/>
        </p:nvSpPr>
        <p:spPr>
          <a:xfrm>
            <a:off x="23682960" y="2770632"/>
            <a:ext cx="9509760" cy="5486"/>
          </a:xfrm>
          <a:prstGeom prst="rect">
            <a:avLst/>
          </a:prstGeom>
          <a:solidFill>
            <a:srgbClr val="E2E1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682960" y="2862072"/>
            <a:ext cx="73152" cy="347472"/>
          </a:xfrm>
          <a:prstGeom prst="rect">
            <a:avLst/>
          </a:prstGeom>
          <a:solidFill>
            <a:srgbClr val="0B63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3884128" y="2834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¥110–130k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6151840" y="285750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N60</a:t>
            </a:r>
            <a:endParaRPr lang="en-US" sz="780" dirty="0"/>
          </a:p>
        </p:txBody>
      </p:sp>
      <p:sp>
        <p:nvSpPr>
          <p:cNvPr id="73" name="Text 71"/>
          <p:cNvSpPr txBox="1"/>
          <p:nvPr/>
        </p:nvSpPr>
        <p:spPr>
          <a:xfrm>
            <a:off x="23884128" y="3044952"/>
            <a:ext cx="9308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Zero-gravity co-pilot seat standard. Front heating, ventilation, massage and memory. Rear backrest 117–137°.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23682960" y="3246120"/>
            <a:ext cx="9509760" cy="5486"/>
          </a:xfrm>
          <a:prstGeom prst="rect">
            <a:avLst/>
          </a:prstGeom>
          <a:solidFill>
            <a:srgbClr val="E2E1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682960" y="3337560"/>
            <a:ext cx="73152" cy="347472"/>
          </a:xfrm>
          <a:prstGeom prst="rect">
            <a:avLst/>
          </a:prstGeom>
          <a:solidFill>
            <a:srgbClr val="0B63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23884128" y="3310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¥115–160k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26151840" y="333298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i60</a:t>
            </a:r>
            <a:endParaRPr lang="en-US" sz="780" dirty="0"/>
          </a:p>
        </p:txBody>
      </p:sp>
      <p:sp>
        <p:nvSpPr>
          <p:cNvPr id="78" name="Text 76"/>
          <p:cNvSpPr txBox="1"/>
          <p:nvPr/>
        </p:nvSpPr>
        <p:spPr>
          <a:xfrm>
            <a:off x="23884128" y="3520440"/>
            <a:ext cx="9308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“Eight-layer comfort sofa” fronts with 8-point massage; dual-tone split and 32-colour ambient.</a:t>
            </a:r>
            <a:endParaRPr lang="en-US" sz="840" dirty="0"/>
          </a:p>
        </p:txBody>
      </p:sp>
      <p:sp>
        <p:nvSpPr>
          <p:cNvPr id="79" name="Shape 77"/>
          <p:cNvSpPr/>
          <p:nvPr/>
        </p:nvSpPr>
        <p:spPr>
          <a:xfrm>
            <a:off x="23682960" y="3721608"/>
            <a:ext cx="9509760" cy="5486"/>
          </a:xfrm>
          <a:prstGeom prst="rect">
            <a:avLst/>
          </a:prstGeom>
          <a:solidFill>
            <a:srgbClr val="E2E1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3682960" y="3813048"/>
            <a:ext cx="73152" cy="347472"/>
          </a:xfrm>
          <a:prstGeom prst="rect">
            <a:avLst/>
          </a:prstGeom>
          <a:solidFill>
            <a:srgbClr val="B23A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23884128" y="3785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¥170–250k</a:t>
            </a:r>
            <a:endParaRPr 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26151840" y="3808476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XIANGWANG S7</a:t>
            </a:r>
            <a:endParaRPr lang="en-US" sz="780" dirty="0"/>
          </a:p>
        </p:txBody>
      </p:sp>
      <p:sp>
        <p:nvSpPr>
          <p:cNvPr id="83" name="Text 81"/>
          <p:cNvSpPr txBox="1"/>
          <p:nvPr/>
        </p:nvSpPr>
        <p:spPr>
          <a:xfrm>
            <a:off x="23884128" y="3995928"/>
            <a:ext cx="9308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reclines to 137° on a zero-gravity cloud leg rest. Massage in six modes at three intensities. 17.3" ceiling screen.</a:t>
            </a:r>
            <a:endParaRPr lang="en-US" sz="840" dirty="0"/>
          </a:p>
        </p:txBody>
      </p:sp>
      <p:sp>
        <p:nvSpPr>
          <p:cNvPr id="84" name="Shape 82"/>
          <p:cNvSpPr/>
          <p:nvPr/>
        </p:nvSpPr>
        <p:spPr>
          <a:xfrm>
            <a:off x="23682960" y="4197096"/>
            <a:ext cx="9509760" cy="5486"/>
          </a:xfrm>
          <a:prstGeom prst="rect">
            <a:avLst/>
          </a:prstGeom>
          <a:solidFill>
            <a:srgbClr val="E2E1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3682960" y="4288536"/>
            <a:ext cx="73152" cy="347472"/>
          </a:xfrm>
          <a:prstGeom prst="rect">
            <a:avLst/>
          </a:prstGeom>
          <a:solidFill>
            <a:srgbClr val="2B2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23884128" y="42611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¥250k +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26151840" y="428396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HYPTEC HL · A800</a:t>
            </a:r>
            <a:endParaRPr lang="en-US" sz="780" dirty="0"/>
          </a:p>
        </p:txBody>
      </p:sp>
      <p:sp>
        <p:nvSpPr>
          <p:cNvPr id="88" name="Text 86"/>
          <p:cNvSpPr txBox="1"/>
          <p:nvPr/>
        </p:nvSpPr>
        <p:spPr>
          <a:xfrm>
            <a:off x="23884128" y="4471416"/>
            <a:ext cx="9308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2+2+2, second-row captain chairs, 18-point massage, 12-way power, zero-gravity at 127.5°. At the A800: 27" W-HUD, 6,536 mm ambient run, ANC, L3 on the highway.</a:t>
            </a:r>
            <a:endParaRPr lang="en-US" sz="840" dirty="0"/>
          </a:p>
        </p:txBody>
      </p:sp>
      <p:sp>
        <p:nvSpPr>
          <p:cNvPr id="89" name="Shape 87"/>
          <p:cNvSpPr/>
          <p:nvPr/>
        </p:nvSpPr>
        <p:spPr>
          <a:xfrm>
            <a:off x="23682960" y="4791456"/>
            <a:ext cx="9509760" cy="1005840"/>
          </a:xfrm>
          <a:prstGeom prst="roundRect">
            <a:avLst>
              <a:gd name="adj" fmla="val 3636"/>
            </a:avLst>
          </a:prstGeom>
          <a:solidFill>
            <a:srgbClr val="1518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3920704" y="4937760"/>
            <a:ext cx="9034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THAT MOVED</a:t>
            </a:r>
            <a:endParaRPr lang="en-US" sz="700" dirty="0"/>
          </a:p>
        </p:txBody>
      </p:sp>
      <p:sp>
        <p:nvSpPr>
          <p:cNvPr id="91" name="Text 89"/>
          <p:cNvSpPr txBox="1"/>
          <p:nvPr/>
        </p:nvSpPr>
        <p:spPr>
          <a:xfrm>
            <a:off x="23920704" y="5084064"/>
            <a:ext cx="9034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Massage and zero-gravity seating crossed below ¥130k in April 2026.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23920704" y="5340096"/>
            <a:ext cx="9034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9CA2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zero-gravity front passenger seat was a ¥250k feature until the AION N60. It now ships on a ¥109,800 compact SUV that also carries LiDAR as standard — so every comfort assumption below ¥150k needs re-baselining against that car.</a:t>
            </a:r>
            <a:endParaRPr lang="en-US" sz="840" dirty="0"/>
          </a:p>
        </p:txBody>
      </p:sp>
      <p:sp>
        <p:nvSpPr>
          <p:cNvPr id="93" name="Text 91"/>
          <p:cNvSpPr txBox="1"/>
          <p:nvPr/>
        </p:nvSpPr>
        <p:spPr>
          <a:xfrm>
            <a:off x="33558480" y="1847088"/>
            <a:ext cx="1161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94" name="Text 92"/>
          <p:cNvSpPr txBox="1"/>
          <p:nvPr/>
        </p:nvSpPr>
        <p:spPr>
          <a:xfrm>
            <a:off x="33558480" y="2002536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strategy, counted</a:t>
            </a:r>
            <a:endParaRPr lang="en-US" sz="1700" dirty="0"/>
          </a:p>
        </p:txBody>
      </p:sp>
      <p:sp>
        <p:nvSpPr>
          <p:cNvPr id="95" name="Text 93"/>
          <p:cNvSpPr txBox="1"/>
          <p:nvPr/>
        </p:nvSpPr>
        <p:spPr>
          <a:xfrm>
            <a:off x="33558480" y="230428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stated display diagonals per car, including head-up, ceiling and armrest screens. Read it as inventory, not as quality.</a:t>
            </a:r>
            <a:endParaRPr lang="en-US" sz="800" dirty="0"/>
          </a:p>
        </p:txBody>
      </p:sp>
      <p:sp>
        <p:nvSpPr>
          <p:cNvPr id="96" name="Text 94"/>
          <p:cNvSpPr txBox="1"/>
          <p:nvPr/>
        </p:nvSpPr>
        <p:spPr>
          <a:xfrm>
            <a:off x="33558480" y="267004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CHANGAN DEEPAL L06</a:t>
            </a:r>
            <a:endParaRPr lang="en-US" sz="820" dirty="0"/>
          </a:p>
        </p:txBody>
      </p:sp>
      <p:sp>
        <p:nvSpPr>
          <p:cNvPr id="97" name="Shape 95"/>
          <p:cNvSpPr/>
          <p:nvPr/>
        </p:nvSpPr>
        <p:spPr>
          <a:xfrm>
            <a:off x="38039040" y="2688336"/>
            <a:ext cx="2827847" cy="137160"/>
          </a:xfrm>
          <a:prstGeom prst="rect">
            <a:avLst/>
          </a:prstGeom>
          <a:solidFill>
            <a:srgbClr val="0F7B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0940039" y="26837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65.6"</a:t>
            </a:r>
            <a:endParaRPr lang="en-US" sz="740" dirty="0"/>
          </a:p>
        </p:txBody>
      </p:sp>
      <p:sp>
        <p:nvSpPr>
          <p:cNvPr id="99" name="Text 97"/>
          <p:cNvSpPr txBox="1"/>
          <p:nvPr/>
        </p:nvSpPr>
        <p:spPr>
          <a:xfrm>
            <a:off x="41148000" y="268376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15.6" adaptive + 50" AR-HUD</a:t>
            </a:r>
            <a:endParaRPr lang="en-US" sz="720" dirty="0"/>
          </a:p>
        </p:txBody>
      </p:sp>
      <p:sp>
        <p:nvSpPr>
          <p:cNvPr id="100" name="Text 98"/>
          <p:cNvSpPr txBox="1"/>
          <p:nvPr/>
        </p:nvSpPr>
        <p:spPr>
          <a:xfrm>
            <a:off x="33558480" y="298094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E9</a:t>
            </a:r>
            <a:endParaRPr lang="en-US" sz="820" dirty="0"/>
          </a:p>
        </p:txBody>
      </p:sp>
      <p:sp>
        <p:nvSpPr>
          <p:cNvPr id="101" name="Shape 99"/>
          <p:cNvSpPr/>
          <p:nvPr/>
        </p:nvSpPr>
        <p:spPr>
          <a:xfrm>
            <a:off x="38039040" y="2999232"/>
            <a:ext cx="2793361" cy="137160"/>
          </a:xfrm>
          <a:prstGeom prst="rect">
            <a:avLst/>
          </a:prstGeom>
          <a:solidFill>
            <a:srgbClr val="B23A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0905553" y="29946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64.8"</a:t>
            </a:r>
            <a:endParaRPr lang="en-US" sz="740" dirty="0"/>
          </a:p>
        </p:txBody>
      </p:sp>
      <p:sp>
        <p:nvSpPr>
          <p:cNvPr id="103" name="Text 101"/>
          <p:cNvSpPr txBox="1"/>
          <p:nvPr/>
        </p:nvSpPr>
        <p:spPr>
          <a:xfrm>
            <a:off x="41148000" y="299466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 + 14.6 + 12.3 + 15.6" ceiling + 2×5" armrest</a:t>
            </a:r>
            <a:endParaRPr lang="en-US" sz="720" dirty="0"/>
          </a:p>
        </p:txBody>
      </p:sp>
      <p:sp>
        <p:nvSpPr>
          <p:cNvPr id="104" name="Text 102"/>
          <p:cNvSpPr txBox="1"/>
          <p:nvPr/>
        </p:nvSpPr>
        <p:spPr>
          <a:xfrm>
            <a:off x="33558480" y="32918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HYPTEC A800</a:t>
            </a:r>
            <a:endParaRPr lang="en-US" sz="820" dirty="0"/>
          </a:p>
        </p:txBody>
      </p:sp>
      <p:sp>
        <p:nvSpPr>
          <p:cNvPr id="105" name="Shape 103"/>
          <p:cNvSpPr/>
          <p:nvPr/>
        </p:nvSpPr>
        <p:spPr>
          <a:xfrm>
            <a:off x="38039040" y="3310128"/>
            <a:ext cx="2235120" cy="137160"/>
          </a:xfrm>
          <a:prstGeom prst="rect">
            <a:avLst/>
          </a:prstGeom>
          <a:solidFill>
            <a:srgbClr val="2B2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40347312" y="330555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2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51.9"</a:t>
            </a:r>
            <a:endParaRPr lang="en-US" sz="740" dirty="0"/>
          </a:p>
        </p:txBody>
      </p:sp>
      <p:sp>
        <p:nvSpPr>
          <p:cNvPr id="107" name="Text 105"/>
          <p:cNvSpPr txBox="1"/>
          <p:nvPr/>
        </p:nvSpPr>
        <p:spPr>
          <a:xfrm>
            <a:off x="41148000" y="33055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10.25 + 14.6 + 27" W-HUD</a:t>
            </a:r>
            <a:endParaRPr lang="en-US" sz="720" dirty="0"/>
          </a:p>
        </p:txBody>
      </p:sp>
      <p:sp>
        <p:nvSpPr>
          <p:cNvPr id="108" name="Text 106"/>
          <p:cNvSpPr txBox="1"/>
          <p:nvPr/>
        </p:nvSpPr>
        <p:spPr>
          <a:xfrm>
            <a:off x="33558480" y="360273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UT / RT / V</a:t>
            </a:r>
            <a:endParaRPr lang="en-US" sz="820" dirty="0"/>
          </a:p>
        </p:txBody>
      </p:sp>
      <p:sp>
        <p:nvSpPr>
          <p:cNvPr id="109" name="Shape 107"/>
          <p:cNvSpPr/>
          <p:nvPr/>
        </p:nvSpPr>
        <p:spPr>
          <a:xfrm>
            <a:off x="38039040" y="3621024"/>
            <a:ext cx="1008714" cy="137160"/>
          </a:xfrm>
          <a:prstGeom prst="rect">
            <a:avLst/>
          </a:prstGeom>
          <a:solidFill>
            <a:srgbClr val="0B63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39120906" y="36164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23.4"</a:t>
            </a:r>
            <a:endParaRPr lang="en-US" sz="740" dirty="0"/>
          </a:p>
        </p:txBody>
      </p:sp>
      <p:sp>
        <p:nvSpPr>
          <p:cNvPr id="111" name="Text 109"/>
          <p:cNvSpPr txBox="1"/>
          <p:nvPr/>
        </p:nvSpPr>
        <p:spPr>
          <a:xfrm>
            <a:off x="41148000" y="36164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8.8" cluster + 14.6" centre</a:t>
            </a:r>
            <a:endParaRPr lang="en-US" sz="720" dirty="0"/>
          </a:p>
        </p:txBody>
      </p:sp>
      <p:sp>
        <p:nvSpPr>
          <p:cNvPr id="112" name="Text 110"/>
          <p:cNvSpPr txBox="1"/>
          <p:nvPr/>
        </p:nvSpPr>
        <p:spPr>
          <a:xfrm>
            <a:off x="33558480" y="39136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XIANGWANG S7</a:t>
            </a:r>
            <a:endParaRPr lang="en-US" sz="820" dirty="0"/>
          </a:p>
        </p:txBody>
      </p:sp>
      <p:sp>
        <p:nvSpPr>
          <p:cNvPr id="113" name="Shape 111"/>
          <p:cNvSpPr/>
          <p:nvPr/>
        </p:nvSpPr>
        <p:spPr>
          <a:xfrm>
            <a:off x="38039040" y="3931920"/>
            <a:ext cx="745759" cy="137160"/>
          </a:xfrm>
          <a:prstGeom prst="rect">
            <a:avLst/>
          </a:prstGeom>
          <a:solidFill>
            <a:srgbClr val="B23A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38857951" y="39273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17.3"</a:t>
            </a:r>
            <a:endParaRPr lang="en-US" sz="740" dirty="0"/>
          </a:p>
        </p:txBody>
      </p:sp>
      <p:sp>
        <p:nvSpPr>
          <p:cNvPr id="115" name="Text 113"/>
          <p:cNvSpPr txBox="1"/>
          <p:nvPr/>
        </p:nvSpPr>
        <p:spPr>
          <a:xfrm>
            <a:off x="41148000" y="39273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17.3" ceiling (dash sizes not published)</a:t>
            </a:r>
            <a:endParaRPr lang="en-US" sz="720" dirty="0"/>
          </a:p>
        </p:txBody>
      </p:sp>
      <p:sp>
        <p:nvSpPr>
          <p:cNvPr id="116" name="Text 114"/>
          <p:cNvSpPr txBox="1"/>
          <p:nvPr/>
        </p:nvSpPr>
        <p:spPr>
          <a:xfrm>
            <a:off x="33558480" y="422452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N60</a:t>
            </a:r>
            <a:endParaRPr lang="en-US" sz="820" dirty="0"/>
          </a:p>
        </p:txBody>
      </p:sp>
      <p:sp>
        <p:nvSpPr>
          <p:cNvPr id="117" name="Shape 115"/>
          <p:cNvSpPr/>
          <p:nvPr/>
        </p:nvSpPr>
        <p:spPr>
          <a:xfrm>
            <a:off x="38039040" y="4242816"/>
            <a:ext cx="672476" cy="137160"/>
          </a:xfrm>
          <a:prstGeom prst="rect">
            <a:avLst/>
          </a:prstGeom>
          <a:solidFill>
            <a:srgbClr val="0B63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8784668" y="42382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15.6"</a:t>
            </a:r>
            <a:endParaRPr lang="en-US" sz="740" dirty="0"/>
          </a:p>
        </p:txBody>
      </p:sp>
      <p:sp>
        <p:nvSpPr>
          <p:cNvPr id="119" name="Text 117"/>
          <p:cNvSpPr txBox="1"/>
          <p:nvPr/>
        </p:nvSpPr>
        <p:spPr>
          <a:xfrm>
            <a:off x="41148000" y="42382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15.6" 2.5K, single tile</a:t>
            </a:r>
            <a:endParaRPr lang="en-US" sz="720" dirty="0"/>
          </a:p>
        </p:txBody>
      </p:sp>
      <p:sp>
        <p:nvSpPr>
          <p:cNvPr id="120" name="Text 118"/>
          <p:cNvSpPr txBox="1"/>
          <p:nvPr/>
        </p:nvSpPr>
        <p:spPr>
          <a:xfrm>
            <a:off x="33558480" y="453542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GS3 EMZOOM</a:t>
            </a:r>
            <a:endParaRPr lang="en-US" sz="820" dirty="0"/>
          </a:p>
        </p:txBody>
      </p:sp>
      <p:sp>
        <p:nvSpPr>
          <p:cNvPr id="121" name="Shape 119"/>
          <p:cNvSpPr/>
          <p:nvPr/>
        </p:nvSpPr>
        <p:spPr>
          <a:xfrm>
            <a:off x="38039040" y="4553712"/>
            <a:ext cx="530221" cy="137160"/>
          </a:xfrm>
          <a:prstGeom prst="rect">
            <a:avLst/>
          </a:prstGeom>
          <a:solidFill>
            <a:srgbClr val="B23A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38642413" y="45491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12.3"</a:t>
            </a:r>
            <a:endParaRPr lang="en-US" sz="740" dirty="0"/>
          </a:p>
        </p:txBody>
      </p:sp>
      <p:sp>
        <p:nvSpPr>
          <p:cNvPr id="123" name="Text 121"/>
          <p:cNvSpPr txBox="1"/>
          <p:nvPr/>
        </p:nvSpPr>
        <p:spPr>
          <a:xfrm>
            <a:off x="41148000" y="45491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12.3" centre only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3558480" y="4937760"/>
            <a:ext cx="11612880" cy="859536"/>
          </a:xfrm>
          <a:prstGeom prst="roundRect">
            <a:avLst>
              <a:gd name="adj" fmla="val 425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33796224" y="5084064"/>
            <a:ext cx="11137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ANSWERS TO THE SAME BRIEF</a:t>
            </a:r>
            <a:endParaRPr lang="en-US" sz="700" dirty="0"/>
          </a:p>
        </p:txBody>
      </p:sp>
      <p:sp>
        <p:nvSpPr>
          <p:cNvPr id="126" name="Text 124"/>
          <p:cNvSpPr txBox="1"/>
          <p:nvPr/>
        </p:nvSpPr>
        <p:spPr>
          <a:xfrm>
            <a:off x="33796224" y="5248656"/>
            <a:ext cx="11137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GAC adds displays — up to seven-screen collaboration in the M8, four physical panels in the E9. Changan's Deepal deletes the cluster and puts the area into projection instead. Both reach a similar total; only one of them keeps the driver's eyes up. That difference is a design position worth defending, not a cost saving to be traded away.</a:t>
            </a:r>
            <a:endParaRPr lang="en-US" sz="840" dirty="0"/>
          </a:p>
        </p:txBody>
      </p:sp>
      <p:sp>
        <p:nvSpPr>
          <p:cNvPr id="127" name="Text 125"/>
          <p:cNvSpPr txBox="1"/>
          <p:nvPr/>
        </p:nvSpPr>
        <p:spPr>
          <a:xfrm>
            <a:off x="548640" y="6053328"/>
            <a:ext cx="2560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OCCUPANTS</a:t>
            </a:r>
            <a:endParaRPr lang="en-US" sz="700" dirty="0"/>
          </a:p>
        </p:txBody>
      </p:sp>
      <p:sp>
        <p:nvSpPr>
          <p:cNvPr id="128" name="Text 126"/>
          <p:cNvSpPr txBox="1"/>
          <p:nvPr/>
        </p:nvSpPr>
        <p:spPr>
          <a:xfrm>
            <a:off x="548640" y="6208776"/>
            <a:ext cx="2560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characters GAC designs for</a:t>
            </a:r>
            <a:endParaRPr lang="en-US" sz="1700" dirty="0"/>
          </a:p>
        </p:txBody>
      </p:sp>
      <p:sp>
        <p:nvSpPr>
          <p:cNvPr id="129" name="Shape 127"/>
          <p:cNvSpPr/>
          <p:nvPr/>
        </p:nvSpPr>
        <p:spPr>
          <a:xfrm>
            <a:off x="548640" y="6565392"/>
            <a:ext cx="4901184" cy="4041648"/>
          </a:xfrm>
          <a:prstGeom prst="roundRect">
            <a:avLst>
              <a:gd name="adj" fmla="val 90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786384" y="674827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</a:t>
            </a:r>
            <a:endParaRPr lang="en-US" sz="1700" dirty="0"/>
          </a:p>
        </p:txBody>
      </p:sp>
      <p:sp>
        <p:nvSpPr>
          <p:cNvPr id="131" name="Text 129"/>
          <p:cNvSpPr txBox="1"/>
          <p:nvPr/>
        </p:nvSpPr>
        <p:spPr>
          <a:xfrm>
            <a:off x="3749040" y="68214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¥70–110k</a:t>
            </a:r>
            <a:endParaRPr lang="en-US" sz="860" dirty="0"/>
          </a:p>
        </p:txBody>
      </p:sp>
      <p:sp>
        <p:nvSpPr>
          <p:cNvPr id="132" name="Text 130"/>
          <p:cNvSpPr txBox="1"/>
          <p:nvPr/>
        </p:nvSpPr>
        <p:spPr>
          <a:xfrm>
            <a:off x="786384" y="7077456"/>
            <a:ext cx="4425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· Guangzhou · first car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786384" y="7315200"/>
            <a:ext cx="608076" cy="182880"/>
          </a:xfrm>
          <a:prstGeom prst="roundRect">
            <a:avLst>
              <a:gd name="adj" fmla="val 50000"/>
            </a:avLst>
          </a:prstGeom>
          <a:solidFill>
            <a:srgbClr val="A9A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786384" y="7347204"/>
            <a:ext cx="6080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786384" y="7607808"/>
            <a:ext cx="4425696" cy="5486"/>
          </a:xfrm>
          <a:prstGeom prst="rect">
            <a:avLst/>
          </a:prstGeom>
          <a:solidFill>
            <a:srgbClr val="E2E1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786384" y="771753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UT · AION Y PLUS</a:t>
            </a:r>
            <a:endParaRPr lang="en-US" sz="820" dirty="0"/>
          </a:p>
        </p:txBody>
      </p:sp>
      <p:sp>
        <p:nvSpPr>
          <p:cNvPr id="137" name="Text 135"/>
          <p:cNvSpPr txBox="1"/>
          <p:nvPr/>
        </p:nvSpPr>
        <p:spPr>
          <a:xfrm>
            <a:off x="786384" y="8119872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TOUCHES FIRST</a:t>
            </a:r>
            <a:endParaRPr lang="en-US" sz="700" dirty="0"/>
          </a:p>
        </p:txBody>
      </p:sp>
      <p:sp>
        <p:nvSpPr>
          <p:cNvPr id="138" name="Text 136"/>
          <p:cNvSpPr txBox="1"/>
          <p:nvPr/>
        </p:nvSpPr>
        <p:spPr>
          <a:xfrm>
            <a:off x="786384" y="8257032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door card colour, from the pavement.</a:t>
            </a:r>
            <a:endParaRPr lang="en-US" sz="840" dirty="0"/>
          </a:p>
        </p:txBody>
      </p:sp>
      <p:sp>
        <p:nvSpPr>
          <p:cNvPr id="139" name="Text 137"/>
          <p:cNvSpPr txBox="1"/>
          <p:nvPr/>
        </p:nvSpPr>
        <p:spPr>
          <a:xfrm>
            <a:off x="786384" y="8723376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WINS THEM</a:t>
            </a:r>
            <a:endParaRPr lang="en-US" sz="700" dirty="0"/>
          </a:p>
        </p:txBody>
      </p:sp>
      <p:sp>
        <p:nvSpPr>
          <p:cNvPr id="140" name="Text 138"/>
          <p:cNvSpPr txBox="1"/>
          <p:nvPr/>
        </p:nvSpPr>
        <p:spPr>
          <a:xfrm>
            <a:off x="786384" y="8860536"/>
            <a:ext cx="442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or dusky pink carried onto the dash. A cabin that folds flat for a weekend. Phone casting that works first time.</a:t>
            </a:r>
            <a:endParaRPr lang="en-US" sz="840" dirty="0"/>
          </a:p>
        </p:txBody>
      </p:sp>
      <p:sp>
        <p:nvSpPr>
          <p:cNvPr id="141" name="Text 139"/>
          <p:cNvSpPr txBox="1"/>
          <p:nvPr/>
        </p:nvSpPr>
        <p:spPr>
          <a:xfrm>
            <a:off x="786384" y="9802368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WILL NOT FORGIVE</a:t>
            </a:r>
            <a:endParaRPr lang="en-US" sz="700" dirty="0"/>
          </a:p>
        </p:txBody>
      </p:sp>
      <p:sp>
        <p:nvSpPr>
          <p:cNvPr id="142" name="Text 140"/>
          <p:cNvSpPr txBox="1"/>
          <p:nvPr/>
        </p:nvSpPr>
        <p:spPr>
          <a:xfrm>
            <a:off x="786384" y="9939528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shiny plastic where the elbow lands.</a:t>
            </a:r>
            <a:endParaRPr lang="en-US" sz="840" dirty="0"/>
          </a:p>
        </p:txBody>
      </p:sp>
      <p:sp>
        <p:nvSpPr>
          <p:cNvPr id="143" name="Shape 141"/>
          <p:cNvSpPr/>
          <p:nvPr/>
        </p:nvSpPr>
        <p:spPr>
          <a:xfrm>
            <a:off x="5724144" y="6565392"/>
            <a:ext cx="4901184" cy="4041648"/>
          </a:xfrm>
          <a:prstGeom prst="roundRect">
            <a:avLst>
              <a:gd name="adj" fmla="val 90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5961888" y="674827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6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</a:t>
            </a:r>
            <a:endParaRPr lang="en-US" sz="1700" dirty="0"/>
          </a:p>
        </p:txBody>
      </p:sp>
      <p:sp>
        <p:nvSpPr>
          <p:cNvPr id="145" name="Text 143"/>
          <p:cNvSpPr txBox="1"/>
          <p:nvPr/>
        </p:nvSpPr>
        <p:spPr>
          <a:xfrm>
            <a:off x="8924544" y="68214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¥110–160k</a:t>
            </a:r>
            <a:endParaRPr lang="en-US" sz="860" dirty="0"/>
          </a:p>
        </p:txBody>
      </p:sp>
      <p:sp>
        <p:nvSpPr>
          <p:cNvPr id="146" name="Text 144"/>
          <p:cNvSpPr txBox="1"/>
          <p:nvPr/>
        </p:nvSpPr>
        <p:spPr>
          <a:xfrm>
            <a:off x="5961888" y="7077456"/>
            <a:ext cx="4425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· new parent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5961888" y="7315200"/>
            <a:ext cx="452628" cy="182880"/>
          </a:xfrm>
          <a:prstGeom prst="roundRect">
            <a:avLst>
              <a:gd name="adj" fmla="val 50000"/>
            </a:avLst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961888" y="7347204"/>
            <a:ext cx="4526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5961888" y="7607808"/>
            <a:ext cx="4425696" cy="5486"/>
          </a:xfrm>
          <a:prstGeom prst="rect">
            <a:avLst/>
          </a:prstGeom>
          <a:solidFill>
            <a:srgbClr val="E2E1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5961888" y="771753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N60 · AION i60</a:t>
            </a:r>
            <a:endParaRPr lang="en-US" sz="820" dirty="0"/>
          </a:p>
        </p:txBody>
      </p:sp>
      <p:sp>
        <p:nvSpPr>
          <p:cNvPr id="151" name="Text 149"/>
          <p:cNvSpPr txBox="1"/>
          <p:nvPr/>
        </p:nvSpPr>
        <p:spPr>
          <a:xfrm>
            <a:off x="5961888" y="8119872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TOUCHES FIRST</a:t>
            </a:r>
            <a:endParaRPr lang="en-US" sz="700" dirty="0"/>
          </a:p>
        </p:txBody>
      </p:sp>
      <p:sp>
        <p:nvSpPr>
          <p:cNvPr id="152" name="Text 150"/>
          <p:cNvSpPr txBox="1"/>
          <p:nvPr/>
        </p:nvSpPr>
        <p:spPr>
          <a:xfrm>
            <a:off x="5961888" y="8257032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rear bench and the ISOFIX anchor.</a:t>
            </a:r>
            <a:endParaRPr lang="en-US" sz="840" dirty="0"/>
          </a:p>
        </p:txBody>
      </p:sp>
      <p:sp>
        <p:nvSpPr>
          <p:cNvPr id="153" name="Text 151"/>
          <p:cNvSpPr txBox="1"/>
          <p:nvPr/>
        </p:nvSpPr>
        <p:spPr>
          <a:xfrm>
            <a:off x="5961888" y="8723376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WINS THEM</a:t>
            </a:r>
            <a:endParaRPr lang="en-US" sz="700" dirty="0"/>
          </a:p>
        </p:txBody>
      </p:sp>
      <p:sp>
        <p:nvSpPr>
          <p:cNvPr id="154" name="Text 152"/>
          <p:cNvSpPr txBox="1"/>
          <p:nvPr/>
        </p:nvSpPr>
        <p:spPr>
          <a:xfrm>
            <a:off x="5961888" y="8860536"/>
            <a:ext cx="442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117–137° rear recline, 35 stowage points, wipe-clean vegan leather, a 2.38 m² roof over the child seat.</a:t>
            </a:r>
            <a:endParaRPr lang="en-US" sz="840" dirty="0"/>
          </a:p>
        </p:txBody>
      </p:sp>
      <p:sp>
        <p:nvSpPr>
          <p:cNvPr id="155" name="Text 153"/>
          <p:cNvSpPr txBox="1"/>
          <p:nvPr/>
        </p:nvSpPr>
        <p:spPr>
          <a:xfrm>
            <a:off x="5961888" y="9802368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WILL NOT FORGIVE</a:t>
            </a:r>
            <a:endParaRPr lang="en-US" sz="700" dirty="0"/>
          </a:p>
        </p:txBody>
      </p:sp>
      <p:sp>
        <p:nvSpPr>
          <p:cNvPr id="156" name="Text 154"/>
          <p:cNvSpPr txBox="1"/>
          <p:nvPr/>
        </p:nvSpPr>
        <p:spPr>
          <a:xfrm>
            <a:off x="5961888" y="9939528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buried three menus deep with a baby crying.</a:t>
            </a:r>
            <a:endParaRPr lang="en-US" sz="840" dirty="0"/>
          </a:p>
        </p:txBody>
      </p:sp>
      <p:sp>
        <p:nvSpPr>
          <p:cNvPr id="157" name="Shape 155"/>
          <p:cNvSpPr/>
          <p:nvPr/>
        </p:nvSpPr>
        <p:spPr>
          <a:xfrm>
            <a:off x="10899648" y="6565392"/>
            <a:ext cx="4901184" cy="4041648"/>
          </a:xfrm>
          <a:prstGeom prst="roundRect">
            <a:avLst>
              <a:gd name="adj" fmla="val 90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11137392" y="674827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ZHAO</a:t>
            </a:r>
            <a:endParaRPr lang="en-US" sz="1700" dirty="0"/>
          </a:p>
        </p:txBody>
      </p:sp>
      <p:sp>
        <p:nvSpPr>
          <p:cNvPr id="159" name="Text 157"/>
          <p:cNvSpPr txBox="1"/>
          <p:nvPr/>
        </p:nvSpPr>
        <p:spPr>
          <a:xfrm>
            <a:off x="14100048" y="68214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¥170–250k</a:t>
            </a:r>
            <a:endParaRPr lang="en-US" sz="860" dirty="0"/>
          </a:p>
        </p:txBody>
      </p:sp>
      <p:sp>
        <p:nvSpPr>
          <p:cNvPr id="160" name="Text 158"/>
          <p:cNvSpPr txBox="1"/>
          <p:nvPr/>
        </p:nvSpPr>
        <p:spPr>
          <a:xfrm>
            <a:off x="11137392" y="7077456"/>
            <a:ext cx="4425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· small business owner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11137392" y="7315200"/>
            <a:ext cx="918972" cy="182880"/>
          </a:xfrm>
          <a:prstGeom prst="roundRect">
            <a:avLst>
              <a:gd name="adj" fmla="val 50000"/>
            </a:avLst>
          </a:prstGeom>
          <a:solidFill>
            <a:srgbClr val="3E4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11137392" y="7347204"/>
            <a:ext cx="918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UPPER-MID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11137392" y="7607808"/>
            <a:ext cx="4425696" cy="5486"/>
          </a:xfrm>
          <a:prstGeom prst="rect">
            <a:avLst/>
          </a:prstGeom>
          <a:solidFill>
            <a:srgbClr val="E2E1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11137392" y="771753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XIANGWANG S7 · S9</a:t>
            </a:r>
            <a:endParaRPr lang="en-US" sz="820" dirty="0"/>
          </a:p>
        </p:txBody>
      </p:sp>
      <p:sp>
        <p:nvSpPr>
          <p:cNvPr id="165" name="Text 163"/>
          <p:cNvSpPr txBox="1"/>
          <p:nvPr/>
        </p:nvSpPr>
        <p:spPr>
          <a:xfrm>
            <a:off x="11137392" y="8119872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TOUCHES FIRST</a:t>
            </a:r>
            <a:endParaRPr lang="en-US" sz="700" dirty="0"/>
          </a:p>
        </p:txBody>
      </p:sp>
      <p:sp>
        <p:nvSpPr>
          <p:cNvPr id="166" name="Text 164"/>
          <p:cNvSpPr txBox="1"/>
          <p:nvPr/>
        </p:nvSpPr>
        <p:spPr>
          <a:xfrm>
            <a:off x="11137392" y="8257032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second-row leg rest, before the driver's seat.</a:t>
            </a:r>
            <a:endParaRPr lang="en-US" sz="840" dirty="0"/>
          </a:p>
        </p:txBody>
      </p:sp>
      <p:sp>
        <p:nvSpPr>
          <p:cNvPr id="167" name="Text 165"/>
          <p:cNvSpPr txBox="1"/>
          <p:nvPr/>
        </p:nvSpPr>
        <p:spPr>
          <a:xfrm>
            <a:off x="11137392" y="8723376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WINS THEM</a:t>
            </a:r>
            <a:endParaRPr lang="en-US" sz="700" dirty="0"/>
          </a:p>
        </p:txBody>
      </p:sp>
      <p:sp>
        <p:nvSpPr>
          <p:cNvPr id="168" name="Text 166"/>
          <p:cNvSpPr txBox="1"/>
          <p:nvPr/>
        </p:nvSpPr>
        <p:spPr>
          <a:xfrm>
            <a:off x="11137392" y="8860536"/>
            <a:ext cx="442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137° recline, six-mode massage, a 17.3" ceiling screen for the children, second-row climate control.</a:t>
            </a:r>
            <a:endParaRPr lang="en-US" sz="840" dirty="0"/>
          </a:p>
        </p:txBody>
      </p:sp>
      <p:sp>
        <p:nvSpPr>
          <p:cNvPr id="169" name="Text 167"/>
          <p:cNvSpPr txBox="1"/>
          <p:nvPr/>
        </p:nvSpPr>
        <p:spPr>
          <a:xfrm>
            <a:off x="11137392" y="9802368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WILL NOT FORGIVE</a:t>
            </a:r>
            <a:endParaRPr lang="en-US" sz="700" dirty="0"/>
          </a:p>
        </p:txBody>
      </p:sp>
      <p:sp>
        <p:nvSpPr>
          <p:cNvPr id="170" name="Text 168"/>
          <p:cNvSpPr txBox="1"/>
          <p:nvPr/>
        </p:nvSpPr>
        <p:spPr>
          <a:xfrm>
            <a:off x="11137392" y="9939528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third row an adult cannot sit in.</a:t>
            </a:r>
            <a:endParaRPr lang="en-US" sz="840" dirty="0"/>
          </a:p>
        </p:txBody>
      </p:sp>
      <p:sp>
        <p:nvSpPr>
          <p:cNvPr id="171" name="Shape 169"/>
          <p:cNvSpPr/>
          <p:nvPr/>
        </p:nvSpPr>
        <p:spPr>
          <a:xfrm>
            <a:off x="16075152" y="6565392"/>
            <a:ext cx="4901184" cy="4041648"/>
          </a:xfrm>
          <a:prstGeom prst="roundRect">
            <a:avLst>
              <a:gd name="adj" fmla="val 90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16312896" y="674827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</a:t>
            </a:r>
            <a:endParaRPr lang="en-US" sz="1700" dirty="0"/>
          </a:p>
        </p:txBody>
      </p:sp>
      <p:sp>
        <p:nvSpPr>
          <p:cNvPr id="173" name="Text 171"/>
          <p:cNvSpPr txBox="1"/>
          <p:nvPr/>
        </p:nvSpPr>
        <p:spPr>
          <a:xfrm>
            <a:off x="19275552" y="68214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¥250–400k</a:t>
            </a:r>
            <a:endParaRPr lang="en-US" sz="860" dirty="0"/>
          </a:p>
        </p:txBody>
      </p:sp>
      <p:sp>
        <p:nvSpPr>
          <p:cNvPr id="174" name="Text 172"/>
          <p:cNvSpPr txBox="1"/>
          <p:nvPr/>
        </p:nvSpPr>
        <p:spPr>
          <a:xfrm>
            <a:off x="16312896" y="7077456"/>
            <a:ext cx="4425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· chauffeur-driven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16312896" y="7315200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16312896" y="7347204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16312896" y="7607808"/>
            <a:ext cx="4425696" cy="5486"/>
          </a:xfrm>
          <a:prstGeom prst="rect">
            <a:avLst/>
          </a:prstGeom>
          <a:solidFill>
            <a:srgbClr val="E2E1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16312896" y="771753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TRUMPCHI M8 XIANGWANG · E9 · HYPTEC HL</a:t>
            </a:r>
            <a:endParaRPr lang="en-US" sz="820" dirty="0"/>
          </a:p>
        </p:txBody>
      </p:sp>
      <p:sp>
        <p:nvSpPr>
          <p:cNvPr id="179" name="Text 177"/>
          <p:cNvSpPr txBox="1"/>
          <p:nvPr/>
        </p:nvSpPr>
        <p:spPr>
          <a:xfrm>
            <a:off x="16312896" y="8119872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TOUCHES FIRST</a:t>
            </a:r>
            <a:endParaRPr lang="en-US" sz="700" dirty="0"/>
          </a:p>
        </p:txBody>
      </p:sp>
      <p:sp>
        <p:nvSpPr>
          <p:cNvPr id="180" name="Text 178"/>
          <p:cNvSpPr txBox="1"/>
          <p:nvPr/>
        </p:nvSpPr>
        <p:spPr>
          <a:xfrm>
            <a:off x="16312896" y="8257032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5" pad in the armrest.</a:t>
            </a:r>
            <a:endParaRPr lang="en-US" sz="840" dirty="0"/>
          </a:p>
        </p:txBody>
      </p:sp>
      <p:sp>
        <p:nvSpPr>
          <p:cNvPr id="181" name="Text 179"/>
          <p:cNvSpPr txBox="1"/>
          <p:nvPr/>
        </p:nvSpPr>
        <p:spPr>
          <a:xfrm>
            <a:off x="16312896" y="8723376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WINS THEM</a:t>
            </a:r>
            <a:endParaRPr lang="en-US" sz="700" dirty="0"/>
          </a:p>
        </p:txBody>
      </p:sp>
      <p:sp>
        <p:nvSpPr>
          <p:cNvPr id="182" name="Text 180"/>
          <p:cNvSpPr txBox="1"/>
          <p:nvPr/>
        </p:nvSpPr>
        <p:spPr>
          <a:xfrm>
            <a:off x="16312896" y="8860536"/>
            <a:ext cx="442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2+2+2, 18-point massage, zero-gravity at 127.5°, welcome projection, silence.</a:t>
            </a:r>
            <a:endParaRPr lang="en-US" sz="840" dirty="0"/>
          </a:p>
        </p:txBody>
      </p:sp>
      <p:sp>
        <p:nvSpPr>
          <p:cNvPr id="183" name="Text 181"/>
          <p:cNvSpPr txBox="1"/>
          <p:nvPr/>
        </p:nvSpPr>
        <p:spPr>
          <a:xfrm>
            <a:off x="16312896" y="9802368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WILL NOT FORGIVE</a:t>
            </a:r>
            <a:endParaRPr lang="en-US" sz="700" dirty="0"/>
          </a:p>
        </p:txBody>
      </p:sp>
      <p:sp>
        <p:nvSpPr>
          <p:cNvPr id="184" name="Text 182"/>
          <p:cNvSpPr txBox="1"/>
          <p:nvPr/>
        </p:nvSpPr>
        <p:spPr>
          <a:xfrm>
            <a:off x="16312896" y="9939528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to lean forward to reach anything.</a:t>
            </a:r>
            <a:endParaRPr lang="en-US" sz="840" dirty="0"/>
          </a:p>
        </p:txBody>
      </p:sp>
      <p:sp>
        <p:nvSpPr>
          <p:cNvPr id="185" name="Shape 183"/>
          <p:cNvSpPr/>
          <p:nvPr/>
        </p:nvSpPr>
        <p:spPr>
          <a:xfrm>
            <a:off x="21250656" y="6565392"/>
            <a:ext cx="4901184" cy="4041648"/>
          </a:xfrm>
          <a:prstGeom prst="roundRect">
            <a:avLst>
              <a:gd name="adj" fmla="val 905"/>
            </a:avLst>
          </a:prstGeom>
          <a:solidFill>
            <a:srgbClr val="F4F4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21488400" y="674827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</a:t>
            </a:r>
            <a:endParaRPr lang="en-US" sz="1700" dirty="0"/>
          </a:p>
        </p:txBody>
      </p:sp>
      <p:sp>
        <p:nvSpPr>
          <p:cNvPr id="187" name="Text 185"/>
          <p:cNvSpPr txBox="1"/>
          <p:nvPr/>
        </p:nvSpPr>
        <p:spPr>
          <a:xfrm>
            <a:off x="24451056" y="68214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¥350k +</a:t>
            </a:r>
            <a:endParaRPr lang="en-US" sz="860" dirty="0"/>
          </a:p>
        </p:txBody>
      </p:sp>
      <p:sp>
        <p:nvSpPr>
          <p:cNvPr id="188" name="Text 186"/>
          <p:cNvSpPr txBox="1"/>
          <p:nvPr/>
        </p:nvSpPr>
        <p:spPr>
          <a:xfrm>
            <a:off x="21488400" y="7077456"/>
            <a:ext cx="4425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· technology-first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21488400" y="7315200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21488400" y="7347204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21488400" y="7607808"/>
            <a:ext cx="4425696" cy="5486"/>
          </a:xfrm>
          <a:prstGeom prst="rect">
            <a:avLst/>
          </a:prstGeom>
          <a:solidFill>
            <a:srgbClr val="E2E1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21488400" y="771753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HYPTEC A800 · AISTALAND GT7 · AION RAY 7</a:t>
            </a:r>
            <a:endParaRPr lang="en-US" sz="820" dirty="0"/>
          </a:p>
        </p:txBody>
      </p:sp>
      <p:sp>
        <p:nvSpPr>
          <p:cNvPr id="193" name="Text 191"/>
          <p:cNvSpPr txBox="1"/>
          <p:nvPr/>
        </p:nvSpPr>
        <p:spPr>
          <a:xfrm>
            <a:off x="21488400" y="8119872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TOUCHES FIRST</a:t>
            </a:r>
            <a:endParaRPr lang="en-US" sz="700" dirty="0"/>
          </a:p>
        </p:txBody>
      </p:sp>
      <p:sp>
        <p:nvSpPr>
          <p:cNvPr id="194" name="Text 192"/>
          <p:cNvSpPr txBox="1"/>
          <p:nvPr/>
        </p:nvSpPr>
        <p:spPr>
          <a:xfrm>
            <a:off x="21488400" y="8257032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HUD horizon, before the seat.</a:t>
            </a:r>
            <a:endParaRPr lang="en-US" sz="840" dirty="0"/>
          </a:p>
        </p:txBody>
      </p:sp>
      <p:sp>
        <p:nvSpPr>
          <p:cNvPr id="195" name="Text 193"/>
          <p:cNvSpPr txBox="1"/>
          <p:nvPr/>
        </p:nvSpPr>
        <p:spPr>
          <a:xfrm>
            <a:off x="21488400" y="8723376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WINS THEM</a:t>
            </a:r>
            <a:endParaRPr lang="en-US" sz="700" dirty="0"/>
          </a:p>
        </p:txBody>
      </p:sp>
      <p:sp>
        <p:nvSpPr>
          <p:cNvPr id="196" name="Text 194"/>
          <p:cNvSpPr txBox="1"/>
          <p:nvPr/>
        </p:nvSpPr>
        <p:spPr>
          <a:xfrm>
            <a:off x="21488400" y="8860536"/>
            <a:ext cx="442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27" W-HUD, wraparound console, a 6,536 mm light run, Huawei continuity from phone to car, L3 on the highway.</a:t>
            </a:r>
            <a:endParaRPr lang="en-US" sz="840" dirty="0"/>
          </a:p>
        </p:txBody>
      </p:sp>
      <p:sp>
        <p:nvSpPr>
          <p:cNvPr id="197" name="Text 195"/>
          <p:cNvSpPr txBox="1"/>
          <p:nvPr/>
        </p:nvSpPr>
        <p:spPr>
          <a:xfrm>
            <a:off x="21488400" y="9802368"/>
            <a:ext cx="4425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WILL NOT FORGIVE</a:t>
            </a:r>
            <a:endParaRPr lang="en-US" sz="700" dirty="0"/>
          </a:p>
        </p:txBody>
      </p:sp>
      <p:sp>
        <p:nvSpPr>
          <p:cNvPr id="198" name="Text 196"/>
          <p:cNvSpPr txBox="1"/>
          <p:nvPr/>
        </p:nvSpPr>
        <p:spPr>
          <a:xfrm>
            <a:off x="21488400" y="9939528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cabin that reads the same as the ¥130k car one brand down.</a:t>
            </a:r>
            <a:endParaRPr lang="en-US" sz="840" dirty="0"/>
          </a:p>
        </p:txBody>
      </p:sp>
      <p:sp>
        <p:nvSpPr>
          <p:cNvPr id="199" name="Text 197"/>
          <p:cNvSpPr txBox="1"/>
          <p:nvPr/>
        </p:nvSpPr>
        <p:spPr>
          <a:xfrm>
            <a:off x="26517600" y="6053328"/>
            <a:ext cx="18653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POSITION</a:t>
            </a:r>
            <a:endParaRPr lang="en-US" sz="700" dirty="0"/>
          </a:p>
        </p:txBody>
      </p:sp>
      <p:sp>
        <p:nvSpPr>
          <p:cNvPr id="200" name="Text 198"/>
          <p:cNvSpPr txBox="1"/>
          <p:nvPr/>
        </p:nvSpPr>
        <p:spPr>
          <a:xfrm>
            <a:off x="26517600" y="6208776"/>
            <a:ext cx="1865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GAC against Changan — and what we do about it</a:t>
            </a:r>
            <a:endParaRPr lang="en-US" sz="1700" dirty="0"/>
          </a:p>
        </p:txBody>
      </p:sp>
      <p:sp>
        <p:nvSpPr>
          <p:cNvPr id="201" name="Text 199"/>
          <p:cNvSpPr txBox="1"/>
          <p:nvPr/>
        </p:nvSpPr>
        <p:spPr>
          <a:xfrm>
            <a:off x="26517600" y="658368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700" dirty="0"/>
          </a:p>
        </p:txBody>
      </p:sp>
      <p:sp>
        <p:nvSpPr>
          <p:cNvPr id="202" name="Text 200"/>
          <p:cNvSpPr txBox="1"/>
          <p:nvPr/>
        </p:nvSpPr>
        <p:spPr>
          <a:xfrm>
            <a:off x="29443680" y="6583680"/>
            <a:ext cx="4297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GAC · AION + TRUMPCHI + HYPTEC</a:t>
            </a:r>
            <a:endParaRPr lang="en-US" sz="700" dirty="0"/>
          </a:p>
        </p:txBody>
      </p:sp>
      <p:sp>
        <p:nvSpPr>
          <p:cNvPr id="203" name="Text 201"/>
          <p:cNvSpPr txBox="1"/>
          <p:nvPr/>
        </p:nvSpPr>
        <p:spPr>
          <a:xfrm>
            <a:off x="33741360" y="6583680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CHANGAN · NEVO + DEEPAL + AVATR</a:t>
            </a:r>
            <a:endParaRPr lang="en-US" sz="700" dirty="0"/>
          </a:p>
        </p:txBody>
      </p:sp>
      <p:sp>
        <p:nvSpPr>
          <p:cNvPr id="204" name="Text 202"/>
          <p:cNvSpPr txBox="1"/>
          <p:nvPr/>
        </p:nvSpPr>
        <p:spPr>
          <a:xfrm>
            <a:off x="37856160" y="6583680"/>
            <a:ext cx="7315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700" dirty="0"/>
          </a:p>
        </p:txBody>
      </p:sp>
      <p:sp>
        <p:nvSpPr>
          <p:cNvPr id="205" name="Shape 203"/>
          <p:cNvSpPr/>
          <p:nvPr/>
        </p:nvSpPr>
        <p:spPr>
          <a:xfrm>
            <a:off x="26517600" y="6766560"/>
            <a:ext cx="18653760" cy="7315"/>
          </a:xfrm>
          <a:prstGeom prst="rect">
            <a:avLst/>
          </a:prstGeom>
          <a:solidFill>
            <a:srgbClr val="E2E1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6426160" y="6821424"/>
            <a:ext cx="1883664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26517600" y="6858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display</a:t>
            </a:r>
            <a:endParaRPr lang="en-US" sz="840" dirty="0"/>
          </a:p>
        </p:txBody>
      </p:sp>
      <p:sp>
        <p:nvSpPr>
          <p:cNvPr id="208" name="Text 206"/>
          <p:cNvSpPr txBox="1"/>
          <p:nvPr/>
        </p:nvSpPr>
        <p:spPr>
          <a:xfrm>
            <a:off x="29443680" y="6858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14.6" floor; 15.6" 2.5K on the newest (N60)</a:t>
            </a:r>
            <a:endParaRPr lang="en-US" sz="780" dirty="0"/>
          </a:p>
        </p:txBody>
      </p:sp>
      <p:sp>
        <p:nvSpPr>
          <p:cNvPr id="209" name="Text 207"/>
          <p:cNvSpPr txBox="1"/>
          <p:nvPr/>
        </p:nvSpPr>
        <p:spPr>
          <a:xfrm>
            <a:off x="33741360" y="6858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Nevo 15.7" 2.5K, Q05 15.6"; Deepal L06 15.6" adaptive</a:t>
            </a:r>
            <a:endParaRPr lang="en-US" sz="780" dirty="0"/>
          </a:p>
        </p:txBody>
      </p:sp>
      <p:sp>
        <p:nvSpPr>
          <p:cNvPr id="210" name="Text 208"/>
          <p:cNvSpPr txBox="1"/>
          <p:nvPr/>
        </p:nvSpPr>
        <p:spPr>
          <a:xfrm>
            <a:off x="37856160" y="68580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Parity. Screen size has stopped being a differentiator.</a:t>
            </a:r>
            <a:endParaRPr lang="en-US" sz="780" dirty="0"/>
          </a:p>
        </p:txBody>
      </p:sp>
      <p:sp>
        <p:nvSpPr>
          <p:cNvPr id="211" name="Text 209"/>
          <p:cNvSpPr txBox="1"/>
          <p:nvPr/>
        </p:nvSpPr>
        <p:spPr>
          <a:xfrm>
            <a:off x="26517600" y="7168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40" dirty="0"/>
          </a:p>
        </p:txBody>
      </p:sp>
      <p:sp>
        <p:nvSpPr>
          <p:cNvPr id="212" name="Text 210"/>
          <p:cNvSpPr txBox="1"/>
          <p:nvPr/>
        </p:nvSpPr>
        <p:spPr>
          <a:xfrm>
            <a:off x="29443680" y="71688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at 8.8–12.3" on almost everything</a:t>
            </a:r>
            <a:endParaRPr lang="en-US" sz="780" dirty="0"/>
          </a:p>
        </p:txBody>
      </p:sp>
      <p:sp>
        <p:nvSpPr>
          <p:cNvPr id="213" name="Text 211"/>
          <p:cNvSpPr txBox="1"/>
          <p:nvPr/>
        </p:nvSpPr>
        <p:spPr>
          <a:xfrm>
            <a:off x="33741360" y="71688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Nevo keeps 9.8–10.17"; Deepal L06 deletes it</a:t>
            </a:r>
            <a:endParaRPr lang="en-US" sz="780" dirty="0"/>
          </a:p>
        </p:txBody>
      </p:sp>
      <p:sp>
        <p:nvSpPr>
          <p:cNvPr id="214" name="Text 212"/>
          <p:cNvSpPr txBox="1"/>
          <p:nvPr/>
        </p:nvSpPr>
        <p:spPr>
          <a:xfrm>
            <a:off x="37856160" y="7168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ahead on deletion. Commit to it as a design position, not a cost saving.</a:t>
            </a:r>
            <a:endParaRPr lang="en-US" sz="780" dirty="0"/>
          </a:p>
        </p:txBody>
      </p:sp>
      <p:sp>
        <p:nvSpPr>
          <p:cNvPr id="215" name="Shape 213"/>
          <p:cNvSpPr/>
          <p:nvPr/>
        </p:nvSpPr>
        <p:spPr>
          <a:xfrm>
            <a:off x="26426160" y="7443216"/>
            <a:ext cx="1883664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26517600" y="7479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Head-up display</a:t>
            </a:r>
            <a:endParaRPr lang="en-US" sz="840" dirty="0"/>
          </a:p>
        </p:txBody>
      </p:sp>
      <p:sp>
        <p:nvSpPr>
          <p:cNvPr id="217" name="Text 215"/>
          <p:cNvSpPr txBox="1"/>
          <p:nvPr/>
        </p:nvSpPr>
        <p:spPr>
          <a:xfrm>
            <a:off x="29443680" y="74797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27" W-HUD, flagship only (A800)</a:t>
            </a:r>
            <a:endParaRPr lang="en-US" sz="780" dirty="0"/>
          </a:p>
        </p:txBody>
      </p:sp>
      <p:sp>
        <p:nvSpPr>
          <p:cNvPr id="218" name="Text 216"/>
          <p:cNvSpPr txBox="1"/>
          <p:nvPr/>
        </p:nvSpPr>
        <p:spPr>
          <a:xfrm>
            <a:off x="33741360" y="74797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50" AR-HUD already at Deepal L06, mid-range</a:t>
            </a:r>
            <a:endParaRPr lang="en-US" sz="780" dirty="0"/>
          </a:p>
        </p:txBody>
      </p:sp>
      <p:sp>
        <p:nvSpPr>
          <p:cNvPr id="219" name="Text 217"/>
          <p:cNvSpPr txBox="1"/>
          <p:nvPr/>
        </p:nvSpPr>
        <p:spPr>
          <a:xfrm>
            <a:off x="37856160" y="74797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clearest lead. Push AR-HUD down into Nevo before Hyptec spreads theirs.</a:t>
            </a:r>
            <a:endParaRPr lang="en-US" sz="780" dirty="0"/>
          </a:p>
        </p:txBody>
      </p:sp>
      <p:sp>
        <p:nvSpPr>
          <p:cNvPr id="220" name="Text 218"/>
          <p:cNvSpPr txBox="1"/>
          <p:nvPr/>
        </p:nvSpPr>
        <p:spPr>
          <a:xfrm>
            <a:off x="26517600" y="7790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light</a:t>
            </a:r>
            <a:endParaRPr lang="en-US" sz="840" dirty="0"/>
          </a:p>
        </p:txBody>
      </p:sp>
      <p:sp>
        <p:nvSpPr>
          <p:cNvPr id="221" name="Text 219"/>
          <p:cNvSpPr txBox="1"/>
          <p:nvPr/>
        </p:nvSpPr>
        <p:spPr>
          <a:xfrm>
            <a:off x="29443680" y="77906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colours standard; 6,536 mm run at flagship</a:t>
            </a:r>
            <a:endParaRPr lang="en-US" sz="780" dirty="0"/>
          </a:p>
        </p:txBody>
      </p:sp>
      <p:sp>
        <p:nvSpPr>
          <p:cNvPr id="222" name="Text 220"/>
          <p:cNvSpPr txBox="1"/>
          <p:nvPr/>
        </p:nvSpPr>
        <p:spPr>
          <a:xfrm>
            <a:off x="33741360" y="77906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Present, not merchandised as a number</a:t>
            </a:r>
            <a:endParaRPr lang="en-US" sz="780" dirty="0"/>
          </a:p>
        </p:txBody>
      </p:sp>
      <p:sp>
        <p:nvSpPr>
          <p:cNvPr id="223" name="Text 221"/>
          <p:cNvSpPr txBox="1"/>
          <p:nvPr/>
        </p:nvSpPr>
        <p:spPr>
          <a:xfrm>
            <a:off x="37856160" y="77906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made ambient a spec-sheet figure. Answer with a named light architecture, not a bigger number.</a:t>
            </a:r>
            <a:endParaRPr lang="en-US" sz="780" dirty="0"/>
          </a:p>
        </p:txBody>
      </p:sp>
      <p:sp>
        <p:nvSpPr>
          <p:cNvPr id="224" name="Shape 222"/>
          <p:cNvSpPr/>
          <p:nvPr/>
        </p:nvSpPr>
        <p:spPr>
          <a:xfrm>
            <a:off x="26426160" y="8065008"/>
            <a:ext cx="1883664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26517600" y="8101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comfort</a:t>
            </a:r>
            <a:endParaRPr lang="en-US" sz="840" dirty="0"/>
          </a:p>
        </p:txBody>
      </p:sp>
      <p:sp>
        <p:nvSpPr>
          <p:cNvPr id="226" name="Text 224"/>
          <p:cNvSpPr txBox="1"/>
          <p:nvPr/>
        </p:nvSpPr>
        <p:spPr>
          <a:xfrm>
            <a:off x="29443680" y="81015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Zero-gravity and massage below ¥130k; 18-point at premium</a:t>
            </a:r>
            <a:endParaRPr lang="en-US" sz="780" dirty="0"/>
          </a:p>
        </p:txBody>
      </p:sp>
      <p:sp>
        <p:nvSpPr>
          <p:cNvPr id="227" name="Text 225"/>
          <p:cNvSpPr txBox="1"/>
          <p:nvPr/>
        </p:nvSpPr>
        <p:spPr>
          <a:xfrm>
            <a:off x="33741360" y="81015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at Avatr, thinner below ¥150k</a:t>
            </a:r>
            <a:endParaRPr lang="en-US" sz="780" dirty="0"/>
          </a:p>
        </p:txBody>
      </p:sp>
      <p:sp>
        <p:nvSpPr>
          <p:cNvPr id="228" name="Text 226"/>
          <p:cNvSpPr txBox="1"/>
          <p:nvPr/>
        </p:nvSpPr>
        <p:spPr>
          <a:xfrm>
            <a:off x="37856160" y="81015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fastest-moving line on this board. Re-baseline the comfort budget now.</a:t>
            </a:r>
            <a:endParaRPr lang="en-US" sz="780" dirty="0"/>
          </a:p>
        </p:txBody>
      </p:sp>
      <p:sp>
        <p:nvSpPr>
          <p:cNvPr id="229" name="Text 227"/>
          <p:cNvSpPr txBox="1"/>
          <p:nvPr/>
        </p:nvSpPr>
        <p:spPr>
          <a:xfrm>
            <a:off x="26517600" y="8412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 OS</a:t>
            </a:r>
            <a:endParaRPr lang="en-US" sz="840" dirty="0"/>
          </a:p>
        </p:txBody>
      </p:sp>
      <p:sp>
        <p:nvSpPr>
          <p:cNvPr id="230" name="Text 228"/>
          <p:cNvSpPr txBox="1"/>
          <p:nvPr/>
        </p:nvSpPr>
        <p:spPr>
          <a:xfrm>
            <a:off x="29443680" y="8412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ADiGO 6.0 on Aion; Huawei on Trumpchi, Hyptec, Aistaland</a:t>
            </a:r>
            <a:endParaRPr lang="en-US" sz="780" dirty="0"/>
          </a:p>
        </p:txBody>
      </p:sp>
      <p:sp>
        <p:nvSpPr>
          <p:cNvPr id="231" name="Text 229"/>
          <p:cNvSpPr txBox="1"/>
          <p:nvPr/>
        </p:nvSpPr>
        <p:spPr>
          <a:xfrm>
            <a:off x="33741360" y="84124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 on Avatr; MediaTek MT8676 across Nevo</a:t>
            </a:r>
            <a:endParaRPr lang="en-US" sz="780" dirty="0"/>
          </a:p>
        </p:txBody>
      </p:sp>
      <p:sp>
        <p:nvSpPr>
          <p:cNvPr id="232" name="Text 230"/>
          <p:cNvSpPr txBox="1"/>
          <p:nvPr/>
        </p:nvSpPr>
        <p:spPr>
          <a:xfrm>
            <a:off x="37856160" y="84124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8B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groups run dual-track. Our silicon choice is the cost lever — protect it.</a:t>
            </a:r>
            <a:endParaRPr lang="en-US" sz="780" dirty="0"/>
          </a:p>
        </p:txBody>
      </p:sp>
      <p:sp>
        <p:nvSpPr>
          <p:cNvPr id="233" name="Shape 231"/>
          <p:cNvSpPr/>
          <p:nvPr/>
        </p:nvSpPr>
        <p:spPr>
          <a:xfrm>
            <a:off x="26426160" y="8686800"/>
            <a:ext cx="1883664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26517600" y="8723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CMF</a:t>
            </a:r>
            <a:endParaRPr lang="en-US" sz="840" dirty="0"/>
          </a:p>
        </p:txBody>
      </p:sp>
      <p:sp>
        <p:nvSpPr>
          <p:cNvPr id="235" name="Text 233"/>
          <p:cNvSpPr txBox="1"/>
          <p:nvPr/>
        </p:nvSpPr>
        <p:spPr>
          <a:xfrm>
            <a:off x="29443680" y="87233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named themes per car, refreshed per model year</a:t>
            </a:r>
            <a:endParaRPr lang="en-US" sz="780" dirty="0"/>
          </a:p>
        </p:txBody>
      </p:sp>
      <p:sp>
        <p:nvSpPr>
          <p:cNvPr id="236" name="Text 234"/>
          <p:cNvSpPr txBox="1"/>
          <p:nvPr/>
        </p:nvSpPr>
        <p:spPr>
          <a:xfrm>
            <a:off x="33741360" y="87233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dirty="0">
                <a:solidFill>
                  <a:srgbClr val="3E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Colourways specified, rarely named or storied</a:t>
            </a:r>
            <a:endParaRPr lang="en-US" sz="780" dirty="0"/>
          </a:p>
        </p:txBody>
      </p:sp>
      <p:sp>
        <p:nvSpPr>
          <p:cNvPr id="237" name="Text 235"/>
          <p:cNvSpPr txBox="1"/>
          <p:nvPr/>
        </p:nvSpPr>
        <p:spPr>
          <a:xfrm>
            <a:off x="37856160" y="87233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80" b="1" dirty="0">
                <a:solidFill>
                  <a:srgbClr val="B2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sell colour as product. Ours needs names, a story and a launch moment.</a:t>
            </a:r>
            <a:endParaRPr lang="en-US" sz="780" dirty="0"/>
          </a:p>
        </p:txBody>
      </p:sp>
      <p:sp>
        <p:nvSpPr>
          <p:cNvPr id="238" name="Shape 236"/>
          <p:cNvSpPr/>
          <p:nvPr/>
        </p:nvSpPr>
        <p:spPr>
          <a:xfrm>
            <a:off x="26517600" y="9180576"/>
            <a:ext cx="18653760" cy="1426464"/>
          </a:xfrm>
          <a:prstGeom prst="roundRect">
            <a:avLst>
              <a:gd name="adj" fmla="val 2564"/>
            </a:avLst>
          </a:prstGeom>
          <a:solidFill>
            <a:srgbClr val="1518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26791920" y="9381744"/>
            <a:ext cx="18105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TO PUT IN THE NEXT INTERIOR BRIEF</a:t>
            </a:r>
            <a:endParaRPr lang="en-US" sz="700" dirty="0"/>
          </a:p>
        </p:txBody>
      </p:sp>
      <p:sp>
        <p:nvSpPr>
          <p:cNvPr id="240" name="Text 238"/>
          <p:cNvSpPr txBox="1"/>
          <p:nvPr/>
        </p:nvSpPr>
        <p:spPr>
          <a:xfrm>
            <a:off x="26791920" y="960120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41" name="Text 239"/>
          <p:cNvSpPr txBox="1"/>
          <p:nvPr/>
        </p:nvSpPr>
        <p:spPr>
          <a:xfrm>
            <a:off x="27047952" y="9601200"/>
            <a:ext cx="553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colourways. Three named themes per car is a cheap, visible model-year lever we are not using.</a:t>
            </a:r>
            <a:endParaRPr lang="en-US" sz="840" dirty="0"/>
          </a:p>
        </p:txBody>
      </p:sp>
      <p:sp>
        <p:nvSpPr>
          <p:cNvPr id="242" name="Text 240"/>
          <p:cNvSpPr txBox="1"/>
          <p:nvPr/>
        </p:nvSpPr>
        <p:spPr>
          <a:xfrm>
            <a:off x="32948880" y="960120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43" name="Text 241"/>
          <p:cNvSpPr txBox="1"/>
          <p:nvPr/>
        </p:nvSpPr>
        <p:spPr>
          <a:xfrm>
            <a:off x="33204912" y="9601200"/>
            <a:ext cx="553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Re-baseline comfort under ¥150k. Zero-gravity and massage crossed below ¥130k in April 2026.</a:t>
            </a:r>
            <a:endParaRPr lang="en-US" sz="840" dirty="0"/>
          </a:p>
        </p:txBody>
      </p:sp>
      <p:sp>
        <p:nvSpPr>
          <p:cNvPr id="244" name="Text 242"/>
          <p:cNvSpPr txBox="1"/>
          <p:nvPr/>
        </p:nvSpPr>
        <p:spPr>
          <a:xfrm>
            <a:off x="39105840" y="960120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45" name="Text 243"/>
          <p:cNvSpPr txBox="1"/>
          <p:nvPr/>
        </p:nvSpPr>
        <p:spPr>
          <a:xfrm>
            <a:off x="39361872" y="9601200"/>
            <a:ext cx="553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the HUD lead — get AR-HUD out of Deepal L06 and into the Nevo Q-series before Hyptec spreads its 27" W-HUD.</a:t>
            </a:r>
            <a:endParaRPr lang="en-US" sz="840" dirty="0"/>
          </a:p>
        </p:txBody>
      </p:sp>
      <p:sp>
        <p:nvSpPr>
          <p:cNvPr id="246" name="Text 244"/>
          <p:cNvSpPr txBox="1"/>
          <p:nvPr/>
        </p:nvSpPr>
        <p:spPr>
          <a:xfrm>
            <a:off x="26791920" y="1002182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47" name="Text 245"/>
          <p:cNvSpPr txBox="1"/>
          <p:nvPr/>
        </p:nvSpPr>
        <p:spPr>
          <a:xfrm>
            <a:off x="27047952" y="10021824"/>
            <a:ext cx="553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¥170k, design the second row first. Every Trumpchi over that line is sold on recline angle, leg rest and rear screen.</a:t>
            </a:r>
            <a:endParaRPr lang="en-US" sz="840" dirty="0"/>
          </a:p>
        </p:txBody>
      </p:sp>
      <p:sp>
        <p:nvSpPr>
          <p:cNvPr id="248" name="Text 246"/>
          <p:cNvSpPr txBox="1"/>
          <p:nvPr/>
        </p:nvSpPr>
        <p:spPr>
          <a:xfrm>
            <a:off x="32948880" y="1002182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49" name="Text 247"/>
          <p:cNvSpPr txBox="1"/>
          <p:nvPr/>
        </p:nvSpPr>
        <p:spPr>
          <a:xfrm>
            <a:off x="33204912" y="10021824"/>
            <a:ext cx="553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chase screen count. Ours is one adaptive screen plus projection — and the switchgear GAC deleted.</a:t>
            </a:r>
            <a:endParaRPr lang="en-US" sz="840" dirty="0"/>
          </a:p>
        </p:txBody>
      </p:sp>
      <p:sp>
        <p:nvSpPr>
          <p:cNvPr id="250" name="Text 248"/>
          <p:cNvSpPr txBox="1"/>
          <p:nvPr/>
        </p:nvSpPr>
        <p:spPr>
          <a:xfrm>
            <a:off x="39105840" y="1002182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51" name="Text 249"/>
          <p:cNvSpPr txBox="1"/>
          <p:nvPr/>
        </p:nvSpPr>
        <p:spPr>
          <a:xfrm>
            <a:off x="39361872" y="10021824"/>
            <a:ext cx="553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D6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rear ceiling screen into the family plan. 15.6–17.3" ceiling displays are now standard above ¥170k.</a:t>
            </a:r>
            <a:endParaRPr lang="en-US" sz="840" dirty="0"/>
          </a:p>
        </p:txBody>
      </p:sp>
      <p:sp>
        <p:nvSpPr>
          <p:cNvPr id="252" name="Text 250"/>
          <p:cNvSpPr txBox="1"/>
          <p:nvPr/>
        </p:nvSpPr>
        <p:spPr>
          <a:xfrm>
            <a:off x="548640" y="10771632"/>
            <a:ext cx="4462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B9B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Changan reference points: Nevo 15.7" 2.5K + 9.8" cluster on MediaTek MT8676; Nevo Q05 15.6" 2.5K + 10.17" cluster; Nevo Q06 800V / 6C; Deepal S07 single-screen layout; Deepal L06 15.6" adaptive “Sunflower” screen with 50" AR-HUD; Avatr on Huawei.   ·   Sources as slides 01–02, plus CnEVPost, CarNewsChina, Gasgoo, MarkLines and 36Kr reporting on Auto China 2026, Panyu Action and GAC interim results. Public-domain, unaudited figures — verify against a benchmark teardown before any of it enters a specification.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GAC x AION Interior Benchmark</dc:title>
  <dc:subject>PptxGenJS Presentation</dc:subject>
  <dc:creator>Interior Design</dc:creator>
  <cp:lastModifiedBy>Interior Design</cp:lastModifiedBy>
  <cp:revision>1</cp:revision>
  <dcterms:created xsi:type="dcterms:W3CDTF">2026-09-08T08:44:41Z</dcterms:created>
  <dcterms:modified xsi:type="dcterms:W3CDTF">2026-09-08T08:44:41Z</dcterms:modified>
</cp:coreProperties>
</file>